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783c8419-2c0a-54cf-43ea-d6a06ddef5d3}">
          <p14:sldIdLst>
            <p14:sldId id="256"/>
            <p14:sldId id="257"/>
            <p14:sldId id="258"/>
            <p14:sldId id="259"/>
            <p14:sldId id="260"/>
            <p14:sldId id="261"/>
            <p14:sldId id="262"/>
            <p14:sldId id="263"/>
          </p14:sldIdLst>
        </p14:section>
        <p14:section name="El CRUD paso a paso" id="{9493df71-8492-2091-7c6c-9f117f5747fb}">
          <p14:sldIdLst>
            <p14:sldId id="264"/>
            <p14:sldId id="265"/>
            <p14:sldId id="266"/>
            <p14:sldId id="267"/>
            <p14:sldId id="268"/>
            <p14:sldId id="269"/>
            <p14:sldId id="270"/>
            <p14:sldId id="271"/>
            <p14:sldId id="272"/>
          </p14:sldIdLst>
        </p14:section>
        <p14:section name="Funcionando" id="{5ac1a185-ade0-f22e-59a6-ac848cb5af63}">
          <p14:sldIdLst>
            <p14:sldId id="273"/>
            <p14:sldId id="274"/>
            <p14:sldId id="275"/>
            <p14:sldId id="276"/>
          </p14:sldIdLst>
        </p14:section>
        <p14:section name="Cierre" id="{3b587b2d-32ae-f1b5-c75b-ecb8df98f6ed}">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noches, profe y compañeros. Les voy a presentar el Banco de Tecnología CEIPA. Es un CRUD, es decir, una aplicación que sabe hacer cuatro cosas con los datos: crearlos, leerlos, modificarlos y eliminarlos. En este caso los datos son los movimientos de una cuenta bancaria. Al final les hago la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CRUD son las iniciales en inglés de cuatro operaciones: Create, crear; Read, leer; Update, modificar; y Delete, eliminar. Casi todos los sistemas hacen eso con sus datos. En mi banco: crear es registrar un movimiento nuevo, leer es ver la lista de movimientos y el saldo, modificar es corregir un movimiento, y eliminar es borrarlo. Más adelante les muestro el código de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funciona como un banco de verdad, con tres partes. La ventanilla es la pantalla, lo que ve el usuario; está hecha en React. El cajero es la API, hecha en Python con Flask: recibe cada pedido, revisa las reglas y decide si se puede hacer. Y la base de datos es MySQL, donde se guardan los movimientos; corre dentro de Docker. En programación, la ventanilla se llama frontend y el cajero se llama backend. Lo importante: la ventanilla nunca entra a la base de datos. Todo pasa por el cajero. Y cada una de las tres partes se enciende en su propia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Partí del proyecto que nos entregó el profe. Ya hacía las cuatro operaciones del CRUD, pero cuando lo puse a correr encontré esta transacción: un crédito de 400 mil con un impacto de 1.221, cuando debía ser 8 mil. El impacto se escribía a mano y nadie lo revisaba. Además, si uno borraba algo que no existía, el sistema decía que lo había eliminado. Entonces mi idea fue convertirlo en un banco, donde las reglas las revisa el sistema y no la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reglas del banco. Hay cuatro tipos de movimiento: consignar y avance meten plata, por eso suman; pagar y transferir sacan plata, por eso restan. Y el cajero, que es la API, siempre revisa tres cosas: que la cuenta nunca quede en negativo, que el monto sea mayor que cero y que el código no esté repetido. Si algo no se cumple, no guarda nada y explica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operaciones hacen el mismo camino. Uno: el usuario hace clic en la pantalla. Dos: el pedido llega a routes, que es como la puerta del banco: solo lo recibe. Tres: pasa al controller, que es el cajero: revisa las reglas. Cuatro: si todo está bien, el model guarda o lee en la base de datos. Y cinco: la respuesta vuelve a la pantalla, que muestra el saldo nuevo. Esas tres carpetas, routes, controllers y models, son las capas del backend, y cada una hace una sola cosa. Ahora veamos el código de cada operación del CRUD.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CRUD, les muestro cómo está hecha la pantalla, que es el frontend. Son dos archivos importantes. Transacciones.jsx es lo que el usuario ve y toca: el saldo, el formulario y la tabla. Con useState va recordando lo que el usuario escribe en el código, el tipo y el monto, y cuando presiona el botón llama a la función enviarFormulario. El otro archivo, api/transacciones.js, es como un mensajero: es el único que sabe dónde está el backend, en localhost puerto 5000. Tiene una función por cada letra del CRUD, y todas usan fetch para enviar los datos en formato JSON y traer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todo el CRUD, y es la diapositiva más importante para entender cómo hablan las tres capas. Cada fila es una letra. Por ejemplo, la C: el usuario presiona Registrar; el frontend llama a crearTransaccion; por la red viaja un POST a /api/transacciones; el backend ejecuta crear_transaccion; y en MySQL se hace un INSERT. Lo mismo con leer, que es un GET y un SELECT; modificar, que es un PUT y un UPDATE; y eliminar, que es un DELETE en los dos lados. Lo que viaja por la red es un mensaje en formato JSON, como el del ejemplo. Y Prisma es la herramienta que traduce las funciones de Python a SQL, para no escribirlo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sí, el CRUD completo, pasando por las tres capas. La C, crear. En la pantalla, el usuario llena el formulario y presiona Registrar. El frontend empaca los datos en JSON y los envía con un POST a la API. En el backend, la ruta recibe ese POST y se lo pasa al controller, que revisa las reglas: que los datos estén bien y que alcance el saldo. Si todo está bien, el model, con Prisma, lo manda a guardar. Y en la base de datos se hace un INSERT: una fila nueva con el código, el tipo y el monto; el id y la fecha los pone MySQL. De vuelta, el backend responde 201, que significa creado, y la pantalla muestra el mensaje y el saldo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la C, crear. Esta es la función que se ejecuta cuando registro un movimiento. Tiene cuatro pasos. Uno: revisa los datos con la función validar; si algo está mal, responde 400 y no guarda nada. Dos: prueba cómo quedaría la cuenta con el movimiento nuevo; si el saldo quedaría en negativo, responde saldo insuficiente. Tres: si todo está bien, le pide al model que lo guarde en MySQL. Y cuatro: responde 201, que significa creado. En la imagen se ve un pago de 250 mil: el saldo bajó de 3.509.000 a 3.259.000. También revisa que el código no esté repetido; eso lo resumí para que se vea más claro.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 leer. Aquí no hay que presionar nada: apenas se abre la página, useEffect llama a cargarTransacciones, que hace un GET a la API. El backend recibe el GET, el model trae todos los movimientos con find_many, que en MySQL es un SELECT, ordenados del más viejo al más nuevo. Con esa lista, el controller calcula el saldo de cada movimiento y el saldo disponible. De vuelta responde 200 con un JSON que trae el saldo y la lista, y la pantalla los dibuja. En la siguiente diapositiva les muestro cómo se calcula el saldo.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calcula el saldo, y es la parte más importante. Hay un diccionario que dice si cada tipo suma o resta: consignar y avance más uno, pagar y transferir menos uno. Luego la función empieza en cero y recorre los movimientos del más viejo al más nuevo, multiplicando el monto por más uno o menos uno. En la tabla se ve el ejemplo: consigno 3.500.000, pago 420 mil, transfiero 850 mil, recibo un avance de un millón, y el saldo queda en 3.230.000. ¿Por qué no guardo el saldo en la base de datos? Porque si edito o borro un movimiento viejo, tendría que corregir todos los saldos de después. Calculándolo cada vez, siempre coincide.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 modificar. En la pantalla, el botón Editar copia el movimiento al formulario, que se pone amarillo. Cuando el usuario cambia el monto y presiona Guardar cambios, el frontend envía un PUT con el id del movimiento. En el backend, el controller revisa que ese movimiento exista y que, con el cambio, el saldo no quede negativo. Si todo está bien, el model hace update, que en MySQL es un UPDATE con un WHERE: el WHERE asegura que solo cambie esa fila. De vuelta responde 200 y la pantalla recalcula el saldo.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 es modificar, o actualizar. Es muy parecida a crear, con un paso más. Uno: revisa los datos. Dos: busca el movimiento; si no existe, responde 404, no encontrado. En el proyecto del profe aquí salía un error de Python. Tres: prueba cómo quedaría la cuenta con el cambio; si el saldo quedaría negativo, no deja. Y cuatro: guarda el cambio y responde 200. En la imagen cambié el pago de 250 mil a 300 mil, y el saldo se recalculó solo: quedó en 3.209.000.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 D, eliminar. En la pantalla, al presionar Eliminar, primero aparece una ventana que pregunta si de verdad se quiere borrar; si dice que no, no pasa nada. Si dice que sí, el frontend envía un DELETE con el id. El controller revisa que exista y que, sin ese movimiento, el saldo no quede negativo. Luego el model lo borra, que en MySQL es un DELETE con WHERE. Ojo con el WHERE: sin él se borraría toda la tabla. De vuelta responde 200 y el saldo vuelve a 3.509.000.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 D es eliminar. Primero, la pantalla pregunta si de verdad quiero borrarlo; en el proyecto del profe se borraba con un solo clic. Después, el backend busca el movimiento; si no existe, responde 404. Antes decía eliminada aunque no hubiera borrado nada. Luego prueba cómo quedaría la cuenta sin ese movimiento: por ejemplo, si borro una consignación y ya me gasté esa plata, el saldo quedaría negativo, entonces no deja. Si todo está bien, lo borra y responde 200. Al borrar el pago, el saldo volvió a 3.509.000.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cuando algo sale mal? El sistema no se cae: explica qué pasó. Por ejemplo, intenté transferir 5 millones con un saldo de 3.259.000 y salió saldo insuficiente. Cada error tiene su número: 400 si los datos están mal o no alcanza el saldo, 404 si el movimiento no existe, 409 si el código ya está registrado y 503 si la base de datos está apagada.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comprobar que todo funciona hice un script, probar_api.py. Antes había que probar a mano, comando por comando. Este script prueba de una vez las cuatro operaciones del CRUD y también los errores: saldo insuficiente, monto negativo, un tipo que no existe, un código repetido y borrar algo que no existe. Doce de doce correctas. Y al final borra lo que creó, para no dañar el saldo.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del profe pregunta qué pasa si se cae la base de datos. Lo probé: apagué el contenedor de MySQL con docker stop. La aplicación no se cayó: mostró un aviso diciendo que la base de datos no está disponible, con el botón Reintentar. Después la encendí con docker start, le di Reintentar y volvieron el saldo y los movimientos.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código hace esto? Son dos partes. En el backend, en app.py, hay una función con @app.errorhandler(PrismaError). Cuando la base de datos está apagada, Prisma no puede conectarse y lanza un error llamado PrismaError. Esa línea le dice a Flask: si en cualquier ruta pasa ese error, ejecuta esta función. La función no deja que el servidor se caiga: responde 503, que significa servicio no disponible, con un mensaje claro. En el frontend, la función pedir() ve que la respuesta no es OK y lanza un error con ese mensaje. En Transacciones.jsx, el catch lo atrapa y lo guarda con setSinConexion, y cuando ese estado tiene texto, aparece la franja roja. El botón Reintentar vuelve a llamar a cargarTransacciones; si ya encendí Docker, todo vuelve.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mostrar que los movimientos se guardan de verdad, abrí la tabla en MySQL con una extensión de Visual Studio Code. Ahí están. Dos detalles que me pueden preguntar: los números empiezan en 4 porque las pruebas usaron el 1, el 2 y el 3 y los borraron, y MySQL no repite esos números. Y la hora se guarda en hora universal, por eso la pantalla la convierte a la hora de Colombia.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está en GitHub, en el repositorio Estacion_3: el código, el informe en PDF, las capturas y las instrucciones para correrlo. Y en mi portafolio, que está publicado en internet, agregué el banco en la sección de proyectos.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exponer, deja ya encendidos Docker (docker start empresa), la API (python3 app.py) y la pantalla (npm run dev). En la demo sigue el orden del CRUD: crea un pago de 250 mil y muestra que baja el saldo; muestra la lista y el saldo; modifica el pago a 300 mil; elimínalo y muestra la confirmación. Después intenta transferir 5 millones para mostrar el saldo insuficiente. Para cerrar, corre python3 probar_api.py y muestra el 12 de 12. Después,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74720"/>
            <a:ext cx="11094415" cy="914400"/>
          </a:xfrm>
          <a:prstGeom prst="rect">
            <a:avLst/>
          </a:prstGeom>
          <a:noFill/>
          <a:ln/>
        </p:spPr>
        <p:txBody>
          <a:bodyPr wrap="square" rtlCol="0"/>
          <a:lstStyle>
            <a:lvl1pPr algn="l" indent="0" marL="0">
              <a:buNone/>
              <a:defRPr lang="en-US" sz="2400" dirty="0">
                <a:solidFill>
                  <a:schemeClr val="accent6"/>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Banco de Tecnología CEIPA · Estación 3</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DavisZulu/Estacion_3" TargetMode="External"/><Relationship Id="rId4" Type="http://schemas.openxmlformats.org/officeDocument/2006/relationships/hyperlink" Target="https://davis-zuluaga.onrender.com" TargetMode="External"/><Relationship Id="rId1" Type="http://schemas.openxmlformats.org/officeDocument/2006/relationships/image" Target="../media/image-22-1.png"/><Relationship Id="rId2" Type="http://schemas.openxmlformats.org/officeDocument/2006/relationships/image" Target="../media/image-22-2.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914400"/>
            <a:ext cx="914400" cy="914400"/>
          </a:xfrm>
          <a:prstGeom prst="roundRect">
            <a:avLst>
              <a:gd name="adj" fmla="val 18000"/>
            </a:avLst>
          </a:prstGeom>
          <a:solidFill>
            <a:schemeClr val="accent1"/>
          </a:solidFill>
          <a:ln w="19050">
            <a:solidFill>
              <a:schemeClr val="accent6"/>
            </a:solidFill>
            <a:prstDash val="solid"/>
          </a:ln>
        </p:spPr>
      </p:sp>
      <p:sp>
        <p:nvSpPr>
          <p:cNvPr id="3" name="Text 1"/>
          <p:cNvSpPr txBox="1"/>
          <p:nvPr/>
        </p:nvSpPr>
        <p:spPr>
          <a:xfrm>
            <a:off x="548640" y="914400"/>
            <a:ext cx="914400" cy="914400"/>
          </a:xfrm>
          <a:prstGeom prst="rect">
            <a:avLst/>
          </a:prstGeom>
          <a:noFill/>
          <a:ln/>
        </p:spPr>
        <p:txBody>
          <a:bodyPr wrap="square" lIns="0" tIns="0" rIns="0" bIns="0" rtlCol="0" anchor="ctr"/>
          <a:lstStyle/>
          <a:p>
            <a:pPr algn="ctr" indent="0" marL="0">
              <a:buNone/>
            </a:pPr>
            <a:r>
              <a:rPr lang="en-US" sz="4400" b="1" dirty="0">
                <a:solidFill>
                  <a:schemeClr val="bg1"/>
                </a:solidFill>
              </a:rPr>
              <a:t>B</a:t>
            </a:r>
            <a:endParaRPr lang="en-US" sz="4400" dirty="0"/>
          </a:p>
        </p:txBody>
      </p:sp>
      <p:sp>
        <p:nvSpPr>
          <p:cNvPr id="4" name="Text 2"/>
          <p:cNvSpPr txBox="1"/>
          <p:nvPr/>
        </p:nvSpPr>
        <p:spPr>
          <a:xfrm>
            <a:off x="1737360" y="1143000"/>
            <a:ext cx="7315200" cy="457200"/>
          </a:xfrm>
          <a:prstGeom prst="rect">
            <a:avLst/>
          </a:prstGeom>
          <a:noFill/>
          <a:ln/>
        </p:spPr>
        <p:txBody>
          <a:bodyPr wrap="square" lIns="0" tIns="0" rIns="0" bIns="0" rtlCol="0" anchor="ctr"/>
          <a:lstStyle/>
          <a:p>
            <a:pPr indent="0" marL="0">
              <a:buNone/>
            </a:pPr>
            <a:r>
              <a:rPr lang="en-US" sz="1600" b="1" spc="300" kern="0" dirty="0">
                <a:solidFill>
                  <a:schemeClr val="accent6"/>
                </a:solidFill>
              </a:rPr>
              <a:t>FUNDAMENTOS DE SOFTWARE · ESTACIÓN 3</a:t>
            </a:r>
            <a:endParaRPr lang="en-US" sz="1600" dirty="0"/>
          </a:p>
        </p:txBody>
      </p:sp>
      <p:sp>
        <p:nvSpPr>
          <p:cNvPr id="5" name="Text 0"/>
          <p:cNvSpPr/>
          <p:nvPr>
            <p:ph idx="100" type="title" hasCustomPrompt="1"/>
          </p:nvPr>
        </p:nvSpPr>
        <p:spPr>
          <a:xfrm>
            <a:off x="548640" y="2011680"/>
            <a:ext cx="11094415" cy="1371600"/>
          </a:xfrm>
          <a:prstGeom prst="rect">
            <a:avLst/>
          </a:prstGeom>
          <a:noFill/>
          <a:ln/>
        </p:spPr>
        <p:txBody>
          <a:bodyPr wrap="square" lIns="0" tIns="0" rIns="0" bIns="0" rtlCol="0" anchor="ctr"/>
          <a:lstStyle/>
          <a:p>
            <a:pPr algn="l" indent="0" marL="0">
              <a:buNone/>
            </a:pPr>
            <a:r>
              <a:rPr lang="en-US" sz="5400" b="1" dirty="0">
                <a:solidFill>
                  <a:schemeClr val="bg1"/>
                </a:solidFill>
              </a:rPr>
              <a:t>Banco de Tecnología CEIPA</a:t>
            </a:r>
            <a:endParaRPr lang="en-US" sz="5400" dirty="0"/>
          </a:p>
        </p:txBody>
      </p:sp>
      <p:sp>
        <p:nvSpPr>
          <p:cNvPr id="6" name="Text 0"/>
          <p:cNvSpPr/>
          <p:nvPr>
            <p:ph idx="101" type="body" hasCustomPrompt="1"/>
          </p:nvPr>
        </p:nvSpPr>
        <p:spPr>
          <a:xfrm>
            <a:off x="548640" y="3474720"/>
            <a:ext cx="11094415" cy="914400"/>
          </a:xfrm>
          <a:prstGeom prst="rect">
            <a:avLst/>
          </a:prstGeom>
          <a:noFill/>
          <a:ln/>
        </p:spPr>
        <p:txBody>
          <a:bodyPr wrap="square" lIns="0" tIns="0" rIns="0" bIns="0" rtlCol="0" anchor="t"/>
          <a:lstStyle/>
          <a:p>
            <a:pPr algn="l" indent="0" marL="0">
              <a:buNone/>
            </a:pPr>
            <a:r>
              <a:rPr lang="en-US" sz="2400" dirty="0">
                <a:solidFill>
                  <a:schemeClr val="accent6"/>
                </a:solidFill>
              </a:rPr>
              <a:t>Un CRUD de movimientos bancarios: crear, leer, modificar y eliminar</a:t>
            </a:r>
            <a:endParaRPr lang="en-US" sz="2400" dirty="0"/>
          </a:p>
        </p:txBody>
      </p:sp>
      <p:sp>
        <p:nvSpPr>
          <p:cNvPr id="7" name="Text 5"/>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600" dirty="0">
                <a:solidFill>
                  <a:schemeClr val="bg2"/>
                </a:solidFill>
              </a:rPr>
              <a:t>Deibis Zuluaga Baena  ·  Ingeniería de Sistemas  ·  CEIPA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¿Qué es un CRUD?</a:t>
            </a:r>
            <a:endParaRPr lang="en-US" sz="3400" dirty="0"/>
          </a:p>
        </p:txBody>
      </p:sp>
      <p:sp>
        <p:nvSpPr>
          <p:cNvPr id="3" name="Text 1"/>
          <p:cNvSpPr txBox="1"/>
          <p:nvPr/>
        </p:nvSpPr>
        <p:spPr>
          <a:xfrm>
            <a:off x="548640" y="1188720"/>
            <a:ext cx="11094415" cy="411480"/>
          </a:xfrm>
          <a:prstGeom prst="rect">
            <a:avLst/>
          </a:prstGeom>
          <a:noFill/>
          <a:ln/>
        </p:spPr>
        <p:txBody>
          <a:bodyPr wrap="square" lIns="0" tIns="0" rIns="0" bIns="0" rtlCol="0" anchor="ctr"/>
          <a:lstStyle/>
          <a:p>
            <a:pPr indent="0" marL="0">
              <a:buNone/>
            </a:pPr>
            <a:r>
              <a:rPr lang="en-US" sz="1800" dirty="0">
                <a:solidFill>
                  <a:schemeClr val="tx2"/>
                </a:solidFill>
              </a:rPr>
              <a:t>Son las cuatro operaciones básicas que cualquier sistema hace con sus datos:</a:t>
            </a:r>
            <a:endParaRPr lang="en-US" sz="1800" dirty="0"/>
          </a:p>
        </p:txBody>
      </p:sp>
      <p:sp>
        <p:nvSpPr>
          <p:cNvPr id="4" name="Shape 2"/>
          <p:cNvSpPr/>
          <p:nvPr/>
        </p:nvSpPr>
        <p:spPr>
          <a:xfrm>
            <a:off x="548640" y="1828800"/>
            <a:ext cx="2567864" cy="4206240"/>
          </a:xfrm>
          <a:prstGeom prst="roundRect">
            <a:avLst>
              <a:gd name="adj" fmla="val 4273"/>
            </a:avLst>
          </a:prstGeom>
          <a:solidFill>
            <a:schemeClr val="bg2"/>
          </a:solidFill>
          <a:ln w="12700">
            <a:solidFill>
              <a:schemeClr val="bg2"/>
            </a:solidFill>
            <a:prstDash val="solid"/>
          </a:ln>
        </p:spPr>
      </p:sp>
      <p:sp>
        <p:nvSpPr>
          <p:cNvPr id="5" name="Shape 3"/>
          <p:cNvSpPr/>
          <p:nvPr/>
        </p:nvSpPr>
        <p:spPr>
          <a:xfrm>
            <a:off x="1283932" y="2103120"/>
            <a:ext cx="1097280" cy="10972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558252" y="2377440"/>
            <a:ext cx="548640" cy="548640"/>
          </a:xfrm>
          <a:prstGeom prst="rect">
            <a:avLst/>
          </a:prstGeom>
        </p:spPr>
      </p:pic>
      <p:sp>
        <p:nvSpPr>
          <p:cNvPr id="7" name="Text 4"/>
          <p:cNvSpPr txBox="1"/>
          <p:nvPr/>
        </p:nvSpPr>
        <p:spPr>
          <a:xfrm>
            <a:off x="548640" y="3383280"/>
            <a:ext cx="2567864" cy="731520"/>
          </a:xfrm>
          <a:prstGeom prst="rect">
            <a:avLst/>
          </a:prstGeom>
          <a:noFill/>
          <a:ln/>
        </p:spPr>
        <p:txBody>
          <a:bodyPr wrap="square" lIns="0" tIns="0" rIns="0" bIns="0" rtlCol="0" anchor="ctr"/>
          <a:lstStyle/>
          <a:p>
            <a:pPr algn="ctr" indent="0" marL="0">
              <a:buNone/>
            </a:pPr>
            <a:r>
              <a:rPr lang="en-US" sz="4800" b="1" dirty="0">
                <a:solidFill>
                  <a:schemeClr val="accent1"/>
                </a:solidFill>
              </a:rPr>
              <a:t>C</a:t>
            </a:r>
            <a:endParaRPr lang="en-US" sz="4800" dirty="0"/>
          </a:p>
        </p:txBody>
      </p:sp>
      <p:sp>
        <p:nvSpPr>
          <p:cNvPr id="8" name="Text 5"/>
          <p:cNvSpPr txBox="1"/>
          <p:nvPr/>
        </p:nvSpPr>
        <p:spPr>
          <a:xfrm>
            <a:off x="548640" y="4114800"/>
            <a:ext cx="2567864" cy="457200"/>
          </a:xfrm>
          <a:prstGeom prst="rect">
            <a:avLst/>
          </a:prstGeom>
          <a:noFill/>
          <a:ln/>
        </p:spPr>
        <p:txBody>
          <a:bodyPr wrap="square" lIns="0" tIns="0" rIns="0" bIns="0" rtlCol="0" anchor="ctr"/>
          <a:lstStyle/>
          <a:p>
            <a:pPr algn="ctr" indent="0" marL="0">
              <a:buNone/>
            </a:pPr>
            <a:r>
              <a:rPr lang="en-US" sz="2400" b="1" dirty="0">
                <a:solidFill>
                  <a:schemeClr val="tx1"/>
                </a:solidFill>
              </a:rPr>
              <a:t>Crear</a:t>
            </a:r>
            <a:endParaRPr lang="en-US" sz="2400" dirty="0"/>
          </a:p>
        </p:txBody>
      </p:sp>
      <p:sp>
        <p:nvSpPr>
          <p:cNvPr id="9" name="Text 6"/>
          <p:cNvSpPr txBox="1"/>
          <p:nvPr/>
        </p:nvSpPr>
        <p:spPr>
          <a:xfrm>
            <a:off x="548640" y="4553712"/>
            <a:ext cx="2567864" cy="320040"/>
          </a:xfrm>
          <a:prstGeom prst="rect">
            <a:avLst/>
          </a:prstGeom>
          <a:noFill/>
          <a:ln/>
        </p:spPr>
        <p:txBody>
          <a:bodyPr wrap="square" lIns="0" tIns="0" rIns="0" bIns="0" rtlCol="0" anchor="ctr"/>
          <a:lstStyle/>
          <a:p>
            <a:pPr algn="ctr" indent="0" marL="0">
              <a:buNone/>
            </a:pPr>
            <a:r>
              <a:rPr lang="en-US" sz="1400" i="1" dirty="0">
                <a:solidFill>
                  <a:schemeClr val="accent5"/>
                </a:solidFill>
              </a:rPr>
              <a:t>(Create)</a:t>
            </a:r>
            <a:endParaRPr lang="en-US" sz="1400" dirty="0"/>
          </a:p>
        </p:txBody>
      </p:sp>
      <p:sp>
        <p:nvSpPr>
          <p:cNvPr id="10" name="Text 7"/>
          <p:cNvSpPr txBox="1"/>
          <p:nvPr/>
        </p:nvSpPr>
        <p:spPr>
          <a:xfrm>
            <a:off x="777240" y="5029200"/>
            <a:ext cx="2110664" cy="731520"/>
          </a:xfrm>
          <a:prstGeom prst="rect">
            <a:avLst/>
          </a:prstGeom>
          <a:noFill/>
          <a:ln/>
        </p:spPr>
        <p:txBody>
          <a:bodyPr wrap="square" lIns="0" tIns="0" rIns="0" bIns="0" rtlCol="0" anchor="t"/>
          <a:lstStyle/>
          <a:p>
            <a:pPr algn="ctr" indent="0" marL="0">
              <a:buNone/>
            </a:pPr>
            <a:r>
              <a:rPr lang="en-US" sz="1600" dirty="0">
                <a:solidFill>
                  <a:schemeClr val="tx2"/>
                </a:solidFill>
              </a:rPr>
              <a:t>Registrar un movimiento nuevo</a:t>
            </a:r>
            <a:endParaRPr lang="en-US" sz="1600" dirty="0"/>
          </a:p>
        </p:txBody>
      </p:sp>
      <p:sp>
        <p:nvSpPr>
          <p:cNvPr id="11" name="Shape 8"/>
          <p:cNvSpPr/>
          <p:nvPr/>
        </p:nvSpPr>
        <p:spPr>
          <a:xfrm>
            <a:off x="3390824" y="1828800"/>
            <a:ext cx="2567864" cy="4206240"/>
          </a:xfrm>
          <a:prstGeom prst="roundRect">
            <a:avLst>
              <a:gd name="adj" fmla="val 4273"/>
            </a:avLst>
          </a:prstGeom>
          <a:solidFill>
            <a:schemeClr val="bg2"/>
          </a:solidFill>
          <a:ln w="12700">
            <a:solidFill>
              <a:schemeClr val="bg2"/>
            </a:solidFill>
            <a:prstDash val="solid"/>
          </a:ln>
        </p:spPr>
      </p:sp>
      <p:sp>
        <p:nvSpPr>
          <p:cNvPr id="12" name="Shape 9"/>
          <p:cNvSpPr/>
          <p:nvPr/>
        </p:nvSpPr>
        <p:spPr>
          <a:xfrm>
            <a:off x="4126116" y="2103120"/>
            <a:ext cx="1097280" cy="1097280"/>
          </a:xfrm>
          <a:prstGeom prst="ellipse">
            <a:avLst/>
          </a:prstGeom>
          <a:solidFill>
            <a:schemeClr val="accent3"/>
          </a:solidFill>
          <a:ln w="12700">
            <a:solidFill>
              <a:schemeClr val="accent3"/>
            </a:solidFill>
            <a:prstDash val="solid"/>
          </a:ln>
        </p:spPr>
      </p:sp>
      <p:pic>
        <p:nvPicPr>
          <p:cNvPr id="13" name="Image 1" descr="preencoded.png">    </p:cNvPr>
          <p:cNvPicPr>
            <a:picLocks noChangeAspect="1"/>
          </p:cNvPicPr>
          <p:nvPr/>
        </p:nvPicPr>
        <p:blipFill>
          <a:blip r:embed="rId2"/>
          <a:stretch>
            <a:fillRect/>
          </a:stretch>
        </p:blipFill>
        <p:spPr>
          <a:xfrm>
            <a:off x="4400436" y="2377440"/>
            <a:ext cx="548640" cy="548640"/>
          </a:xfrm>
          <a:prstGeom prst="rect">
            <a:avLst/>
          </a:prstGeom>
        </p:spPr>
      </p:pic>
      <p:sp>
        <p:nvSpPr>
          <p:cNvPr id="14" name="Text 10"/>
          <p:cNvSpPr txBox="1"/>
          <p:nvPr/>
        </p:nvSpPr>
        <p:spPr>
          <a:xfrm>
            <a:off x="3390824" y="3383280"/>
            <a:ext cx="2567864" cy="731520"/>
          </a:xfrm>
          <a:prstGeom prst="rect">
            <a:avLst/>
          </a:prstGeom>
          <a:noFill/>
          <a:ln/>
        </p:spPr>
        <p:txBody>
          <a:bodyPr wrap="square" lIns="0" tIns="0" rIns="0" bIns="0" rtlCol="0" anchor="ctr"/>
          <a:lstStyle/>
          <a:p>
            <a:pPr algn="ctr" indent="0" marL="0">
              <a:buNone/>
            </a:pPr>
            <a:r>
              <a:rPr lang="en-US" sz="4800" b="1" dirty="0">
                <a:solidFill>
                  <a:schemeClr val="accent3"/>
                </a:solidFill>
              </a:rPr>
              <a:t>R</a:t>
            </a:r>
            <a:endParaRPr lang="en-US" sz="4800" dirty="0"/>
          </a:p>
        </p:txBody>
      </p:sp>
      <p:sp>
        <p:nvSpPr>
          <p:cNvPr id="15" name="Text 11"/>
          <p:cNvSpPr txBox="1"/>
          <p:nvPr/>
        </p:nvSpPr>
        <p:spPr>
          <a:xfrm>
            <a:off x="3390824" y="4114800"/>
            <a:ext cx="2567864" cy="457200"/>
          </a:xfrm>
          <a:prstGeom prst="rect">
            <a:avLst/>
          </a:prstGeom>
          <a:noFill/>
          <a:ln/>
        </p:spPr>
        <p:txBody>
          <a:bodyPr wrap="square" lIns="0" tIns="0" rIns="0" bIns="0" rtlCol="0" anchor="ctr"/>
          <a:lstStyle/>
          <a:p>
            <a:pPr algn="ctr" indent="0" marL="0">
              <a:buNone/>
            </a:pPr>
            <a:r>
              <a:rPr lang="en-US" sz="2400" b="1" dirty="0">
                <a:solidFill>
                  <a:schemeClr val="tx1"/>
                </a:solidFill>
              </a:rPr>
              <a:t>Leer</a:t>
            </a:r>
            <a:endParaRPr lang="en-US" sz="2400" dirty="0"/>
          </a:p>
        </p:txBody>
      </p:sp>
      <p:sp>
        <p:nvSpPr>
          <p:cNvPr id="16" name="Text 12"/>
          <p:cNvSpPr txBox="1"/>
          <p:nvPr/>
        </p:nvSpPr>
        <p:spPr>
          <a:xfrm>
            <a:off x="3390824" y="4553712"/>
            <a:ext cx="2567864" cy="320040"/>
          </a:xfrm>
          <a:prstGeom prst="rect">
            <a:avLst/>
          </a:prstGeom>
          <a:noFill/>
          <a:ln/>
        </p:spPr>
        <p:txBody>
          <a:bodyPr wrap="square" lIns="0" tIns="0" rIns="0" bIns="0" rtlCol="0" anchor="ctr"/>
          <a:lstStyle/>
          <a:p>
            <a:pPr algn="ctr" indent="0" marL="0">
              <a:buNone/>
            </a:pPr>
            <a:r>
              <a:rPr lang="en-US" sz="1400" i="1" dirty="0">
                <a:solidFill>
                  <a:schemeClr val="accent5"/>
                </a:solidFill>
              </a:rPr>
              <a:t>(Read)</a:t>
            </a:r>
            <a:endParaRPr lang="en-US" sz="1400" dirty="0"/>
          </a:p>
        </p:txBody>
      </p:sp>
      <p:sp>
        <p:nvSpPr>
          <p:cNvPr id="17" name="Text 13"/>
          <p:cNvSpPr txBox="1"/>
          <p:nvPr/>
        </p:nvSpPr>
        <p:spPr>
          <a:xfrm>
            <a:off x="3619424" y="5029200"/>
            <a:ext cx="2110664" cy="731520"/>
          </a:xfrm>
          <a:prstGeom prst="rect">
            <a:avLst/>
          </a:prstGeom>
          <a:noFill/>
          <a:ln/>
        </p:spPr>
        <p:txBody>
          <a:bodyPr wrap="square" lIns="0" tIns="0" rIns="0" bIns="0" rtlCol="0" anchor="t"/>
          <a:lstStyle/>
          <a:p>
            <a:pPr algn="ctr" indent="0" marL="0">
              <a:buNone/>
            </a:pPr>
            <a:r>
              <a:rPr lang="en-US" sz="1600" dirty="0">
                <a:solidFill>
                  <a:schemeClr val="tx2"/>
                </a:solidFill>
              </a:rPr>
              <a:t>Ver los movimientos y el saldo</a:t>
            </a:r>
            <a:endParaRPr lang="en-US" sz="1600" dirty="0"/>
          </a:p>
        </p:txBody>
      </p:sp>
      <p:sp>
        <p:nvSpPr>
          <p:cNvPr id="18" name="Shape 14"/>
          <p:cNvSpPr/>
          <p:nvPr/>
        </p:nvSpPr>
        <p:spPr>
          <a:xfrm>
            <a:off x="6233008" y="1828800"/>
            <a:ext cx="2567864" cy="4206240"/>
          </a:xfrm>
          <a:prstGeom prst="roundRect">
            <a:avLst>
              <a:gd name="adj" fmla="val 4273"/>
            </a:avLst>
          </a:prstGeom>
          <a:solidFill>
            <a:schemeClr val="bg2"/>
          </a:solidFill>
          <a:ln w="12700">
            <a:solidFill>
              <a:schemeClr val="bg2"/>
            </a:solidFill>
            <a:prstDash val="solid"/>
          </a:ln>
        </p:spPr>
      </p:sp>
      <p:sp>
        <p:nvSpPr>
          <p:cNvPr id="19" name="Shape 15"/>
          <p:cNvSpPr/>
          <p:nvPr/>
        </p:nvSpPr>
        <p:spPr>
          <a:xfrm>
            <a:off x="6968300" y="2103120"/>
            <a:ext cx="1097280" cy="1097280"/>
          </a:xfrm>
          <a:prstGeom prst="ellipse">
            <a:avLst/>
          </a:prstGeom>
          <a:solidFill>
            <a:schemeClr val="accent4"/>
          </a:solidFill>
          <a:ln w="12700">
            <a:solidFill>
              <a:schemeClr val="accent4"/>
            </a:solidFill>
            <a:prstDash val="solid"/>
          </a:ln>
        </p:spPr>
      </p:sp>
      <p:pic>
        <p:nvPicPr>
          <p:cNvPr id="20" name="Image 2" descr="preencoded.png">    </p:cNvPr>
          <p:cNvPicPr>
            <a:picLocks noChangeAspect="1"/>
          </p:cNvPicPr>
          <p:nvPr/>
        </p:nvPicPr>
        <p:blipFill>
          <a:blip r:embed="rId3"/>
          <a:stretch>
            <a:fillRect/>
          </a:stretch>
        </p:blipFill>
        <p:spPr>
          <a:xfrm>
            <a:off x="7242620" y="2377440"/>
            <a:ext cx="548640" cy="548640"/>
          </a:xfrm>
          <a:prstGeom prst="rect">
            <a:avLst/>
          </a:prstGeom>
        </p:spPr>
      </p:pic>
      <p:sp>
        <p:nvSpPr>
          <p:cNvPr id="21" name="Text 16"/>
          <p:cNvSpPr txBox="1"/>
          <p:nvPr/>
        </p:nvSpPr>
        <p:spPr>
          <a:xfrm>
            <a:off x="6233008" y="3383280"/>
            <a:ext cx="2567864" cy="731520"/>
          </a:xfrm>
          <a:prstGeom prst="rect">
            <a:avLst/>
          </a:prstGeom>
          <a:noFill/>
          <a:ln/>
        </p:spPr>
        <p:txBody>
          <a:bodyPr wrap="square" lIns="0" tIns="0" rIns="0" bIns="0" rtlCol="0" anchor="ctr"/>
          <a:lstStyle/>
          <a:p>
            <a:pPr algn="ctr" indent="0" marL="0">
              <a:buNone/>
            </a:pPr>
            <a:r>
              <a:rPr lang="en-US" sz="4800" b="1" dirty="0">
                <a:solidFill>
                  <a:schemeClr val="accent4"/>
                </a:solidFill>
              </a:rPr>
              <a:t>U</a:t>
            </a:r>
            <a:endParaRPr lang="en-US" sz="4800" dirty="0"/>
          </a:p>
        </p:txBody>
      </p:sp>
      <p:sp>
        <p:nvSpPr>
          <p:cNvPr id="22" name="Text 17"/>
          <p:cNvSpPr txBox="1"/>
          <p:nvPr/>
        </p:nvSpPr>
        <p:spPr>
          <a:xfrm>
            <a:off x="6233008" y="4114800"/>
            <a:ext cx="2567864" cy="457200"/>
          </a:xfrm>
          <a:prstGeom prst="rect">
            <a:avLst/>
          </a:prstGeom>
          <a:noFill/>
          <a:ln/>
        </p:spPr>
        <p:txBody>
          <a:bodyPr wrap="square" lIns="0" tIns="0" rIns="0" bIns="0" rtlCol="0" anchor="ctr"/>
          <a:lstStyle/>
          <a:p>
            <a:pPr algn="ctr" indent="0" marL="0">
              <a:buNone/>
            </a:pPr>
            <a:r>
              <a:rPr lang="en-US" sz="2400" b="1" dirty="0">
                <a:solidFill>
                  <a:schemeClr val="tx1"/>
                </a:solidFill>
              </a:rPr>
              <a:t>Modificar</a:t>
            </a:r>
            <a:endParaRPr lang="en-US" sz="2400" dirty="0"/>
          </a:p>
        </p:txBody>
      </p:sp>
      <p:sp>
        <p:nvSpPr>
          <p:cNvPr id="23" name="Text 18"/>
          <p:cNvSpPr txBox="1"/>
          <p:nvPr/>
        </p:nvSpPr>
        <p:spPr>
          <a:xfrm>
            <a:off x="6233008" y="4553712"/>
            <a:ext cx="2567864" cy="320040"/>
          </a:xfrm>
          <a:prstGeom prst="rect">
            <a:avLst/>
          </a:prstGeom>
          <a:noFill/>
          <a:ln/>
        </p:spPr>
        <p:txBody>
          <a:bodyPr wrap="square" lIns="0" tIns="0" rIns="0" bIns="0" rtlCol="0" anchor="ctr"/>
          <a:lstStyle/>
          <a:p>
            <a:pPr algn="ctr" indent="0" marL="0">
              <a:buNone/>
            </a:pPr>
            <a:r>
              <a:rPr lang="en-US" sz="1400" i="1" dirty="0">
                <a:solidFill>
                  <a:schemeClr val="accent5"/>
                </a:solidFill>
              </a:rPr>
              <a:t>(Update)</a:t>
            </a:r>
            <a:endParaRPr lang="en-US" sz="1400" dirty="0"/>
          </a:p>
        </p:txBody>
      </p:sp>
      <p:sp>
        <p:nvSpPr>
          <p:cNvPr id="24" name="Text 19"/>
          <p:cNvSpPr txBox="1"/>
          <p:nvPr/>
        </p:nvSpPr>
        <p:spPr>
          <a:xfrm>
            <a:off x="6461608" y="5029200"/>
            <a:ext cx="2110664" cy="731520"/>
          </a:xfrm>
          <a:prstGeom prst="rect">
            <a:avLst/>
          </a:prstGeom>
          <a:noFill/>
          <a:ln/>
        </p:spPr>
        <p:txBody>
          <a:bodyPr wrap="square" lIns="0" tIns="0" rIns="0" bIns="0" rtlCol="0" anchor="t"/>
          <a:lstStyle/>
          <a:p>
            <a:pPr algn="ctr" indent="0" marL="0">
              <a:buNone/>
            </a:pPr>
            <a:r>
              <a:rPr lang="en-US" sz="1600" dirty="0">
                <a:solidFill>
                  <a:schemeClr val="tx2"/>
                </a:solidFill>
              </a:rPr>
              <a:t>Corregir un movimiento</a:t>
            </a:r>
            <a:endParaRPr lang="en-US" sz="1600" dirty="0"/>
          </a:p>
        </p:txBody>
      </p:sp>
      <p:sp>
        <p:nvSpPr>
          <p:cNvPr id="25" name="Shape 20"/>
          <p:cNvSpPr/>
          <p:nvPr/>
        </p:nvSpPr>
        <p:spPr>
          <a:xfrm>
            <a:off x="9075191" y="1828800"/>
            <a:ext cx="2567864" cy="4206240"/>
          </a:xfrm>
          <a:prstGeom prst="roundRect">
            <a:avLst>
              <a:gd name="adj" fmla="val 4273"/>
            </a:avLst>
          </a:prstGeom>
          <a:solidFill>
            <a:schemeClr val="bg2"/>
          </a:solidFill>
          <a:ln w="12700">
            <a:solidFill>
              <a:schemeClr val="bg2"/>
            </a:solidFill>
            <a:prstDash val="solid"/>
          </a:ln>
        </p:spPr>
      </p:sp>
      <p:sp>
        <p:nvSpPr>
          <p:cNvPr id="26" name="Shape 21"/>
          <p:cNvSpPr/>
          <p:nvPr/>
        </p:nvSpPr>
        <p:spPr>
          <a:xfrm>
            <a:off x="9810483" y="2103120"/>
            <a:ext cx="1097280" cy="1097280"/>
          </a:xfrm>
          <a:prstGeom prst="ellipse">
            <a:avLst/>
          </a:prstGeom>
          <a:solidFill>
            <a:schemeClr val="accent2"/>
          </a:solidFill>
          <a:ln w="12700">
            <a:solidFill>
              <a:schemeClr val="accent2"/>
            </a:solidFill>
            <a:prstDash val="solid"/>
          </a:ln>
        </p:spPr>
      </p:sp>
      <p:pic>
        <p:nvPicPr>
          <p:cNvPr id="27" name="Image 3" descr="preencoded.png">    </p:cNvPr>
          <p:cNvPicPr>
            <a:picLocks noChangeAspect="1"/>
          </p:cNvPicPr>
          <p:nvPr/>
        </p:nvPicPr>
        <p:blipFill>
          <a:blip r:embed="rId4"/>
          <a:stretch>
            <a:fillRect/>
          </a:stretch>
        </p:blipFill>
        <p:spPr>
          <a:xfrm>
            <a:off x="10084803" y="2377440"/>
            <a:ext cx="548640" cy="548640"/>
          </a:xfrm>
          <a:prstGeom prst="rect">
            <a:avLst/>
          </a:prstGeom>
        </p:spPr>
      </p:pic>
      <p:sp>
        <p:nvSpPr>
          <p:cNvPr id="28" name="Text 22"/>
          <p:cNvSpPr txBox="1"/>
          <p:nvPr/>
        </p:nvSpPr>
        <p:spPr>
          <a:xfrm>
            <a:off x="9075191" y="3383280"/>
            <a:ext cx="2567864" cy="731520"/>
          </a:xfrm>
          <a:prstGeom prst="rect">
            <a:avLst/>
          </a:prstGeom>
          <a:noFill/>
          <a:ln/>
        </p:spPr>
        <p:txBody>
          <a:bodyPr wrap="square" lIns="0" tIns="0" rIns="0" bIns="0" rtlCol="0" anchor="ctr"/>
          <a:lstStyle/>
          <a:p>
            <a:pPr algn="ctr" indent="0" marL="0">
              <a:buNone/>
            </a:pPr>
            <a:r>
              <a:rPr lang="en-US" sz="4800" b="1" dirty="0">
                <a:solidFill>
                  <a:schemeClr val="accent2"/>
                </a:solidFill>
              </a:rPr>
              <a:t>D</a:t>
            </a:r>
            <a:endParaRPr lang="en-US" sz="4800" dirty="0"/>
          </a:p>
        </p:txBody>
      </p:sp>
      <p:sp>
        <p:nvSpPr>
          <p:cNvPr id="29" name="Text 23"/>
          <p:cNvSpPr txBox="1"/>
          <p:nvPr/>
        </p:nvSpPr>
        <p:spPr>
          <a:xfrm>
            <a:off x="9075191" y="4114800"/>
            <a:ext cx="2567864" cy="457200"/>
          </a:xfrm>
          <a:prstGeom prst="rect">
            <a:avLst/>
          </a:prstGeom>
          <a:noFill/>
          <a:ln/>
        </p:spPr>
        <p:txBody>
          <a:bodyPr wrap="square" lIns="0" tIns="0" rIns="0" bIns="0" rtlCol="0" anchor="ctr"/>
          <a:lstStyle/>
          <a:p>
            <a:pPr algn="ctr" indent="0" marL="0">
              <a:buNone/>
            </a:pPr>
            <a:r>
              <a:rPr lang="en-US" sz="2400" b="1" dirty="0">
                <a:solidFill>
                  <a:schemeClr val="tx1"/>
                </a:solidFill>
              </a:rPr>
              <a:t>Eliminar</a:t>
            </a:r>
            <a:endParaRPr lang="en-US" sz="2400" dirty="0"/>
          </a:p>
        </p:txBody>
      </p:sp>
      <p:sp>
        <p:nvSpPr>
          <p:cNvPr id="30" name="Text 24"/>
          <p:cNvSpPr txBox="1"/>
          <p:nvPr/>
        </p:nvSpPr>
        <p:spPr>
          <a:xfrm>
            <a:off x="9075191" y="4553712"/>
            <a:ext cx="2567864" cy="320040"/>
          </a:xfrm>
          <a:prstGeom prst="rect">
            <a:avLst/>
          </a:prstGeom>
          <a:noFill/>
          <a:ln/>
        </p:spPr>
        <p:txBody>
          <a:bodyPr wrap="square" lIns="0" tIns="0" rIns="0" bIns="0" rtlCol="0" anchor="ctr"/>
          <a:lstStyle/>
          <a:p>
            <a:pPr algn="ctr" indent="0" marL="0">
              <a:buNone/>
            </a:pPr>
            <a:r>
              <a:rPr lang="en-US" sz="1400" i="1" dirty="0">
                <a:solidFill>
                  <a:schemeClr val="accent5"/>
                </a:solidFill>
              </a:rPr>
              <a:t>(Delete)</a:t>
            </a:r>
            <a:endParaRPr lang="en-US" sz="1400" dirty="0"/>
          </a:p>
        </p:txBody>
      </p:sp>
      <p:sp>
        <p:nvSpPr>
          <p:cNvPr id="31" name="Text 25"/>
          <p:cNvSpPr txBox="1"/>
          <p:nvPr/>
        </p:nvSpPr>
        <p:spPr>
          <a:xfrm>
            <a:off x="9303791" y="5029200"/>
            <a:ext cx="2110664" cy="731520"/>
          </a:xfrm>
          <a:prstGeom prst="rect">
            <a:avLst/>
          </a:prstGeom>
          <a:noFill/>
          <a:ln/>
        </p:spPr>
        <p:txBody>
          <a:bodyPr wrap="square" lIns="0" tIns="0" rIns="0" bIns="0" rtlCol="0" anchor="t"/>
          <a:lstStyle/>
          <a:p>
            <a:pPr algn="ctr" indent="0" marL="0">
              <a:buNone/>
            </a:pPr>
            <a:r>
              <a:rPr lang="en-US" sz="1600" dirty="0">
                <a:solidFill>
                  <a:schemeClr val="tx2"/>
                </a:solidFill>
              </a:rPr>
              <a:t>Borrar un movimiento</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¿Cómo está armado? Como un banco de verdad</a:t>
            </a:r>
            <a:endParaRPr lang="en-US" sz="3400" dirty="0"/>
          </a:p>
        </p:txBody>
      </p:sp>
      <p:sp>
        <p:nvSpPr>
          <p:cNvPr id="3" name="Shape 1"/>
          <p:cNvSpPr/>
          <p:nvPr/>
        </p:nvSpPr>
        <p:spPr>
          <a:xfrm>
            <a:off x="548640" y="1325880"/>
            <a:ext cx="3246120" cy="4297680"/>
          </a:xfrm>
          <a:prstGeom prst="roundRect">
            <a:avLst>
              <a:gd name="adj" fmla="val 3380"/>
            </a:avLst>
          </a:prstGeom>
          <a:solidFill>
            <a:schemeClr val="bg2"/>
          </a:solidFill>
          <a:ln w="12700">
            <a:solidFill>
              <a:schemeClr val="bg2"/>
            </a:solidFill>
            <a:prstDash val="solid"/>
          </a:ln>
        </p:spPr>
      </p:sp>
      <p:sp>
        <p:nvSpPr>
          <p:cNvPr id="4" name="Shape 2"/>
          <p:cNvSpPr/>
          <p:nvPr/>
        </p:nvSpPr>
        <p:spPr>
          <a:xfrm>
            <a:off x="1623060" y="1554480"/>
            <a:ext cx="1097280" cy="109728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1897380" y="1828800"/>
            <a:ext cx="548640" cy="548640"/>
          </a:xfrm>
          <a:prstGeom prst="rect">
            <a:avLst/>
          </a:prstGeom>
        </p:spPr>
      </p:pic>
      <p:sp>
        <p:nvSpPr>
          <p:cNvPr id="6" name="Text 3"/>
          <p:cNvSpPr txBox="1"/>
          <p:nvPr/>
        </p:nvSpPr>
        <p:spPr>
          <a:xfrm>
            <a:off x="548640" y="2788920"/>
            <a:ext cx="3246120" cy="457200"/>
          </a:xfrm>
          <a:prstGeom prst="rect">
            <a:avLst/>
          </a:prstGeom>
          <a:noFill/>
          <a:ln/>
        </p:spPr>
        <p:txBody>
          <a:bodyPr wrap="square" lIns="0" tIns="0" rIns="0" bIns="0" rtlCol="0" anchor="ctr"/>
          <a:lstStyle/>
          <a:p>
            <a:pPr algn="ctr" indent="0" marL="0">
              <a:buNone/>
            </a:pPr>
            <a:r>
              <a:rPr lang="en-US" sz="2600" b="1" dirty="0">
                <a:solidFill>
                  <a:schemeClr val="tx1"/>
                </a:solidFill>
              </a:rPr>
              <a:t>La ventanilla</a:t>
            </a:r>
            <a:endParaRPr lang="en-US" sz="2600" dirty="0"/>
          </a:p>
        </p:txBody>
      </p:sp>
      <p:sp>
        <p:nvSpPr>
          <p:cNvPr id="7" name="Text 4"/>
          <p:cNvSpPr txBox="1"/>
          <p:nvPr/>
        </p:nvSpPr>
        <p:spPr>
          <a:xfrm>
            <a:off x="548640" y="3246120"/>
            <a:ext cx="3246120" cy="365760"/>
          </a:xfrm>
          <a:prstGeom prst="rect">
            <a:avLst/>
          </a:prstGeom>
          <a:noFill/>
          <a:ln/>
        </p:spPr>
        <p:txBody>
          <a:bodyPr wrap="square" lIns="0" tIns="0" rIns="0" bIns="0" rtlCol="0" anchor="ctr"/>
          <a:lstStyle/>
          <a:p>
            <a:pPr algn="ctr" indent="0" marL="0">
              <a:buNone/>
            </a:pPr>
            <a:r>
              <a:rPr lang="en-US" sz="1800" b="1" dirty="0">
                <a:solidFill>
                  <a:schemeClr val="accent3"/>
                </a:solidFill>
              </a:rPr>
              <a:t>Frontend: la pantalla</a:t>
            </a:r>
            <a:endParaRPr lang="en-US" sz="1800" dirty="0"/>
          </a:p>
        </p:txBody>
      </p:sp>
      <p:sp>
        <p:nvSpPr>
          <p:cNvPr id="8" name="Text 5"/>
          <p:cNvSpPr txBox="1"/>
          <p:nvPr/>
        </p:nvSpPr>
        <p:spPr>
          <a:xfrm>
            <a:off x="822960" y="3703320"/>
            <a:ext cx="2697480" cy="1005840"/>
          </a:xfrm>
          <a:prstGeom prst="rect">
            <a:avLst/>
          </a:prstGeom>
          <a:noFill/>
          <a:ln/>
        </p:spPr>
        <p:txBody>
          <a:bodyPr wrap="square" lIns="0" tIns="0" rIns="0" bIns="0" rtlCol="0" anchor="t"/>
          <a:lstStyle/>
          <a:p>
            <a:pPr algn="ctr" indent="0" marL="0">
              <a:buNone/>
            </a:pPr>
            <a:r>
              <a:rPr lang="en-US" sz="1600" dirty="0">
                <a:solidFill>
                  <a:schemeClr val="tx2"/>
                </a:solidFill>
              </a:rPr>
              <a:t>Lo que ve el usuario: el saldo, el formulario y los movimientos.</a:t>
            </a:r>
            <a:endParaRPr lang="en-US" sz="1600" dirty="0"/>
          </a:p>
        </p:txBody>
      </p:sp>
      <p:sp>
        <p:nvSpPr>
          <p:cNvPr id="9" name="Shape 6"/>
          <p:cNvSpPr/>
          <p:nvPr/>
        </p:nvSpPr>
        <p:spPr>
          <a:xfrm>
            <a:off x="822960" y="5029200"/>
            <a:ext cx="2697480" cy="384048"/>
          </a:xfrm>
          <a:prstGeom prst="roundRect">
            <a:avLst>
              <a:gd name="adj" fmla="val 50000"/>
            </a:avLst>
          </a:prstGeom>
          <a:solidFill>
            <a:schemeClr val="accent3"/>
          </a:solidFill>
          <a:ln w="12700">
            <a:solidFill>
              <a:schemeClr val="accent3"/>
            </a:solidFill>
            <a:prstDash val="solid"/>
          </a:ln>
        </p:spPr>
      </p:sp>
      <p:sp>
        <p:nvSpPr>
          <p:cNvPr id="10" name="Text 7"/>
          <p:cNvSpPr txBox="1"/>
          <p:nvPr/>
        </p:nvSpPr>
        <p:spPr>
          <a:xfrm>
            <a:off x="822960" y="5029200"/>
            <a:ext cx="2697480" cy="384048"/>
          </a:xfrm>
          <a:prstGeom prst="rect">
            <a:avLst/>
          </a:prstGeom>
          <a:noFill/>
          <a:ln/>
        </p:spPr>
        <p:txBody>
          <a:bodyPr wrap="square" lIns="0" tIns="0" rIns="0" bIns="0" rtlCol="0" anchor="ctr"/>
          <a:lstStyle/>
          <a:p>
            <a:pPr algn="ctr" indent="0" marL="0">
              <a:buNone/>
            </a:pPr>
            <a:r>
              <a:rPr lang="en-US" sz="1400" b="1" dirty="0">
                <a:solidFill>
                  <a:schemeClr val="bg1"/>
                </a:solidFill>
              </a:rPr>
              <a:t>React · puerto 5173</a:t>
            </a:r>
            <a:endParaRPr lang="en-US" sz="1400" dirty="0"/>
          </a:p>
        </p:txBody>
      </p:sp>
      <p:sp>
        <p:nvSpPr>
          <p:cNvPr id="11" name="Shape 8"/>
          <p:cNvSpPr/>
          <p:nvPr/>
        </p:nvSpPr>
        <p:spPr>
          <a:xfrm>
            <a:off x="3904488" y="2743200"/>
            <a:ext cx="458572" cy="365760"/>
          </a:xfrm>
          <a:prstGeom prst="rightArrow">
            <a:avLst/>
          </a:prstGeom>
          <a:solidFill>
            <a:schemeClr val="accent5"/>
          </a:solidFill>
          <a:ln w="12700">
            <a:solidFill>
              <a:schemeClr val="accent5"/>
            </a:solidFill>
            <a:prstDash val="solid"/>
          </a:ln>
        </p:spPr>
      </p:sp>
      <p:sp>
        <p:nvSpPr>
          <p:cNvPr id="12" name="Text 9"/>
          <p:cNvSpPr txBox="1"/>
          <p:nvPr/>
        </p:nvSpPr>
        <p:spPr>
          <a:xfrm>
            <a:off x="3721608" y="2377440"/>
            <a:ext cx="824332" cy="320040"/>
          </a:xfrm>
          <a:prstGeom prst="rect">
            <a:avLst/>
          </a:prstGeom>
          <a:noFill/>
          <a:ln/>
        </p:spPr>
        <p:txBody>
          <a:bodyPr wrap="square" lIns="0" tIns="0" rIns="0" bIns="0" rtlCol="0" anchor="ctr"/>
          <a:lstStyle/>
          <a:p>
            <a:pPr algn="ctr" indent="0" marL="0">
              <a:buNone/>
            </a:pPr>
            <a:r>
              <a:rPr lang="en-US" sz="1300" i="1" dirty="0">
                <a:solidFill>
                  <a:schemeClr val="accent5"/>
                </a:solidFill>
              </a:rPr>
              <a:t>pide</a:t>
            </a:r>
            <a:endParaRPr lang="en-US" sz="1300" dirty="0"/>
          </a:p>
        </p:txBody>
      </p:sp>
      <p:sp>
        <p:nvSpPr>
          <p:cNvPr id="13" name="Shape 10"/>
          <p:cNvSpPr/>
          <p:nvPr/>
        </p:nvSpPr>
        <p:spPr>
          <a:xfrm>
            <a:off x="3904488" y="3429000"/>
            <a:ext cx="458572" cy="365760"/>
          </a:xfrm>
          <a:prstGeom prst="leftArrow">
            <a:avLst/>
          </a:prstGeom>
          <a:solidFill>
            <a:schemeClr val="accent6"/>
          </a:solidFill>
          <a:ln w="12700">
            <a:solidFill>
              <a:schemeClr val="accent6"/>
            </a:solidFill>
            <a:prstDash val="solid"/>
          </a:ln>
        </p:spPr>
      </p:sp>
      <p:sp>
        <p:nvSpPr>
          <p:cNvPr id="14" name="Text 11"/>
          <p:cNvSpPr txBox="1"/>
          <p:nvPr/>
        </p:nvSpPr>
        <p:spPr>
          <a:xfrm>
            <a:off x="3630168" y="3840480"/>
            <a:ext cx="1007212" cy="320040"/>
          </a:xfrm>
          <a:prstGeom prst="rect">
            <a:avLst/>
          </a:prstGeom>
          <a:noFill/>
          <a:ln/>
        </p:spPr>
        <p:txBody>
          <a:bodyPr wrap="square" lIns="0" tIns="0" rIns="0" bIns="0" rtlCol="0" anchor="ctr"/>
          <a:lstStyle/>
          <a:p>
            <a:pPr algn="ctr" indent="0" marL="0">
              <a:buNone/>
            </a:pPr>
            <a:r>
              <a:rPr lang="en-US" sz="1300" i="1" dirty="0">
                <a:solidFill>
                  <a:schemeClr val="accent5"/>
                </a:solidFill>
              </a:rPr>
              <a:t>responde</a:t>
            </a:r>
            <a:endParaRPr lang="en-US" sz="1300" dirty="0"/>
          </a:p>
        </p:txBody>
      </p:sp>
      <p:sp>
        <p:nvSpPr>
          <p:cNvPr id="15" name="Shape 12"/>
          <p:cNvSpPr/>
          <p:nvPr/>
        </p:nvSpPr>
        <p:spPr>
          <a:xfrm>
            <a:off x="4472788" y="1325880"/>
            <a:ext cx="3246120" cy="4297680"/>
          </a:xfrm>
          <a:prstGeom prst="roundRect">
            <a:avLst>
              <a:gd name="adj" fmla="val 3380"/>
            </a:avLst>
          </a:prstGeom>
          <a:solidFill>
            <a:schemeClr val="bg2"/>
          </a:solidFill>
          <a:ln w="12700">
            <a:solidFill>
              <a:schemeClr val="bg2"/>
            </a:solidFill>
            <a:prstDash val="solid"/>
          </a:ln>
        </p:spPr>
      </p:sp>
      <p:sp>
        <p:nvSpPr>
          <p:cNvPr id="16" name="Shape 13"/>
          <p:cNvSpPr/>
          <p:nvPr/>
        </p:nvSpPr>
        <p:spPr>
          <a:xfrm>
            <a:off x="5547208" y="1554480"/>
            <a:ext cx="1097280" cy="1097280"/>
          </a:xfrm>
          <a:prstGeom prst="ellipse">
            <a:avLst/>
          </a:prstGeom>
          <a:solidFill>
            <a:schemeClr val="accent1"/>
          </a:solidFill>
          <a:ln w="12700">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5821528" y="1828800"/>
            <a:ext cx="548640" cy="548640"/>
          </a:xfrm>
          <a:prstGeom prst="rect">
            <a:avLst/>
          </a:prstGeom>
        </p:spPr>
      </p:pic>
      <p:sp>
        <p:nvSpPr>
          <p:cNvPr id="18" name="Text 14"/>
          <p:cNvSpPr txBox="1"/>
          <p:nvPr/>
        </p:nvSpPr>
        <p:spPr>
          <a:xfrm>
            <a:off x="4472788" y="2788920"/>
            <a:ext cx="3246120" cy="457200"/>
          </a:xfrm>
          <a:prstGeom prst="rect">
            <a:avLst/>
          </a:prstGeom>
          <a:noFill/>
          <a:ln/>
        </p:spPr>
        <p:txBody>
          <a:bodyPr wrap="square" lIns="0" tIns="0" rIns="0" bIns="0" rtlCol="0" anchor="ctr"/>
          <a:lstStyle/>
          <a:p>
            <a:pPr algn="ctr" indent="0" marL="0">
              <a:buNone/>
            </a:pPr>
            <a:r>
              <a:rPr lang="en-US" sz="2600" b="1" dirty="0">
                <a:solidFill>
                  <a:schemeClr val="tx1"/>
                </a:solidFill>
              </a:rPr>
              <a:t>El cajero</a:t>
            </a:r>
            <a:endParaRPr lang="en-US" sz="2600" dirty="0"/>
          </a:p>
        </p:txBody>
      </p:sp>
      <p:sp>
        <p:nvSpPr>
          <p:cNvPr id="19" name="Text 15"/>
          <p:cNvSpPr txBox="1"/>
          <p:nvPr/>
        </p:nvSpPr>
        <p:spPr>
          <a:xfrm>
            <a:off x="4472788" y="3246120"/>
            <a:ext cx="3246120" cy="365760"/>
          </a:xfrm>
          <a:prstGeom prst="rect">
            <a:avLst/>
          </a:prstGeom>
          <a:noFill/>
          <a:ln/>
        </p:spPr>
        <p:txBody>
          <a:bodyPr wrap="square" lIns="0" tIns="0" rIns="0" bIns="0" rtlCol="0" anchor="ctr"/>
          <a:lstStyle/>
          <a:p>
            <a:pPr algn="ctr" indent="0" marL="0">
              <a:buNone/>
            </a:pPr>
            <a:r>
              <a:rPr lang="en-US" sz="1800" b="1" dirty="0">
                <a:solidFill>
                  <a:schemeClr val="accent1"/>
                </a:solidFill>
              </a:rPr>
              <a:t>Backend: la API</a:t>
            </a:r>
            <a:endParaRPr lang="en-US" sz="1800" dirty="0"/>
          </a:p>
        </p:txBody>
      </p:sp>
      <p:sp>
        <p:nvSpPr>
          <p:cNvPr id="20" name="Text 16"/>
          <p:cNvSpPr txBox="1"/>
          <p:nvPr/>
        </p:nvSpPr>
        <p:spPr>
          <a:xfrm>
            <a:off x="4747108" y="3703320"/>
            <a:ext cx="2697480" cy="1005840"/>
          </a:xfrm>
          <a:prstGeom prst="rect">
            <a:avLst/>
          </a:prstGeom>
          <a:noFill/>
          <a:ln/>
        </p:spPr>
        <p:txBody>
          <a:bodyPr wrap="square" lIns="0" tIns="0" rIns="0" bIns="0" rtlCol="0" anchor="t"/>
          <a:lstStyle/>
          <a:p>
            <a:pPr algn="ctr" indent="0" marL="0">
              <a:buNone/>
            </a:pPr>
            <a:r>
              <a:rPr lang="en-US" sz="1600" dirty="0">
                <a:solidFill>
                  <a:schemeClr val="tx2"/>
                </a:solidFill>
              </a:rPr>
              <a:t>Recibe cada pedido, revisa las reglas y decide si se puede hacer.</a:t>
            </a:r>
            <a:endParaRPr lang="en-US" sz="1600" dirty="0"/>
          </a:p>
        </p:txBody>
      </p:sp>
      <p:sp>
        <p:nvSpPr>
          <p:cNvPr id="21" name="Shape 17"/>
          <p:cNvSpPr/>
          <p:nvPr/>
        </p:nvSpPr>
        <p:spPr>
          <a:xfrm>
            <a:off x="4747108" y="5029200"/>
            <a:ext cx="2697480" cy="384048"/>
          </a:xfrm>
          <a:prstGeom prst="roundRect">
            <a:avLst>
              <a:gd name="adj" fmla="val 50000"/>
            </a:avLst>
          </a:prstGeom>
          <a:solidFill>
            <a:schemeClr val="accent1"/>
          </a:solidFill>
          <a:ln w="12700">
            <a:solidFill>
              <a:schemeClr val="accent1"/>
            </a:solidFill>
            <a:prstDash val="solid"/>
          </a:ln>
        </p:spPr>
      </p:sp>
      <p:sp>
        <p:nvSpPr>
          <p:cNvPr id="22" name="Text 18"/>
          <p:cNvSpPr txBox="1"/>
          <p:nvPr/>
        </p:nvSpPr>
        <p:spPr>
          <a:xfrm>
            <a:off x="4747108" y="5029200"/>
            <a:ext cx="2697480" cy="384048"/>
          </a:xfrm>
          <a:prstGeom prst="rect">
            <a:avLst/>
          </a:prstGeom>
          <a:noFill/>
          <a:ln/>
        </p:spPr>
        <p:txBody>
          <a:bodyPr wrap="square" lIns="0" tIns="0" rIns="0" bIns="0" rtlCol="0" anchor="ctr"/>
          <a:lstStyle/>
          <a:p>
            <a:pPr algn="ctr" indent="0" marL="0">
              <a:buNone/>
            </a:pPr>
            <a:r>
              <a:rPr lang="en-US" sz="1400" b="1" dirty="0">
                <a:solidFill>
                  <a:schemeClr val="bg1"/>
                </a:solidFill>
              </a:rPr>
              <a:t>Python y Flask · puerto 5000</a:t>
            </a:r>
            <a:endParaRPr lang="en-US" sz="1400" dirty="0"/>
          </a:p>
        </p:txBody>
      </p:sp>
      <p:sp>
        <p:nvSpPr>
          <p:cNvPr id="23" name="Shape 19"/>
          <p:cNvSpPr/>
          <p:nvPr/>
        </p:nvSpPr>
        <p:spPr>
          <a:xfrm>
            <a:off x="7828636" y="2743200"/>
            <a:ext cx="458572" cy="365760"/>
          </a:xfrm>
          <a:prstGeom prst="rightArrow">
            <a:avLst/>
          </a:prstGeom>
          <a:solidFill>
            <a:schemeClr val="accent5"/>
          </a:solidFill>
          <a:ln w="12700">
            <a:solidFill>
              <a:schemeClr val="accent5"/>
            </a:solidFill>
            <a:prstDash val="solid"/>
          </a:ln>
        </p:spPr>
      </p:sp>
      <p:sp>
        <p:nvSpPr>
          <p:cNvPr id="24" name="Text 20"/>
          <p:cNvSpPr txBox="1"/>
          <p:nvPr/>
        </p:nvSpPr>
        <p:spPr>
          <a:xfrm>
            <a:off x="7645756" y="2377440"/>
            <a:ext cx="824332" cy="320040"/>
          </a:xfrm>
          <a:prstGeom prst="rect">
            <a:avLst/>
          </a:prstGeom>
          <a:noFill/>
          <a:ln/>
        </p:spPr>
        <p:txBody>
          <a:bodyPr wrap="square" lIns="0" tIns="0" rIns="0" bIns="0" rtlCol="0" anchor="ctr"/>
          <a:lstStyle/>
          <a:p>
            <a:pPr algn="ctr" indent="0" marL="0">
              <a:buNone/>
            </a:pPr>
            <a:r>
              <a:rPr lang="en-US" sz="1300" i="1" dirty="0">
                <a:solidFill>
                  <a:schemeClr val="accent5"/>
                </a:solidFill>
              </a:rPr>
              <a:t>pide</a:t>
            </a:r>
            <a:endParaRPr lang="en-US" sz="1300" dirty="0"/>
          </a:p>
        </p:txBody>
      </p:sp>
      <p:sp>
        <p:nvSpPr>
          <p:cNvPr id="25" name="Shape 21"/>
          <p:cNvSpPr/>
          <p:nvPr/>
        </p:nvSpPr>
        <p:spPr>
          <a:xfrm>
            <a:off x="7828636" y="3429000"/>
            <a:ext cx="458572" cy="365760"/>
          </a:xfrm>
          <a:prstGeom prst="leftArrow">
            <a:avLst/>
          </a:prstGeom>
          <a:solidFill>
            <a:schemeClr val="accent6"/>
          </a:solidFill>
          <a:ln w="12700">
            <a:solidFill>
              <a:schemeClr val="accent6"/>
            </a:solidFill>
            <a:prstDash val="solid"/>
          </a:ln>
        </p:spPr>
      </p:sp>
      <p:sp>
        <p:nvSpPr>
          <p:cNvPr id="26" name="Text 22"/>
          <p:cNvSpPr txBox="1"/>
          <p:nvPr/>
        </p:nvSpPr>
        <p:spPr>
          <a:xfrm>
            <a:off x="7554316" y="3840480"/>
            <a:ext cx="1007212" cy="320040"/>
          </a:xfrm>
          <a:prstGeom prst="rect">
            <a:avLst/>
          </a:prstGeom>
          <a:noFill/>
          <a:ln/>
        </p:spPr>
        <p:txBody>
          <a:bodyPr wrap="square" lIns="0" tIns="0" rIns="0" bIns="0" rtlCol="0" anchor="ctr"/>
          <a:lstStyle/>
          <a:p>
            <a:pPr algn="ctr" indent="0" marL="0">
              <a:buNone/>
            </a:pPr>
            <a:r>
              <a:rPr lang="en-US" sz="1300" i="1" dirty="0">
                <a:solidFill>
                  <a:schemeClr val="accent5"/>
                </a:solidFill>
              </a:rPr>
              <a:t>responde</a:t>
            </a:r>
            <a:endParaRPr lang="en-US" sz="1300" dirty="0"/>
          </a:p>
        </p:txBody>
      </p:sp>
      <p:sp>
        <p:nvSpPr>
          <p:cNvPr id="27" name="Shape 23"/>
          <p:cNvSpPr/>
          <p:nvPr/>
        </p:nvSpPr>
        <p:spPr>
          <a:xfrm>
            <a:off x="8396935" y="1325880"/>
            <a:ext cx="3246120" cy="4297680"/>
          </a:xfrm>
          <a:prstGeom prst="roundRect">
            <a:avLst>
              <a:gd name="adj" fmla="val 3380"/>
            </a:avLst>
          </a:prstGeom>
          <a:solidFill>
            <a:schemeClr val="bg2"/>
          </a:solidFill>
          <a:ln w="12700">
            <a:solidFill>
              <a:schemeClr val="bg2"/>
            </a:solidFill>
            <a:prstDash val="solid"/>
          </a:ln>
        </p:spPr>
      </p:sp>
      <p:sp>
        <p:nvSpPr>
          <p:cNvPr id="28" name="Shape 24"/>
          <p:cNvSpPr/>
          <p:nvPr/>
        </p:nvSpPr>
        <p:spPr>
          <a:xfrm>
            <a:off x="9471355" y="1554480"/>
            <a:ext cx="1097280" cy="1097280"/>
          </a:xfrm>
          <a:prstGeom prst="ellipse">
            <a:avLst/>
          </a:prstGeom>
          <a:solidFill>
            <a:schemeClr val="tx1"/>
          </a:solidFill>
          <a:ln w="12700">
            <a:solidFill>
              <a:schemeClr val="tx1"/>
            </a:solidFill>
            <a:prstDash val="solid"/>
          </a:ln>
        </p:spPr>
      </p:sp>
      <p:pic>
        <p:nvPicPr>
          <p:cNvPr id="29" name="Image 2" descr="preencoded.png">    </p:cNvPr>
          <p:cNvPicPr>
            <a:picLocks noChangeAspect="1"/>
          </p:cNvPicPr>
          <p:nvPr/>
        </p:nvPicPr>
        <p:blipFill>
          <a:blip r:embed="rId3"/>
          <a:stretch>
            <a:fillRect/>
          </a:stretch>
        </p:blipFill>
        <p:spPr>
          <a:xfrm>
            <a:off x="9745675" y="1828800"/>
            <a:ext cx="548640" cy="548640"/>
          </a:xfrm>
          <a:prstGeom prst="rect">
            <a:avLst/>
          </a:prstGeom>
        </p:spPr>
      </p:pic>
      <p:sp>
        <p:nvSpPr>
          <p:cNvPr id="30" name="Text 25"/>
          <p:cNvSpPr txBox="1"/>
          <p:nvPr/>
        </p:nvSpPr>
        <p:spPr>
          <a:xfrm>
            <a:off x="8396935" y="2788920"/>
            <a:ext cx="3246120" cy="457200"/>
          </a:xfrm>
          <a:prstGeom prst="rect">
            <a:avLst/>
          </a:prstGeom>
          <a:noFill/>
          <a:ln/>
        </p:spPr>
        <p:txBody>
          <a:bodyPr wrap="square" lIns="0" tIns="0" rIns="0" bIns="0" rtlCol="0" anchor="ctr"/>
          <a:lstStyle/>
          <a:p>
            <a:pPr algn="ctr" indent="0" marL="0">
              <a:buNone/>
            </a:pPr>
            <a:r>
              <a:rPr lang="en-US" sz="2600" b="1" dirty="0">
                <a:solidFill>
                  <a:schemeClr val="tx1"/>
                </a:solidFill>
              </a:rPr>
              <a:t>La base de datos</a:t>
            </a:r>
            <a:endParaRPr lang="en-US" sz="2600" dirty="0"/>
          </a:p>
        </p:txBody>
      </p:sp>
      <p:sp>
        <p:nvSpPr>
          <p:cNvPr id="31" name="Text 26"/>
          <p:cNvSpPr txBox="1"/>
          <p:nvPr/>
        </p:nvSpPr>
        <p:spPr>
          <a:xfrm>
            <a:off x="8396935" y="3246120"/>
            <a:ext cx="3246120" cy="365760"/>
          </a:xfrm>
          <a:prstGeom prst="rect">
            <a:avLst/>
          </a:prstGeom>
          <a:noFill/>
          <a:ln/>
        </p:spPr>
        <p:txBody>
          <a:bodyPr wrap="square" lIns="0" tIns="0" rIns="0" bIns="0" rtlCol="0" anchor="ctr"/>
          <a:lstStyle/>
          <a:p>
            <a:pPr algn="ctr" indent="0" marL="0">
              <a:buNone/>
            </a:pPr>
            <a:r>
              <a:rPr lang="en-US" sz="1800" b="1" dirty="0">
                <a:solidFill>
                  <a:schemeClr val="tx1"/>
                </a:solidFill>
              </a:rPr>
              <a:t>MySQL</a:t>
            </a:r>
            <a:endParaRPr lang="en-US" sz="1800" dirty="0"/>
          </a:p>
        </p:txBody>
      </p:sp>
      <p:sp>
        <p:nvSpPr>
          <p:cNvPr id="32" name="Text 27"/>
          <p:cNvSpPr txBox="1"/>
          <p:nvPr/>
        </p:nvSpPr>
        <p:spPr>
          <a:xfrm>
            <a:off x="8671255" y="3703320"/>
            <a:ext cx="2697480" cy="1005840"/>
          </a:xfrm>
          <a:prstGeom prst="rect">
            <a:avLst/>
          </a:prstGeom>
          <a:noFill/>
          <a:ln/>
        </p:spPr>
        <p:txBody>
          <a:bodyPr wrap="square" lIns="0" tIns="0" rIns="0" bIns="0" rtlCol="0" anchor="t"/>
          <a:lstStyle/>
          <a:p>
            <a:pPr algn="ctr" indent="0" marL="0">
              <a:buNone/>
            </a:pPr>
            <a:r>
              <a:rPr lang="en-US" sz="1600" dirty="0">
                <a:solidFill>
                  <a:schemeClr val="tx2"/>
                </a:solidFill>
              </a:rPr>
              <a:t>Donde se guardan los movimientos para siempre.</a:t>
            </a:r>
            <a:endParaRPr lang="en-US" sz="1600" dirty="0"/>
          </a:p>
        </p:txBody>
      </p:sp>
      <p:sp>
        <p:nvSpPr>
          <p:cNvPr id="33" name="Shape 28"/>
          <p:cNvSpPr/>
          <p:nvPr/>
        </p:nvSpPr>
        <p:spPr>
          <a:xfrm>
            <a:off x="8671255" y="5029200"/>
            <a:ext cx="2697480" cy="384048"/>
          </a:xfrm>
          <a:prstGeom prst="roundRect">
            <a:avLst>
              <a:gd name="adj" fmla="val 50000"/>
            </a:avLst>
          </a:prstGeom>
          <a:solidFill>
            <a:schemeClr val="tx1"/>
          </a:solidFill>
          <a:ln w="12700">
            <a:solidFill>
              <a:schemeClr val="tx1"/>
            </a:solidFill>
            <a:prstDash val="solid"/>
          </a:ln>
        </p:spPr>
      </p:sp>
      <p:sp>
        <p:nvSpPr>
          <p:cNvPr id="34" name="Text 29"/>
          <p:cNvSpPr txBox="1"/>
          <p:nvPr/>
        </p:nvSpPr>
        <p:spPr>
          <a:xfrm>
            <a:off x="8671255" y="5029200"/>
            <a:ext cx="2697480" cy="384048"/>
          </a:xfrm>
          <a:prstGeom prst="rect">
            <a:avLst/>
          </a:prstGeom>
          <a:noFill/>
          <a:ln/>
        </p:spPr>
        <p:txBody>
          <a:bodyPr wrap="square" lIns="0" tIns="0" rIns="0" bIns="0" rtlCol="0" anchor="ctr"/>
          <a:lstStyle/>
          <a:p>
            <a:pPr algn="ctr" indent="0" marL="0">
              <a:buNone/>
            </a:pPr>
            <a:r>
              <a:rPr lang="en-US" sz="1400" b="1" dirty="0">
                <a:solidFill>
                  <a:schemeClr val="bg1"/>
                </a:solidFill>
              </a:rPr>
              <a:t>MySQL en Docker · puerto 3306</a:t>
            </a:r>
            <a:endParaRPr lang="en-US" sz="1400" dirty="0"/>
          </a:p>
        </p:txBody>
      </p:sp>
      <p:sp>
        <p:nvSpPr>
          <p:cNvPr id="35" name="Text 30"/>
          <p:cNvSpPr txBox="1"/>
          <p:nvPr/>
        </p:nvSpPr>
        <p:spPr>
          <a:xfrm>
            <a:off x="548640" y="5806440"/>
            <a:ext cx="11094415" cy="411480"/>
          </a:xfrm>
          <a:prstGeom prst="rect">
            <a:avLst/>
          </a:prstGeom>
          <a:noFill/>
          <a:ln/>
        </p:spPr>
        <p:txBody>
          <a:bodyPr wrap="square" lIns="0" tIns="0" rIns="0" bIns="0" rtlCol="0" anchor="ctr"/>
          <a:lstStyle/>
          <a:p>
            <a:pPr indent="0" marL="0">
              <a:buNone/>
            </a:pPr>
            <a:r>
              <a:rPr lang="en-US" sz="1600" i="1" dirty="0">
                <a:solidFill>
                  <a:schemeClr val="tx2"/>
                </a:solidFill>
              </a:rPr>
              <a:t>La ventanilla nunca entra a la base de datos: todo pasa por el cajero. Cada parte se enciende en su propia terminal.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De dónde partí: el CRUD del profe</a:t>
            </a:r>
            <a:endParaRPr lang="en-US" sz="3400" dirty="0"/>
          </a:p>
        </p:txBody>
      </p:sp>
      <p:sp>
        <p:nvSpPr>
          <p:cNvPr id="3" name="Text 1"/>
          <p:cNvSpPr txBox="1"/>
          <p:nvPr/>
        </p:nvSpPr>
        <p:spPr>
          <a:xfrm>
            <a:off x="548640" y="1371600"/>
            <a:ext cx="5120640" cy="25603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2"/>
                </a:solidFill>
              </a:rPr>
              <a:t>Ya hacía las cuatro operaciones del CRUD.</a:t>
            </a:r>
            <a:endParaRPr lang="en-US" sz="1800" dirty="0"/>
          </a:p>
          <a:p>
            <a:pPr marL="342900" indent="-342900">
              <a:spcAft>
                <a:spcPts val="1200"/>
              </a:spcAft>
              <a:buSzPct val="100000"/>
              <a:buChar char="•"/>
            </a:pPr>
            <a:r>
              <a:rPr lang="en-US" sz="1800" dirty="0">
                <a:solidFill>
                  <a:schemeClr val="tx2"/>
                </a:solidFill>
              </a:rPr>
              <a:t>Pero el «impacto» se escribía a mano y nadie lo revisaba.</a:t>
            </a:r>
            <a:endParaRPr lang="en-US" sz="1800" dirty="0"/>
          </a:p>
          <a:p>
            <a:pPr marL="342900" indent="-342900">
              <a:spcAft>
                <a:spcPts val="1200"/>
              </a:spcAft>
              <a:buSzPct val="100000"/>
              <a:buChar char="•"/>
            </a:pPr>
            <a:r>
              <a:rPr lang="en-US" sz="1800" dirty="0">
                <a:solidFill>
                  <a:schemeClr val="tx2"/>
                </a:solidFill>
              </a:rPr>
              <a:t>Los tipos (crédito, débito, transferencia) no cambiaban nada.</a:t>
            </a:r>
            <a:endParaRPr lang="en-US" sz="1800" dirty="0"/>
          </a:p>
          <a:p>
            <a:pPr marL="342900" indent="-342900">
              <a:spcAft>
                <a:spcPts val="1200"/>
              </a:spcAft>
              <a:buSzPct val="100000"/>
              <a:buChar char="•"/>
            </a:pPr>
            <a:r>
              <a:rPr lang="en-US" sz="1800" dirty="0">
                <a:solidFill>
                  <a:schemeClr val="tx2"/>
                </a:solidFill>
              </a:rPr>
              <a:t>Si borrabas algo que no existía, decía «eliminada».</a:t>
            </a:r>
            <a:endParaRPr lang="en-US" sz="1800" dirty="0"/>
          </a:p>
        </p:txBody>
      </p:sp>
      <p:pic>
        <p:nvPicPr>
          <p:cNvPr id="4" name="Image 0" descr="Transacción T001 con impacto 1221 en MySQL">    </p:cNvPr>
          <p:cNvPicPr>
            <a:picLocks noChangeAspect="1"/>
          </p:cNvPicPr>
          <p:nvPr/>
        </p:nvPicPr>
        <p:blipFill>
          <a:blip r:embed="rId1"/>
          <a:stretch>
            <a:fillRect/>
          </a:stretch>
        </p:blipFill>
        <p:spPr>
          <a:xfrm>
            <a:off x="6035040" y="1383399"/>
            <a:ext cx="5577840" cy="1439443"/>
          </a:xfrm>
          <a:prstGeom prst="rect">
            <a:avLst/>
          </a:prstGeom>
          <a:effectLst>
            <a:outerShdw sx="100000" sy="100000" kx="0" ky="0" algn="bl" rotWithShape="0" blurRad="101600" dist="25400" dir="5400000">
              <a:srgbClr val="000000">
                <a:alpha val="18000"/>
              </a:srgbClr>
            </a:outerShdw>
          </a:effectLst>
        </p:spPr>
      </p:pic>
      <p:sp>
        <p:nvSpPr>
          <p:cNvPr id="5" name="Shape 2"/>
          <p:cNvSpPr/>
          <p:nvPr/>
        </p:nvSpPr>
        <p:spPr>
          <a:xfrm>
            <a:off x="6035040" y="3246120"/>
            <a:ext cx="5577840" cy="2194560"/>
          </a:xfrm>
          <a:prstGeom prst="roundRect">
            <a:avLst>
              <a:gd name="adj" fmla="val 5000"/>
            </a:avLst>
          </a:prstGeom>
          <a:solidFill>
            <a:schemeClr val="bg2"/>
          </a:solidFill>
          <a:ln w="12700">
            <a:solidFill>
              <a:schemeClr val="bg2"/>
            </a:solidFill>
            <a:prstDash val="solid"/>
          </a:ln>
        </p:spPr>
      </p:sp>
      <p:sp>
        <p:nvSpPr>
          <p:cNvPr id="6" name="Text 3"/>
          <p:cNvSpPr txBox="1"/>
          <p:nvPr/>
        </p:nvSpPr>
        <p:spPr>
          <a:xfrm>
            <a:off x="6263640" y="3383280"/>
            <a:ext cx="5120640" cy="411480"/>
          </a:xfrm>
          <a:prstGeom prst="rect">
            <a:avLst/>
          </a:prstGeom>
          <a:noFill/>
          <a:ln/>
        </p:spPr>
        <p:txBody>
          <a:bodyPr wrap="square" lIns="0" tIns="0" rIns="0" bIns="0" rtlCol="0" anchor="ctr"/>
          <a:lstStyle/>
          <a:p>
            <a:pPr indent="0" marL="0">
              <a:buNone/>
            </a:pPr>
            <a:r>
              <a:rPr lang="en-US" sz="1800" b="1" dirty="0">
                <a:solidFill>
                  <a:schemeClr val="tx1"/>
                </a:solidFill>
              </a:rPr>
              <a:t>Lo que encontré en la base de datos</a:t>
            </a:r>
            <a:endParaRPr lang="en-US" sz="1800" dirty="0"/>
          </a:p>
        </p:txBody>
      </p:sp>
      <p:sp>
        <p:nvSpPr>
          <p:cNvPr id="7" name="Text 4"/>
          <p:cNvSpPr txBox="1"/>
          <p:nvPr/>
        </p:nvSpPr>
        <p:spPr>
          <a:xfrm>
            <a:off x="6263640" y="3840480"/>
            <a:ext cx="5120640" cy="1371600"/>
          </a:xfrm>
          <a:prstGeom prst="rect">
            <a:avLst/>
          </a:prstGeom>
          <a:noFill/>
          <a:ln/>
        </p:spPr>
        <p:txBody>
          <a:bodyPr wrap="square" lIns="0" tIns="0" rIns="0" bIns="0" rtlCol="0" anchor="ctr"/>
          <a:lstStyle/>
          <a:p>
            <a:pPr indent="0" marL="0">
              <a:buNone/>
            </a:pPr>
            <a:r>
              <a:rPr lang="en-US" sz="2000" dirty="0">
                <a:solidFill>
                  <a:schemeClr val="tx2"/>
                </a:solidFill>
              </a:rPr>
              <a:t>T001 · Crédito de $400.000</a:t>
            </a:r>
            <a:endParaRPr lang="en-US" sz="2000" dirty="0"/>
          </a:p>
          <a:p>
            <a:pPr indent="0" marL="0">
              <a:buNone/>
            </a:pPr>
            <a:r>
              <a:rPr lang="en-US" sz="2000" dirty="0">
                <a:solidFill>
                  <a:schemeClr val="tx2"/>
                </a:solidFill>
              </a:rPr>
              <a:t>Impacto guardado: </a:t>
            </a:r>
            <a:pPr indent="0" marL="0">
              <a:buNone/>
            </a:pPr>
            <a:r>
              <a:rPr lang="en-US" sz="2000" b="1" dirty="0">
                <a:solidFill>
                  <a:schemeClr val="accent2"/>
                </a:solidFill>
              </a:rPr>
              <a:t>1.221</a:t>
            </a:r>
            <a:endParaRPr lang="en-US" sz="2000" dirty="0"/>
          </a:p>
          <a:p>
            <a:pPr indent="0" marL="0">
              <a:buNone/>
            </a:pPr>
            <a:r>
              <a:rPr lang="en-US" sz="2000" dirty="0">
                <a:solidFill>
                  <a:schemeClr val="tx2"/>
                </a:solidFill>
              </a:rPr>
              <a:t>Debería ser (2 %): </a:t>
            </a:r>
            <a:pPr indent="0" marL="0">
              <a:buNone/>
            </a:pPr>
            <a:r>
              <a:rPr lang="en-US" sz="2000" b="1" dirty="0">
                <a:solidFill>
                  <a:schemeClr val="accent1"/>
                </a:solidFill>
              </a:rPr>
              <a:t>8.000</a:t>
            </a:r>
            <a:endParaRPr lang="en-US" sz="2000" dirty="0"/>
          </a:p>
        </p:txBody>
      </p:sp>
      <p:sp>
        <p:nvSpPr>
          <p:cNvPr id="8" name="Text 5"/>
          <p:cNvSpPr txBox="1"/>
          <p:nvPr/>
        </p:nvSpPr>
        <p:spPr>
          <a:xfrm>
            <a:off x="548640" y="4206240"/>
            <a:ext cx="5120640" cy="1097280"/>
          </a:xfrm>
          <a:prstGeom prst="rect">
            <a:avLst/>
          </a:prstGeom>
          <a:noFill/>
          <a:ln/>
        </p:spPr>
        <p:txBody>
          <a:bodyPr wrap="square" lIns="0" tIns="0" rIns="0" bIns="0" rtlCol="0" anchor="ctr"/>
          <a:lstStyle/>
          <a:p>
            <a:pPr indent="0" marL="0">
              <a:buNone/>
            </a:pPr>
            <a:r>
              <a:rPr lang="en-US" sz="1800" b="1" dirty="0">
                <a:solidFill>
                  <a:schemeClr val="accent1"/>
                </a:solidFill>
              </a:rPr>
              <a:t>Mi idea: </a:t>
            </a:r>
            <a:pPr indent="0" marL="0">
              <a:buNone/>
            </a:pPr>
            <a:r>
              <a:rPr lang="en-US" sz="1800" dirty="0">
                <a:solidFill>
                  <a:schemeClr val="tx1"/>
                </a:solidFill>
              </a:rPr>
              <a:t>convertirlo en un banco donde las reglas las revisa el sistema, no la persona.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Las reglas del banco</a:t>
            </a:r>
            <a:endParaRPr lang="en-US" sz="3400" dirty="0"/>
          </a:p>
        </p:txBody>
      </p:sp>
      <p:sp>
        <p:nvSpPr>
          <p:cNvPr id="3" name="Shape 1"/>
          <p:cNvSpPr/>
          <p:nvPr/>
        </p:nvSpPr>
        <p:spPr>
          <a:xfrm>
            <a:off x="548640" y="1325880"/>
            <a:ext cx="2567864" cy="2331720"/>
          </a:xfrm>
          <a:prstGeom prst="roundRect">
            <a:avLst>
              <a:gd name="adj" fmla="val 4706"/>
            </a:avLst>
          </a:prstGeom>
          <a:solidFill>
            <a:schemeClr val="bg2"/>
          </a:solidFill>
          <a:ln w="12700">
            <a:solidFill>
              <a:schemeClr val="bg2"/>
            </a:solidFill>
            <a:prstDash val="solid"/>
          </a:ln>
        </p:spPr>
      </p:sp>
      <p:sp>
        <p:nvSpPr>
          <p:cNvPr id="4" name="Shape 2"/>
          <p:cNvSpPr/>
          <p:nvPr/>
        </p:nvSpPr>
        <p:spPr>
          <a:xfrm>
            <a:off x="1421092" y="150876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1421092" y="1508760"/>
            <a:ext cx="822960" cy="822960"/>
          </a:xfrm>
          <a:prstGeom prst="rect">
            <a:avLst/>
          </a:prstGeom>
          <a:noFill/>
          <a:ln/>
        </p:spPr>
        <p:txBody>
          <a:bodyPr wrap="square" lIns="0" tIns="0" rIns="0" bIns="0" rtlCol="0" anchor="ctr"/>
          <a:lstStyle/>
          <a:p>
            <a:pPr algn="ctr" indent="0" marL="0">
              <a:buNone/>
            </a:pPr>
            <a:r>
              <a:rPr lang="en-US" sz="3600" b="1" dirty="0">
                <a:solidFill>
                  <a:schemeClr val="bg1"/>
                </a:solidFill>
              </a:rPr>
              <a:t>+</a:t>
            </a:r>
            <a:endParaRPr lang="en-US" sz="3600" dirty="0"/>
          </a:p>
        </p:txBody>
      </p:sp>
      <p:sp>
        <p:nvSpPr>
          <p:cNvPr id="6" name="Text 4"/>
          <p:cNvSpPr txBox="1"/>
          <p:nvPr/>
        </p:nvSpPr>
        <p:spPr>
          <a:xfrm>
            <a:off x="548640" y="2468880"/>
            <a:ext cx="2567864" cy="411480"/>
          </a:xfrm>
          <a:prstGeom prst="rect">
            <a:avLst/>
          </a:prstGeom>
          <a:noFill/>
          <a:ln/>
        </p:spPr>
        <p:txBody>
          <a:bodyPr wrap="square" lIns="0" tIns="0" rIns="0" bIns="0" rtlCol="0" anchor="ctr"/>
          <a:lstStyle/>
          <a:p>
            <a:pPr algn="ctr" indent="0" marL="0">
              <a:buNone/>
            </a:pPr>
            <a:r>
              <a:rPr lang="en-US" sz="2000" b="1" dirty="0">
                <a:solidFill>
                  <a:schemeClr val="accent1"/>
                </a:solidFill>
              </a:rPr>
              <a:t>CONSIGNAR</a:t>
            </a:r>
            <a:endParaRPr lang="en-US" sz="2000" dirty="0"/>
          </a:p>
        </p:txBody>
      </p:sp>
      <p:sp>
        <p:nvSpPr>
          <p:cNvPr id="7" name="Text 5"/>
          <p:cNvSpPr txBox="1"/>
          <p:nvPr/>
        </p:nvSpPr>
        <p:spPr>
          <a:xfrm>
            <a:off x="731520" y="2880360"/>
            <a:ext cx="2202104" cy="640080"/>
          </a:xfrm>
          <a:prstGeom prst="rect">
            <a:avLst/>
          </a:prstGeom>
          <a:noFill/>
          <a:ln/>
        </p:spPr>
        <p:txBody>
          <a:bodyPr wrap="square" lIns="0" tIns="0" rIns="0" bIns="0" rtlCol="0" anchor="ctr"/>
          <a:lstStyle/>
          <a:p>
            <a:pPr algn="ctr" indent="0" marL="0">
              <a:buNone/>
            </a:pPr>
            <a:r>
              <a:rPr lang="en-US" sz="1500" dirty="0">
                <a:solidFill>
                  <a:schemeClr val="tx2"/>
                </a:solidFill>
              </a:rPr>
              <a:t>Entra plata a la cuenta</a:t>
            </a:r>
            <a:endParaRPr lang="en-US" sz="1500" dirty="0"/>
          </a:p>
        </p:txBody>
      </p:sp>
      <p:sp>
        <p:nvSpPr>
          <p:cNvPr id="8" name="Shape 6"/>
          <p:cNvSpPr/>
          <p:nvPr/>
        </p:nvSpPr>
        <p:spPr>
          <a:xfrm>
            <a:off x="3390824" y="1325880"/>
            <a:ext cx="2567864" cy="2331720"/>
          </a:xfrm>
          <a:prstGeom prst="roundRect">
            <a:avLst>
              <a:gd name="adj" fmla="val 4706"/>
            </a:avLst>
          </a:prstGeom>
          <a:solidFill>
            <a:schemeClr val="bg2"/>
          </a:solidFill>
          <a:ln w="12700">
            <a:solidFill>
              <a:schemeClr val="bg2"/>
            </a:solidFill>
            <a:prstDash val="solid"/>
          </a:ln>
        </p:spPr>
      </p:sp>
      <p:sp>
        <p:nvSpPr>
          <p:cNvPr id="9" name="Shape 7"/>
          <p:cNvSpPr/>
          <p:nvPr/>
        </p:nvSpPr>
        <p:spPr>
          <a:xfrm>
            <a:off x="4263276" y="1508760"/>
            <a:ext cx="822960" cy="822960"/>
          </a:xfrm>
          <a:prstGeom prst="ellipse">
            <a:avLst/>
          </a:prstGeom>
          <a:solidFill>
            <a:schemeClr val="accent1"/>
          </a:solidFill>
          <a:ln w="12700">
            <a:solidFill>
              <a:schemeClr val="accent1"/>
            </a:solidFill>
            <a:prstDash val="solid"/>
          </a:ln>
        </p:spPr>
      </p:sp>
      <p:sp>
        <p:nvSpPr>
          <p:cNvPr id="10" name="Text 8"/>
          <p:cNvSpPr txBox="1"/>
          <p:nvPr/>
        </p:nvSpPr>
        <p:spPr>
          <a:xfrm>
            <a:off x="4263276" y="1508760"/>
            <a:ext cx="822960" cy="822960"/>
          </a:xfrm>
          <a:prstGeom prst="rect">
            <a:avLst/>
          </a:prstGeom>
          <a:noFill/>
          <a:ln/>
        </p:spPr>
        <p:txBody>
          <a:bodyPr wrap="square" lIns="0" tIns="0" rIns="0" bIns="0" rtlCol="0" anchor="ctr"/>
          <a:lstStyle/>
          <a:p>
            <a:pPr algn="ctr" indent="0" marL="0">
              <a:buNone/>
            </a:pPr>
            <a:r>
              <a:rPr lang="en-US" sz="3600" b="1" dirty="0">
                <a:solidFill>
                  <a:schemeClr val="bg1"/>
                </a:solidFill>
              </a:rPr>
              <a:t>+</a:t>
            </a:r>
            <a:endParaRPr lang="en-US" sz="3600" dirty="0"/>
          </a:p>
        </p:txBody>
      </p:sp>
      <p:sp>
        <p:nvSpPr>
          <p:cNvPr id="11" name="Text 9"/>
          <p:cNvSpPr txBox="1"/>
          <p:nvPr/>
        </p:nvSpPr>
        <p:spPr>
          <a:xfrm>
            <a:off x="3390824" y="2468880"/>
            <a:ext cx="2567864" cy="411480"/>
          </a:xfrm>
          <a:prstGeom prst="rect">
            <a:avLst/>
          </a:prstGeom>
          <a:noFill/>
          <a:ln/>
        </p:spPr>
        <p:txBody>
          <a:bodyPr wrap="square" lIns="0" tIns="0" rIns="0" bIns="0" rtlCol="0" anchor="ctr"/>
          <a:lstStyle/>
          <a:p>
            <a:pPr algn="ctr" indent="0" marL="0">
              <a:buNone/>
            </a:pPr>
            <a:r>
              <a:rPr lang="en-US" sz="2000" b="1" dirty="0">
                <a:solidFill>
                  <a:schemeClr val="accent1"/>
                </a:solidFill>
              </a:rPr>
              <a:t>AVANCE</a:t>
            </a:r>
            <a:endParaRPr lang="en-US" sz="2000" dirty="0"/>
          </a:p>
        </p:txBody>
      </p:sp>
      <p:sp>
        <p:nvSpPr>
          <p:cNvPr id="12" name="Text 10"/>
          <p:cNvSpPr txBox="1"/>
          <p:nvPr/>
        </p:nvSpPr>
        <p:spPr>
          <a:xfrm>
            <a:off x="3573704" y="2880360"/>
            <a:ext cx="2202104" cy="640080"/>
          </a:xfrm>
          <a:prstGeom prst="rect">
            <a:avLst/>
          </a:prstGeom>
          <a:noFill/>
          <a:ln/>
        </p:spPr>
        <p:txBody>
          <a:bodyPr wrap="square" lIns="0" tIns="0" rIns="0" bIns="0" rtlCol="0" anchor="ctr"/>
          <a:lstStyle/>
          <a:p>
            <a:pPr algn="ctr" indent="0" marL="0">
              <a:buNone/>
            </a:pPr>
            <a:r>
              <a:rPr lang="en-US" sz="1500" dirty="0">
                <a:solidFill>
                  <a:schemeClr val="tx2"/>
                </a:solidFill>
              </a:rPr>
              <a:t>Entra plata de la tarjeta de crédito</a:t>
            </a:r>
            <a:endParaRPr lang="en-US" sz="1500" dirty="0"/>
          </a:p>
        </p:txBody>
      </p:sp>
      <p:sp>
        <p:nvSpPr>
          <p:cNvPr id="13" name="Shape 11"/>
          <p:cNvSpPr/>
          <p:nvPr/>
        </p:nvSpPr>
        <p:spPr>
          <a:xfrm>
            <a:off x="6233008" y="1325880"/>
            <a:ext cx="2567864" cy="2331720"/>
          </a:xfrm>
          <a:prstGeom prst="roundRect">
            <a:avLst>
              <a:gd name="adj" fmla="val 4706"/>
            </a:avLst>
          </a:prstGeom>
          <a:solidFill>
            <a:schemeClr val="bg2"/>
          </a:solidFill>
          <a:ln w="12700">
            <a:solidFill>
              <a:schemeClr val="bg2"/>
            </a:solidFill>
            <a:prstDash val="solid"/>
          </a:ln>
        </p:spPr>
      </p:sp>
      <p:sp>
        <p:nvSpPr>
          <p:cNvPr id="14" name="Shape 12"/>
          <p:cNvSpPr/>
          <p:nvPr/>
        </p:nvSpPr>
        <p:spPr>
          <a:xfrm>
            <a:off x="7105460" y="1508760"/>
            <a:ext cx="822960" cy="822960"/>
          </a:xfrm>
          <a:prstGeom prst="ellipse">
            <a:avLst/>
          </a:prstGeom>
          <a:solidFill>
            <a:schemeClr val="accent2"/>
          </a:solidFill>
          <a:ln w="12700">
            <a:solidFill>
              <a:schemeClr val="accent2"/>
            </a:solidFill>
            <a:prstDash val="solid"/>
          </a:ln>
        </p:spPr>
      </p:sp>
      <p:sp>
        <p:nvSpPr>
          <p:cNvPr id="15" name="Text 13"/>
          <p:cNvSpPr txBox="1"/>
          <p:nvPr/>
        </p:nvSpPr>
        <p:spPr>
          <a:xfrm>
            <a:off x="7105460" y="1508760"/>
            <a:ext cx="822960" cy="822960"/>
          </a:xfrm>
          <a:prstGeom prst="rect">
            <a:avLst/>
          </a:prstGeom>
          <a:noFill/>
          <a:ln/>
        </p:spPr>
        <p:txBody>
          <a:bodyPr wrap="square" lIns="0" tIns="0" rIns="0" bIns="0" rtlCol="0" anchor="ctr"/>
          <a:lstStyle/>
          <a:p>
            <a:pPr algn="ctr" indent="0" marL="0">
              <a:buNone/>
            </a:pPr>
            <a:r>
              <a:rPr lang="en-US" sz="3600" b="1" dirty="0">
                <a:solidFill>
                  <a:schemeClr val="bg1"/>
                </a:solidFill>
              </a:rPr>
              <a:t>−</a:t>
            </a:r>
            <a:endParaRPr lang="en-US" sz="3600" dirty="0"/>
          </a:p>
        </p:txBody>
      </p:sp>
      <p:sp>
        <p:nvSpPr>
          <p:cNvPr id="16" name="Text 14"/>
          <p:cNvSpPr txBox="1"/>
          <p:nvPr/>
        </p:nvSpPr>
        <p:spPr>
          <a:xfrm>
            <a:off x="6233008" y="2468880"/>
            <a:ext cx="2567864" cy="411480"/>
          </a:xfrm>
          <a:prstGeom prst="rect">
            <a:avLst/>
          </a:prstGeom>
          <a:noFill/>
          <a:ln/>
        </p:spPr>
        <p:txBody>
          <a:bodyPr wrap="square" lIns="0" tIns="0" rIns="0" bIns="0" rtlCol="0" anchor="ctr"/>
          <a:lstStyle/>
          <a:p>
            <a:pPr algn="ctr" indent="0" marL="0">
              <a:buNone/>
            </a:pPr>
            <a:r>
              <a:rPr lang="en-US" sz="2000" b="1" dirty="0">
                <a:solidFill>
                  <a:schemeClr val="accent2"/>
                </a:solidFill>
              </a:rPr>
              <a:t>PAGAR</a:t>
            </a:r>
            <a:endParaRPr lang="en-US" sz="2000" dirty="0"/>
          </a:p>
        </p:txBody>
      </p:sp>
      <p:sp>
        <p:nvSpPr>
          <p:cNvPr id="17" name="Text 15"/>
          <p:cNvSpPr txBox="1"/>
          <p:nvPr/>
        </p:nvSpPr>
        <p:spPr>
          <a:xfrm>
            <a:off x="6415888" y="2880360"/>
            <a:ext cx="2202104" cy="640080"/>
          </a:xfrm>
          <a:prstGeom prst="rect">
            <a:avLst/>
          </a:prstGeom>
          <a:noFill/>
          <a:ln/>
        </p:spPr>
        <p:txBody>
          <a:bodyPr wrap="square" lIns="0" tIns="0" rIns="0" bIns="0" rtlCol="0" anchor="ctr"/>
          <a:lstStyle/>
          <a:p>
            <a:pPr algn="ctr" indent="0" marL="0">
              <a:buNone/>
            </a:pPr>
            <a:r>
              <a:rPr lang="en-US" sz="1500" dirty="0">
                <a:solidFill>
                  <a:schemeClr val="tx2"/>
                </a:solidFill>
              </a:rPr>
              <a:t>Sale plata para pagar algo</a:t>
            </a:r>
            <a:endParaRPr lang="en-US" sz="1500" dirty="0"/>
          </a:p>
        </p:txBody>
      </p:sp>
      <p:sp>
        <p:nvSpPr>
          <p:cNvPr id="18" name="Shape 16"/>
          <p:cNvSpPr/>
          <p:nvPr/>
        </p:nvSpPr>
        <p:spPr>
          <a:xfrm>
            <a:off x="9075191" y="1325880"/>
            <a:ext cx="2567864" cy="2331720"/>
          </a:xfrm>
          <a:prstGeom prst="roundRect">
            <a:avLst>
              <a:gd name="adj" fmla="val 4706"/>
            </a:avLst>
          </a:prstGeom>
          <a:solidFill>
            <a:schemeClr val="bg2"/>
          </a:solidFill>
          <a:ln w="12700">
            <a:solidFill>
              <a:schemeClr val="bg2"/>
            </a:solidFill>
            <a:prstDash val="solid"/>
          </a:ln>
        </p:spPr>
      </p:sp>
      <p:sp>
        <p:nvSpPr>
          <p:cNvPr id="19" name="Shape 17"/>
          <p:cNvSpPr/>
          <p:nvPr/>
        </p:nvSpPr>
        <p:spPr>
          <a:xfrm>
            <a:off x="9947643" y="1508760"/>
            <a:ext cx="822960" cy="822960"/>
          </a:xfrm>
          <a:prstGeom prst="ellipse">
            <a:avLst/>
          </a:prstGeom>
          <a:solidFill>
            <a:schemeClr val="accent2"/>
          </a:solidFill>
          <a:ln w="12700">
            <a:solidFill>
              <a:schemeClr val="accent2"/>
            </a:solidFill>
            <a:prstDash val="solid"/>
          </a:ln>
        </p:spPr>
      </p:sp>
      <p:sp>
        <p:nvSpPr>
          <p:cNvPr id="20" name="Text 18"/>
          <p:cNvSpPr txBox="1"/>
          <p:nvPr/>
        </p:nvSpPr>
        <p:spPr>
          <a:xfrm>
            <a:off x="9947643" y="1508760"/>
            <a:ext cx="822960" cy="822960"/>
          </a:xfrm>
          <a:prstGeom prst="rect">
            <a:avLst/>
          </a:prstGeom>
          <a:noFill/>
          <a:ln/>
        </p:spPr>
        <p:txBody>
          <a:bodyPr wrap="square" lIns="0" tIns="0" rIns="0" bIns="0" rtlCol="0" anchor="ctr"/>
          <a:lstStyle/>
          <a:p>
            <a:pPr algn="ctr" indent="0" marL="0">
              <a:buNone/>
            </a:pPr>
            <a:r>
              <a:rPr lang="en-US" sz="3600" b="1" dirty="0">
                <a:solidFill>
                  <a:schemeClr val="bg1"/>
                </a:solidFill>
              </a:rPr>
              <a:t>−</a:t>
            </a:r>
            <a:endParaRPr lang="en-US" sz="3600" dirty="0"/>
          </a:p>
        </p:txBody>
      </p:sp>
      <p:sp>
        <p:nvSpPr>
          <p:cNvPr id="21" name="Text 19"/>
          <p:cNvSpPr txBox="1"/>
          <p:nvPr/>
        </p:nvSpPr>
        <p:spPr>
          <a:xfrm>
            <a:off x="9075191" y="2468880"/>
            <a:ext cx="2567864" cy="411480"/>
          </a:xfrm>
          <a:prstGeom prst="rect">
            <a:avLst/>
          </a:prstGeom>
          <a:noFill/>
          <a:ln/>
        </p:spPr>
        <p:txBody>
          <a:bodyPr wrap="square" lIns="0" tIns="0" rIns="0" bIns="0" rtlCol="0" anchor="ctr"/>
          <a:lstStyle/>
          <a:p>
            <a:pPr algn="ctr" indent="0" marL="0">
              <a:buNone/>
            </a:pPr>
            <a:r>
              <a:rPr lang="en-US" sz="2000" b="1" dirty="0">
                <a:solidFill>
                  <a:schemeClr val="accent2"/>
                </a:solidFill>
              </a:rPr>
              <a:t>TRANSFERIR</a:t>
            </a:r>
            <a:endParaRPr lang="en-US" sz="2000" dirty="0"/>
          </a:p>
        </p:txBody>
      </p:sp>
      <p:sp>
        <p:nvSpPr>
          <p:cNvPr id="22" name="Text 20"/>
          <p:cNvSpPr txBox="1"/>
          <p:nvPr/>
        </p:nvSpPr>
        <p:spPr>
          <a:xfrm>
            <a:off x="9258071" y="2880360"/>
            <a:ext cx="2202104" cy="640080"/>
          </a:xfrm>
          <a:prstGeom prst="rect">
            <a:avLst/>
          </a:prstGeom>
          <a:noFill/>
          <a:ln/>
        </p:spPr>
        <p:txBody>
          <a:bodyPr wrap="square" lIns="0" tIns="0" rIns="0" bIns="0" rtlCol="0" anchor="ctr"/>
          <a:lstStyle/>
          <a:p>
            <a:pPr algn="ctr" indent="0" marL="0">
              <a:buNone/>
            </a:pPr>
            <a:r>
              <a:rPr lang="en-US" sz="1500" dirty="0">
                <a:solidFill>
                  <a:schemeClr val="tx2"/>
                </a:solidFill>
              </a:rPr>
              <a:t>Sale plata hacia otra cuenta</a:t>
            </a:r>
            <a:endParaRPr lang="en-US" sz="1500" dirty="0"/>
          </a:p>
        </p:txBody>
      </p:sp>
      <p:sp>
        <p:nvSpPr>
          <p:cNvPr id="23" name="Shape 21"/>
          <p:cNvSpPr/>
          <p:nvPr/>
        </p:nvSpPr>
        <p:spPr>
          <a:xfrm>
            <a:off x="548640" y="3931920"/>
            <a:ext cx="11094415" cy="2148840"/>
          </a:xfrm>
          <a:prstGeom prst="roundRect">
            <a:avLst>
              <a:gd name="adj" fmla="val 5106"/>
            </a:avLst>
          </a:prstGeom>
          <a:solidFill>
            <a:schemeClr val="tx1"/>
          </a:solidFill>
          <a:ln w="12700">
            <a:solidFill>
              <a:schemeClr val="tx1"/>
            </a:solidFill>
            <a:prstDash val="solid"/>
          </a:ln>
        </p:spPr>
      </p:sp>
      <p:sp>
        <p:nvSpPr>
          <p:cNvPr id="24" name="Text 22"/>
          <p:cNvSpPr txBox="1"/>
          <p:nvPr/>
        </p:nvSpPr>
        <p:spPr>
          <a:xfrm>
            <a:off x="914400" y="4069080"/>
            <a:ext cx="8229600" cy="411480"/>
          </a:xfrm>
          <a:prstGeom prst="rect">
            <a:avLst/>
          </a:prstGeom>
          <a:noFill/>
          <a:ln/>
        </p:spPr>
        <p:txBody>
          <a:bodyPr wrap="square" lIns="0" tIns="0" rIns="0" bIns="0" rtlCol="0" anchor="ctr"/>
          <a:lstStyle/>
          <a:p>
            <a:pPr indent="0" marL="0">
              <a:buNone/>
            </a:pPr>
            <a:r>
              <a:rPr lang="en-US" sz="2000" b="1" dirty="0">
                <a:solidFill>
                  <a:schemeClr val="accent6"/>
                </a:solidFill>
              </a:rPr>
              <a:t>Lo que el cajero (la API) revisa siempre</a:t>
            </a:r>
            <a:endParaRPr lang="en-US" sz="2000" dirty="0"/>
          </a:p>
        </p:txBody>
      </p:sp>
      <p:sp>
        <p:nvSpPr>
          <p:cNvPr id="25" name="Text 23"/>
          <p:cNvSpPr txBox="1"/>
          <p:nvPr/>
        </p:nvSpPr>
        <p:spPr>
          <a:xfrm>
            <a:off x="914400" y="4526280"/>
            <a:ext cx="10362895" cy="1417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La cuenta empieza en $0 y nunca puede quedar en negativo: «Saldo insuficiente».</a:t>
            </a:r>
            <a:endParaRPr lang="en-US" sz="1800" dirty="0"/>
          </a:p>
          <a:p>
            <a:pPr marL="342900" indent="-342900">
              <a:spcAft>
                <a:spcPts val="800"/>
              </a:spcAft>
              <a:buSzPct val="100000"/>
              <a:buChar char="•"/>
            </a:pPr>
            <a:r>
              <a:rPr lang="en-US" sz="1800" dirty="0">
                <a:solidFill>
                  <a:schemeClr val="bg1"/>
                </a:solidFill>
              </a:rPr>
              <a:t>El monto tiene que ser mayor que cero.</a:t>
            </a:r>
            <a:endParaRPr lang="en-US" sz="1800" dirty="0"/>
          </a:p>
          <a:p>
            <a:pPr marL="342900" indent="-342900">
              <a:spcAft>
                <a:spcPts val="800"/>
              </a:spcAft>
              <a:buSzPct val="100000"/>
              <a:buChar char="•"/>
            </a:pPr>
            <a:r>
              <a:rPr lang="en-US" sz="1800" dirty="0">
                <a:solidFill>
                  <a:schemeClr val="bg1"/>
                </a:solidFill>
              </a:rPr>
              <a:t>No puede haber dos movimientos con el mismo código.</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El camino que hace cada operación</a:t>
            </a:r>
            <a:endParaRPr lang="en-US" sz="3400" dirty="0"/>
          </a:p>
        </p:txBody>
      </p:sp>
      <p:sp>
        <p:nvSpPr>
          <p:cNvPr id="3" name="Shape 1"/>
          <p:cNvSpPr/>
          <p:nvPr/>
        </p:nvSpPr>
        <p:spPr>
          <a:xfrm>
            <a:off x="548640" y="1463040"/>
            <a:ext cx="1965960" cy="3291840"/>
          </a:xfrm>
          <a:prstGeom prst="roundRect">
            <a:avLst>
              <a:gd name="adj" fmla="val 5581"/>
            </a:avLst>
          </a:prstGeom>
          <a:solidFill>
            <a:schemeClr val="bg2"/>
          </a:solidFill>
          <a:ln w="12700">
            <a:solidFill>
              <a:schemeClr val="bg2"/>
            </a:solidFill>
            <a:prstDash val="solid"/>
          </a:ln>
        </p:spPr>
      </p:sp>
      <p:sp>
        <p:nvSpPr>
          <p:cNvPr id="4" name="Shape 2"/>
          <p:cNvSpPr/>
          <p:nvPr/>
        </p:nvSpPr>
        <p:spPr>
          <a:xfrm>
            <a:off x="1074420" y="1691640"/>
            <a:ext cx="914400" cy="91440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1303020" y="1920240"/>
            <a:ext cx="457200" cy="457200"/>
          </a:xfrm>
          <a:prstGeom prst="rect">
            <a:avLst/>
          </a:prstGeom>
        </p:spPr>
      </p:pic>
      <p:sp>
        <p:nvSpPr>
          <p:cNvPr id="6" name="Text 3"/>
          <p:cNvSpPr txBox="1"/>
          <p:nvPr/>
        </p:nvSpPr>
        <p:spPr>
          <a:xfrm>
            <a:off x="548640" y="2743200"/>
            <a:ext cx="1965960" cy="411480"/>
          </a:xfrm>
          <a:prstGeom prst="rect">
            <a:avLst/>
          </a:prstGeom>
          <a:noFill/>
          <a:ln/>
        </p:spPr>
        <p:txBody>
          <a:bodyPr wrap="square" lIns="0" tIns="0" rIns="0" bIns="0" rtlCol="0" anchor="ctr"/>
          <a:lstStyle/>
          <a:p>
            <a:pPr algn="ctr" indent="0" marL="0">
              <a:buNone/>
            </a:pPr>
            <a:r>
              <a:rPr lang="en-US" sz="1900" b="1" dirty="0">
                <a:solidFill>
                  <a:schemeClr val="tx1"/>
                </a:solidFill>
              </a:rPr>
              <a:t>1. Clic</a:t>
            </a:r>
            <a:endParaRPr lang="en-US" sz="1900" dirty="0"/>
          </a:p>
        </p:txBody>
      </p:sp>
      <p:sp>
        <p:nvSpPr>
          <p:cNvPr id="7" name="Text 4"/>
          <p:cNvSpPr txBox="1"/>
          <p:nvPr/>
        </p:nvSpPr>
        <p:spPr>
          <a:xfrm>
            <a:off x="685800" y="3200400"/>
            <a:ext cx="1691640" cy="1280160"/>
          </a:xfrm>
          <a:prstGeom prst="rect">
            <a:avLst/>
          </a:prstGeom>
          <a:noFill/>
          <a:ln/>
        </p:spPr>
        <p:txBody>
          <a:bodyPr wrap="square" lIns="0" tIns="0" rIns="0" bIns="0" rtlCol="0" anchor="t"/>
          <a:lstStyle/>
          <a:p>
            <a:pPr algn="ctr" indent="0" marL="0">
              <a:buNone/>
            </a:pPr>
            <a:r>
              <a:rPr lang="en-US" sz="1500" dirty="0">
                <a:solidFill>
                  <a:schemeClr val="tx2"/>
                </a:solidFill>
              </a:rPr>
              <a:t>El usuario presiona «Registrar» en la pantalla</a:t>
            </a:r>
            <a:endParaRPr lang="en-US" sz="1500" dirty="0"/>
          </a:p>
        </p:txBody>
      </p:sp>
      <p:sp>
        <p:nvSpPr>
          <p:cNvPr id="8" name="Shape 5"/>
          <p:cNvSpPr/>
          <p:nvPr/>
        </p:nvSpPr>
        <p:spPr>
          <a:xfrm>
            <a:off x="2560320" y="2926080"/>
            <a:ext cx="224714" cy="320040"/>
          </a:xfrm>
          <a:prstGeom prst="rightArrow">
            <a:avLst/>
          </a:prstGeom>
          <a:solidFill>
            <a:schemeClr val="accent5"/>
          </a:solidFill>
          <a:ln w="12700">
            <a:solidFill>
              <a:schemeClr val="accent5"/>
            </a:solidFill>
            <a:prstDash val="solid"/>
          </a:ln>
        </p:spPr>
      </p:sp>
      <p:sp>
        <p:nvSpPr>
          <p:cNvPr id="9" name="Shape 6"/>
          <p:cNvSpPr/>
          <p:nvPr/>
        </p:nvSpPr>
        <p:spPr>
          <a:xfrm>
            <a:off x="2830754" y="1463040"/>
            <a:ext cx="1965960" cy="3291840"/>
          </a:xfrm>
          <a:prstGeom prst="roundRect">
            <a:avLst>
              <a:gd name="adj" fmla="val 5581"/>
            </a:avLst>
          </a:prstGeom>
          <a:solidFill>
            <a:schemeClr val="bg2"/>
          </a:solidFill>
          <a:ln w="12700">
            <a:solidFill>
              <a:schemeClr val="bg2"/>
            </a:solidFill>
            <a:prstDash val="solid"/>
          </a:ln>
        </p:spPr>
      </p:sp>
      <p:sp>
        <p:nvSpPr>
          <p:cNvPr id="10" name="Shape 7"/>
          <p:cNvSpPr/>
          <p:nvPr/>
        </p:nvSpPr>
        <p:spPr>
          <a:xfrm>
            <a:off x="3356534" y="1691640"/>
            <a:ext cx="914400" cy="9144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585134" y="1920240"/>
            <a:ext cx="457200" cy="457200"/>
          </a:xfrm>
          <a:prstGeom prst="rect">
            <a:avLst/>
          </a:prstGeom>
        </p:spPr>
      </p:pic>
      <p:sp>
        <p:nvSpPr>
          <p:cNvPr id="12" name="Text 8"/>
          <p:cNvSpPr txBox="1"/>
          <p:nvPr/>
        </p:nvSpPr>
        <p:spPr>
          <a:xfrm>
            <a:off x="2830754" y="2743200"/>
            <a:ext cx="1965960" cy="411480"/>
          </a:xfrm>
          <a:prstGeom prst="rect">
            <a:avLst/>
          </a:prstGeom>
          <a:noFill/>
          <a:ln/>
        </p:spPr>
        <p:txBody>
          <a:bodyPr wrap="square" lIns="0" tIns="0" rIns="0" bIns="0" rtlCol="0" anchor="ctr"/>
          <a:lstStyle/>
          <a:p>
            <a:pPr algn="ctr" indent="0" marL="0">
              <a:buNone/>
            </a:pPr>
            <a:r>
              <a:rPr lang="en-US" sz="1900" b="1" dirty="0">
                <a:solidFill>
                  <a:schemeClr val="tx1"/>
                </a:solidFill>
              </a:rPr>
              <a:t>2. routes</a:t>
            </a:r>
            <a:endParaRPr lang="en-US" sz="1900" dirty="0"/>
          </a:p>
        </p:txBody>
      </p:sp>
      <p:sp>
        <p:nvSpPr>
          <p:cNvPr id="13" name="Text 9"/>
          <p:cNvSpPr txBox="1"/>
          <p:nvPr/>
        </p:nvSpPr>
        <p:spPr>
          <a:xfrm>
            <a:off x="2967914" y="3200400"/>
            <a:ext cx="1691640" cy="1280160"/>
          </a:xfrm>
          <a:prstGeom prst="rect">
            <a:avLst/>
          </a:prstGeom>
          <a:noFill/>
          <a:ln/>
        </p:spPr>
        <p:txBody>
          <a:bodyPr wrap="square" lIns="0" tIns="0" rIns="0" bIns="0" rtlCol="0" anchor="t"/>
          <a:lstStyle/>
          <a:p>
            <a:pPr algn="ctr" indent="0" marL="0">
              <a:buNone/>
            </a:pPr>
            <a:r>
              <a:rPr lang="en-US" sz="1500" dirty="0">
                <a:solidFill>
                  <a:schemeClr val="tx2"/>
                </a:solidFill>
              </a:rPr>
              <a:t>La puerta: recibe el pedido</a:t>
            </a:r>
            <a:endParaRPr lang="en-US" sz="1500" dirty="0"/>
          </a:p>
        </p:txBody>
      </p:sp>
      <p:sp>
        <p:nvSpPr>
          <p:cNvPr id="14" name="Shape 10"/>
          <p:cNvSpPr/>
          <p:nvPr/>
        </p:nvSpPr>
        <p:spPr>
          <a:xfrm>
            <a:off x="4842434" y="2926080"/>
            <a:ext cx="224714" cy="320040"/>
          </a:xfrm>
          <a:prstGeom prst="rightArrow">
            <a:avLst/>
          </a:prstGeom>
          <a:solidFill>
            <a:schemeClr val="accent5"/>
          </a:solidFill>
          <a:ln w="12700">
            <a:solidFill>
              <a:schemeClr val="accent5"/>
            </a:solidFill>
            <a:prstDash val="solid"/>
          </a:ln>
        </p:spPr>
      </p:sp>
      <p:sp>
        <p:nvSpPr>
          <p:cNvPr id="15" name="Shape 11"/>
          <p:cNvSpPr/>
          <p:nvPr/>
        </p:nvSpPr>
        <p:spPr>
          <a:xfrm>
            <a:off x="5112868" y="1463040"/>
            <a:ext cx="1965960" cy="3291840"/>
          </a:xfrm>
          <a:prstGeom prst="roundRect">
            <a:avLst>
              <a:gd name="adj" fmla="val 5581"/>
            </a:avLst>
          </a:prstGeom>
          <a:solidFill>
            <a:schemeClr val="bg2"/>
          </a:solidFill>
          <a:ln w="12700">
            <a:solidFill>
              <a:schemeClr val="bg2"/>
            </a:solidFill>
            <a:prstDash val="solid"/>
          </a:ln>
        </p:spPr>
      </p:sp>
      <p:sp>
        <p:nvSpPr>
          <p:cNvPr id="16" name="Shape 12"/>
          <p:cNvSpPr/>
          <p:nvPr/>
        </p:nvSpPr>
        <p:spPr>
          <a:xfrm>
            <a:off x="5638648" y="1691640"/>
            <a:ext cx="914400" cy="91440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5867248" y="1920240"/>
            <a:ext cx="457200" cy="457200"/>
          </a:xfrm>
          <a:prstGeom prst="rect">
            <a:avLst/>
          </a:prstGeom>
        </p:spPr>
      </p:pic>
      <p:sp>
        <p:nvSpPr>
          <p:cNvPr id="18" name="Text 13"/>
          <p:cNvSpPr txBox="1"/>
          <p:nvPr/>
        </p:nvSpPr>
        <p:spPr>
          <a:xfrm>
            <a:off x="5112868" y="2743200"/>
            <a:ext cx="1965960" cy="411480"/>
          </a:xfrm>
          <a:prstGeom prst="rect">
            <a:avLst/>
          </a:prstGeom>
          <a:noFill/>
          <a:ln/>
        </p:spPr>
        <p:txBody>
          <a:bodyPr wrap="square" lIns="0" tIns="0" rIns="0" bIns="0" rtlCol="0" anchor="ctr"/>
          <a:lstStyle/>
          <a:p>
            <a:pPr algn="ctr" indent="0" marL="0">
              <a:buNone/>
            </a:pPr>
            <a:r>
              <a:rPr lang="en-US" sz="1900" b="1" dirty="0">
                <a:solidFill>
                  <a:schemeClr val="tx1"/>
                </a:solidFill>
              </a:rPr>
              <a:t>3. controller</a:t>
            </a:r>
            <a:endParaRPr lang="en-US" sz="1900" dirty="0"/>
          </a:p>
        </p:txBody>
      </p:sp>
      <p:sp>
        <p:nvSpPr>
          <p:cNvPr id="19" name="Text 14"/>
          <p:cNvSpPr txBox="1"/>
          <p:nvPr/>
        </p:nvSpPr>
        <p:spPr>
          <a:xfrm>
            <a:off x="5250028" y="3200400"/>
            <a:ext cx="1691640" cy="1280160"/>
          </a:xfrm>
          <a:prstGeom prst="rect">
            <a:avLst/>
          </a:prstGeom>
          <a:noFill/>
          <a:ln/>
        </p:spPr>
        <p:txBody>
          <a:bodyPr wrap="square" lIns="0" tIns="0" rIns="0" bIns="0" rtlCol="0" anchor="t"/>
          <a:lstStyle/>
          <a:p>
            <a:pPr algn="ctr" indent="0" marL="0">
              <a:buNone/>
            </a:pPr>
            <a:r>
              <a:rPr lang="en-US" sz="1500" dirty="0">
                <a:solidFill>
                  <a:schemeClr val="tx2"/>
                </a:solidFill>
              </a:rPr>
              <a:t>El cajero: revisa las reglas</a:t>
            </a:r>
            <a:endParaRPr lang="en-US" sz="1500" dirty="0"/>
          </a:p>
        </p:txBody>
      </p:sp>
      <p:sp>
        <p:nvSpPr>
          <p:cNvPr id="20" name="Shape 15"/>
          <p:cNvSpPr/>
          <p:nvPr/>
        </p:nvSpPr>
        <p:spPr>
          <a:xfrm>
            <a:off x="7124548" y="2926080"/>
            <a:ext cx="224714" cy="320040"/>
          </a:xfrm>
          <a:prstGeom prst="rightArrow">
            <a:avLst/>
          </a:prstGeom>
          <a:solidFill>
            <a:schemeClr val="accent5"/>
          </a:solidFill>
          <a:ln w="12700">
            <a:solidFill>
              <a:schemeClr val="accent5"/>
            </a:solidFill>
            <a:prstDash val="solid"/>
          </a:ln>
        </p:spPr>
      </p:sp>
      <p:sp>
        <p:nvSpPr>
          <p:cNvPr id="21" name="Shape 16"/>
          <p:cNvSpPr/>
          <p:nvPr/>
        </p:nvSpPr>
        <p:spPr>
          <a:xfrm>
            <a:off x="7394981" y="1463040"/>
            <a:ext cx="1965960" cy="3291840"/>
          </a:xfrm>
          <a:prstGeom prst="roundRect">
            <a:avLst>
              <a:gd name="adj" fmla="val 5581"/>
            </a:avLst>
          </a:prstGeom>
          <a:solidFill>
            <a:schemeClr val="bg2"/>
          </a:solidFill>
          <a:ln w="12700">
            <a:solidFill>
              <a:schemeClr val="bg2"/>
            </a:solidFill>
            <a:prstDash val="solid"/>
          </a:ln>
        </p:spPr>
      </p:sp>
      <p:sp>
        <p:nvSpPr>
          <p:cNvPr id="22" name="Shape 17"/>
          <p:cNvSpPr/>
          <p:nvPr/>
        </p:nvSpPr>
        <p:spPr>
          <a:xfrm>
            <a:off x="7920761" y="1691640"/>
            <a:ext cx="914400" cy="914400"/>
          </a:xfrm>
          <a:prstGeom prst="ellipse">
            <a:avLst/>
          </a:prstGeom>
          <a:solidFill>
            <a:schemeClr val="tx1"/>
          </a:solidFill>
          <a:ln w="12700">
            <a:solidFill>
              <a:schemeClr val="tx1"/>
            </a:solidFill>
            <a:prstDash val="solid"/>
          </a:ln>
        </p:spPr>
      </p:sp>
      <p:pic>
        <p:nvPicPr>
          <p:cNvPr id="23" name="Image 3" descr="preencoded.png">    </p:cNvPr>
          <p:cNvPicPr>
            <a:picLocks noChangeAspect="1"/>
          </p:cNvPicPr>
          <p:nvPr/>
        </p:nvPicPr>
        <p:blipFill>
          <a:blip r:embed="rId4"/>
          <a:stretch>
            <a:fillRect/>
          </a:stretch>
        </p:blipFill>
        <p:spPr>
          <a:xfrm>
            <a:off x="8149361" y="1920240"/>
            <a:ext cx="457200" cy="457200"/>
          </a:xfrm>
          <a:prstGeom prst="rect">
            <a:avLst/>
          </a:prstGeom>
        </p:spPr>
      </p:pic>
      <p:sp>
        <p:nvSpPr>
          <p:cNvPr id="24" name="Text 18"/>
          <p:cNvSpPr txBox="1"/>
          <p:nvPr/>
        </p:nvSpPr>
        <p:spPr>
          <a:xfrm>
            <a:off x="7394981" y="2743200"/>
            <a:ext cx="1965960" cy="411480"/>
          </a:xfrm>
          <a:prstGeom prst="rect">
            <a:avLst/>
          </a:prstGeom>
          <a:noFill/>
          <a:ln/>
        </p:spPr>
        <p:txBody>
          <a:bodyPr wrap="square" lIns="0" tIns="0" rIns="0" bIns="0" rtlCol="0" anchor="ctr"/>
          <a:lstStyle/>
          <a:p>
            <a:pPr algn="ctr" indent="0" marL="0">
              <a:buNone/>
            </a:pPr>
            <a:r>
              <a:rPr lang="en-US" sz="1900" b="1" dirty="0">
                <a:solidFill>
                  <a:schemeClr val="tx1"/>
                </a:solidFill>
              </a:rPr>
              <a:t>4. model</a:t>
            </a:r>
            <a:endParaRPr lang="en-US" sz="1900" dirty="0"/>
          </a:p>
        </p:txBody>
      </p:sp>
      <p:sp>
        <p:nvSpPr>
          <p:cNvPr id="25" name="Text 19"/>
          <p:cNvSpPr txBox="1"/>
          <p:nvPr/>
        </p:nvSpPr>
        <p:spPr>
          <a:xfrm>
            <a:off x="7532141" y="3200400"/>
            <a:ext cx="1691640" cy="1280160"/>
          </a:xfrm>
          <a:prstGeom prst="rect">
            <a:avLst/>
          </a:prstGeom>
          <a:noFill/>
          <a:ln/>
        </p:spPr>
        <p:txBody>
          <a:bodyPr wrap="square" lIns="0" tIns="0" rIns="0" bIns="0" rtlCol="0" anchor="t"/>
          <a:lstStyle/>
          <a:p>
            <a:pPr algn="ctr" indent="0" marL="0">
              <a:buNone/>
            </a:pPr>
            <a:r>
              <a:rPr lang="en-US" sz="1500" dirty="0">
                <a:solidFill>
                  <a:schemeClr val="tx2"/>
                </a:solidFill>
              </a:rPr>
              <a:t>Guarda o lee en la base de datos (MySQL)</a:t>
            </a:r>
            <a:endParaRPr lang="en-US" sz="1500" dirty="0"/>
          </a:p>
        </p:txBody>
      </p:sp>
      <p:sp>
        <p:nvSpPr>
          <p:cNvPr id="26" name="Shape 20"/>
          <p:cNvSpPr/>
          <p:nvPr/>
        </p:nvSpPr>
        <p:spPr>
          <a:xfrm>
            <a:off x="9406661" y="2926080"/>
            <a:ext cx="224714" cy="320040"/>
          </a:xfrm>
          <a:prstGeom prst="rightArrow">
            <a:avLst/>
          </a:prstGeom>
          <a:solidFill>
            <a:schemeClr val="accent5"/>
          </a:solidFill>
          <a:ln w="12700">
            <a:solidFill>
              <a:schemeClr val="accent5"/>
            </a:solidFill>
            <a:prstDash val="solid"/>
          </a:ln>
        </p:spPr>
      </p:sp>
      <p:sp>
        <p:nvSpPr>
          <p:cNvPr id="27" name="Shape 21"/>
          <p:cNvSpPr/>
          <p:nvPr/>
        </p:nvSpPr>
        <p:spPr>
          <a:xfrm>
            <a:off x="9677095" y="1463040"/>
            <a:ext cx="1965960" cy="3291840"/>
          </a:xfrm>
          <a:prstGeom prst="roundRect">
            <a:avLst>
              <a:gd name="adj" fmla="val 5581"/>
            </a:avLst>
          </a:prstGeom>
          <a:solidFill>
            <a:schemeClr val="bg2"/>
          </a:solidFill>
          <a:ln w="12700">
            <a:solidFill>
              <a:schemeClr val="bg2"/>
            </a:solidFill>
            <a:prstDash val="solid"/>
          </a:ln>
        </p:spPr>
      </p:sp>
      <p:sp>
        <p:nvSpPr>
          <p:cNvPr id="28" name="Shape 22"/>
          <p:cNvSpPr/>
          <p:nvPr/>
        </p:nvSpPr>
        <p:spPr>
          <a:xfrm>
            <a:off x="10202875" y="1691640"/>
            <a:ext cx="914400" cy="914400"/>
          </a:xfrm>
          <a:prstGeom prst="ellipse">
            <a:avLst/>
          </a:prstGeom>
          <a:solidFill>
            <a:schemeClr val="accent3"/>
          </a:solidFill>
          <a:ln w="12700">
            <a:solidFill>
              <a:schemeClr val="accent3"/>
            </a:solidFill>
            <a:prstDash val="solid"/>
          </a:ln>
        </p:spPr>
      </p:sp>
      <p:pic>
        <p:nvPicPr>
          <p:cNvPr id="29" name="Image 4" descr="preencoded.png">    </p:cNvPr>
          <p:cNvPicPr>
            <a:picLocks noChangeAspect="1"/>
          </p:cNvPicPr>
          <p:nvPr/>
        </p:nvPicPr>
        <p:blipFill>
          <a:blip r:embed="rId5"/>
          <a:stretch>
            <a:fillRect/>
          </a:stretch>
        </p:blipFill>
        <p:spPr>
          <a:xfrm>
            <a:off x="10431475" y="1920240"/>
            <a:ext cx="457200" cy="457200"/>
          </a:xfrm>
          <a:prstGeom prst="rect">
            <a:avLst/>
          </a:prstGeom>
        </p:spPr>
      </p:pic>
      <p:sp>
        <p:nvSpPr>
          <p:cNvPr id="30" name="Text 23"/>
          <p:cNvSpPr txBox="1"/>
          <p:nvPr/>
        </p:nvSpPr>
        <p:spPr>
          <a:xfrm>
            <a:off x="9677095" y="2743200"/>
            <a:ext cx="1965960" cy="411480"/>
          </a:xfrm>
          <a:prstGeom prst="rect">
            <a:avLst/>
          </a:prstGeom>
          <a:noFill/>
          <a:ln/>
        </p:spPr>
        <p:txBody>
          <a:bodyPr wrap="square" lIns="0" tIns="0" rIns="0" bIns="0" rtlCol="0" anchor="ctr"/>
          <a:lstStyle/>
          <a:p>
            <a:pPr algn="ctr" indent="0" marL="0">
              <a:buNone/>
            </a:pPr>
            <a:r>
              <a:rPr lang="en-US" sz="1900" b="1" dirty="0">
                <a:solidFill>
                  <a:schemeClr val="tx1"/>
                </a:solidFill>
              </a:rPr>
              <a:t>5. Respuesta</a:t>
            </a:r>
            <a:endParaRPr lang="en-US" sz="1900" dirty="0"/>
          </a:p>
        </p:txBody>
      </p:sp>
      <p:sp>
        <p:nvSpPr>
          <p:cNvPr id="31" name="Text 24"/>
          <p:cNvSpPr txBox="1"/>
          <p:nvPr/>
        </p:nvSpPr>
        <p:spPr>
          <a:xfrm>
            <a:off x="9814255" y="3200400"/>
            <a:ext cx="1691640" cy="1280160"/>
          </a:xfrm>
          <a:prstGeom prst="rect">
            <a:avLst/>
          </a:prstGeom>
          <a:noFill/>
          <a:ln/>
        </p:spPr>
        <p:txBody>
          <a:bodyPr wrap="square" lIns="0" tIns="0" rIns="0" bIns="0" rtlCol="0" anchor="t"/>
          <a:lstStyle/>
          <a:p>
            <a:pPr algn="ctr" indent="0" marL="0">
              <a:buNone/>
            </a:pPr>
            <a:r>
              <a:rPr lang="en-US" sz="1500" dirty="0">
                <a:solidFill>
                  <a:schemeClr val="tx2"/>
                </a:solidFill>
              </a:rPr>
              <a:t>La pantalla muestra el saldo nuevo</a:t>
            </a:r>
            <a:endParaRPr lang="en-US" sz="1500" dirty="0"/>
          </a:p>
        </p:txBody>
      </p:sp>
      <p:sp>
        <p:nvSpPr>
          <p:cNvPr id="32" name="Shape 25"/>
          <p:cNvSpPr/>
          <p:nvPr/>
        </p:nvSpPr>
        <p:spPr>
          <a:xfrm>
            <a:off x="548640" y="5074920"/>
            <a:ext cx="11094415" cy="1051560"/>
          </a:xfrm>
          <a:prstGeom prst="roundRect">
            <a:avLst>
              <a:gd name="adj" fmla="val 10435"/>
            </a:avLst>
          </a:prstGeom>
          <a:solidFill>
            <a:schemeClr val="bg2"/>
          </a:solidFill>
          <a:ln w="12700">
            <a:solidFill>
              <a:schemeClr val="bg2"/>
            </a:solidFill>
            <a:prstDash val="solid"/>
          </a:ln>
        </p:spPr>
      </p:sp>
      <p:sp>
        <p:nvSpPr>
          <p:cNvPr id="33" name="Text 26"/>
          <p:cNvSpPr txBox="1"/>
          <p:nvPr/>
        </p:nvSpPr>
        <p:spPr>
          <a:xfrm>
            <a:off x="822960" y="5120640"/>
            <a:ext cx="10545775" cy="960120"/>
          </a:xfrm>
          <a:prstGeom prst="rect">
            <a:avLst/>
          </a:prstGeom>
          <a:noFill/>
          <a:ln/>
        </p:spPr>
        <p:txBody>
          <a:bodyPr wrap="square" lIns="0" tIns="0" rIns="0" bIns="0" rtlCol="0" anchor="ctr"/>
          <a:lstStyle/>
          <a:p>
            <a:pPr indent="0" marL="0">
              <a:buNone/>
            </a:pPr>
            <a:r>
              <a:rPr lang="en-US" sz="1700" dirty="0">
                <a:solidFill>
                  <a:schemeClr val="tx2"/>
                </a:solidFill>
              </a:rPr>
              <a:t>Las carpetas del backend son esas tres capas: </a:t>
            </a:r>
            <a:pPr indent="0" marL="0">
              <a:buNone/>
            </a:pPr>
            <a:r>
              <a:rPr lang="en-US" sz="1700" b="1" dirty="0">
                <a:solidFill>
                  <a:schemeClr val="tx1"/>
                </a:solidFill>
                <a:latin typeface="Courier New" pitchFamily="34" charset="0"/>
                <a:ea typeface="Courier New" pitchFamily="34" charset="-122"/>
                <a:cs typeface="Courier New" pitchFamily="34" charset="-120"/>
              </a:rPr>
              <a:t>routes/  →  controllers/  →  models/</a:t>
            </a:r>
            <a:pPr indent="0" marL="0">
              <a:buNone/>
            </a:pPr>
            <a:r>
              <a:rPr lang="en-US" sz="1700" dirty="0">
                <a:solidFill>
                  <a:schemeClr val="tx2"/>
                </a:solidFill>
              </a:rPr>
              <a:t>. Cada una hace una sola cosa.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La pantalla por dentro: dos archivos del frontend</a:t>
            </a:r>
            <a:endParaRPr lang="en-US" sz="3400" dirty="0"/>
          </a:p>
        </p:txBody>
      </p:sp>
      <p:sp>
        <p:nvSpPr>
          <p:cNvPr id="3" name="Shape 1"/>
          <p:cNvSpPr/>
          <p:nvPr/>
        </p:nvSpPr>
        <p:spPr>
          <a:xfrm>
            <a:off x="548640" y="1188720"/>
            <a:ext cx="5364328" cy="4937760"/>
          </a:xfrm>
          <a:prstGeom prst="roundRect">
            <a:avLst>
              <a:gd name="adj" fmla="val 2222"/>
            </a:avLst>
          </a:prstGeom>
          <a:solidFill>
            <a:schemeClr val="bg2"/>
          </a:solidFill>
          <a:ln w="12700">
            <a:solidFill>
              <a:schemeClr val="bg2"/>
            </a:solidFill>
            <a:prstDash val="solid"/>
          </a:ln>
        </p:spPr>
      </p:sp>
      <p:sp>
        <p:nvSpPr>
          <p:cNvPr id="4" name="Text 2"/>
          <p:cNvSpPr txBox="1"/>
          <p:nvPr/>
        </p:nvSpPr>
        <p:spPr>
          <a:xfrm>
            <a:off x="822960" y="1325880"/>
            <a:ext cx="4815688" cy="365760"/>
          </a:xfrm>
          <a:prstGeom prst="rect">
            <a:avLst/>
          </a:prstGeom>
          <a:noFill/>
          <a:ln/>
        </p:spPr>
        <p:txBody>
          <a:bodyPr wrap="square" lIns="0" tIns="0" rIns="0" bIns="0" rtlCol="0" anchor="ctr"/>
          <a:lstStyle/>
          <a:p>
            <a:pPr indent="0" marL="0">
              <a:buNone/>
            </a:pPr>
            <a:r>
              <a:rPr lang="en-US" sz="1700" b="1" dirty="0">
                <a:solidFill>
                  <a:schemeClr val="accent3"/>
                </a:solidFill>
                <a:latin typeface="Courier New" pitchFamily="34" charset="0"/>
                <a:ea typeface="Courier New" pitchFamily="34" charset="-122"/>
                <a:cs typeface="Courier New" pitchFamily="34" charset="-120"/>
              </a:rPr>
              <a:t>pages/Transacciones.jsx</a:t>
            </a:r>
            <a:endParaRPr lang="en-US" sz="1700" dirty="0"/>
          </a:p>
        </p:txBody>
      </p:sp>
      <p:sp>
        <p:nvSpPr>
          <p:cNvPr id="5" name="Text 3"/>
          <p:cNvSpPr txBox="1"/>
          <p:nvPr/>
        </p:nvSpPr>
        <p:spPr>
          <a:xfrm>
            <a:off x="822960" y="1691640"/>
            <a:ext cx="4815688" cy="320040"/>
          </a:xfrm>
          <a:prstGeom prst="rect">
            <a:avLst/>
          </a:prstGeom>
          <a:noFill/>
          <a:ln/>
        </p:spPr>
        <p:txBody>
          <a:bodyPr wrap="square" lIns="0" tIns="0" rIns="0" bIns="0" rtlCol="0" anchor="ctr"/>
          <a:lstStyle/>
          <a:p>
            <a:pPr indent="0" marL="0">
              <a:buNone/>
            </a:pPr>
            <a:r>
              <a:rPr lang="en-US" sz="1500" b="1" dirty="0">
                <a:solidFill>
                  <a:schemeClr val="tx1"/>
                </a:solidFill>
              </a:rPr>
              <a:t>Lo que el usuario ve y toca</a:t>
            </a:r>
            <a:endParaRPr lang="en-US" sz="1500" dirty="0"/>
          </a:p>
        </p:txBody>
      </p:sp>
      <p:sp>
        <p:nvSpPr>
          <p:cNvPr id="6" name="Shape 4"/>
          <p:cNvSpPr/>
          <p:nvPr/>
        </p:nvSpPr>
        <p:spPr>
          <a:xfrm>
            <a:off x="777240" y="2103120"/>
            <a:ext cx="4907128" cy="2606040"/>
          </a:xfrm>
          <a:prstGeom prst="roundRect">
            <a:avLst>
              <a:gd name="adj" fmla="val 4211"/>
            </a:avLst>
          </a:prstGeom>
          <a:solidFill>
            <a:srgbClr val="10261C"/>
          </a:solidFill>
          <a:ln w="12700">
            <a:solidFill>
              <a:srgbClr val="10261C"/>
            </a:solidFill>
            <a:prstDash val="solid"/>
          </a:ln>
        </p:spPr>
      </p:sp>
      <p:sp>
        <p:nvSpPr>
          <p:cNvPr id="7" name="Text 5"/>
          <p:cNvSpPr txBox="1"/>
          <p:nvPr/>
        </p:nvSpPr>
        <p:spPr>
          <a:xfrm>
            <a:off x="914400" y="2240280"/>
            <a:ext cx="4678528" cy="2377440"/>
          </a:xfrm>
          <a:prstGeom prst="rect">
            <a:avLst/>
          </a:prstGeom>
          <a:noFill/>
          <a:ln/>
        </p:spPr>
        <p:txBody>
          <a:bodyPr wrap="square" lIns="0" tIns="0" rIns="0" bIns="0" rtlCol="0" anchor="t"/>
          <a:lstStyle/>
          <a:p>
            <a:pPr indent="0" marL="0">
              <a:buNone/>
            </a:pPr>
            <a:r>
              <a:rPr lang="en-US" sz="1200" b="1" dirty="0">
                <a:solidFill>
                  <a:srgbClr val="F2C14E"/>
                </a:solidFill>
                <a:latin typeface="Courier New" pitchFamily="34" charset="0"/>
                <a:ea typeface="Courier New" pitchFamily="34" charset="-122"/>
                <a:cs typeface="Courier New" pitchFamily="34" charset="-120"/>
              </a:rPr>
              <a:t>// guarda lo que el usuario escribe</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const [formulario, setFormulario] =</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useState({ codigo: "", tipo: "CONSIGNAR",</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monto: "" });</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rgbClr val="F2C14E"/>
                </a:solidFill>
                <a:latin typeface="Courier New" pitchFamily="34" charset="0"/>
                <a:ea typeface="Courier New" pitchFamily="34" charset="-122"/>
                <a:cs typeface="Courier New" pitchFamily="34" charset="-120"/>
              </a:rPr>
              <a:t>// el formulario y su botón</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&lt;form onSubmit={enviarFormulario}&gt;</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&lt;input name="codigo" ... /&gt;</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&lt;select name="tipo"&gt; ... &lt;/select&gt;</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&lt;input name="monto" type="number" /&gt;</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&lt;button&gt;Registrar transacción&lt;/button&gt;</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&lt;/form&gt;</a:t>
            </a:r>
            <a:endParaRPr lang="en-US" sz="1200" dirty="0"/>
          </a:p>
        </p:txBody>
      </p:sp>
      <p:sp>
        <p:nvSpPr>
          <p:cNvPr id="8" name="Text 6"/>
          <p:cNvSpPr txBox="1"/>
          <p:nvPr/>
        </p:nvSpPr>
        <p:spPr>
          <a:xfrm>
            <a:off x="822960" y="4846320"/>
            <a:ext cx="4815688" cy="1143000"/>
          </a:xfrm>
          <a:prstGeom prst="rect">
            <a:avLst/>
          </a:prstGeom>
          <a:noFill/>
          <a:ln/>
        </p:spPr>
        <p:txBody>
          <a:bodyPr wrap="square" lIns="0" tIns="0" rIns="0" bIns="0" rtlCol="0" anchor="t"/>
          <a:lstStyle/>
          <a:p>
            <a:pPr indent="0" marL="0">
              <a:buNone/>
            </a:pPr>
            <a:r>
              <a:rPr lang="en-US" sz="1400" dirty="0">
                <a:solidFill>
                  <a:schemeClr val="tx2"/>
                </a:solidFill>
              </a:rPr>
              <a:t>Dibuja el saldo, el formulario y la tabla. Con useState recuerda lo que el usuario va escribiendo. Al presionar el botón llama a enviarFormulario.</a:t>
            </a:r>
            <a:endParaRPr lang="en-US" sz="1400" dirty="0"/>
          </a:p>
        </p:txBody>
      </p:sp>
      <p:sp>
        <p:nvSpPr>
          <p:cNvPr id="9" name="Shape 7"/>
          <p:cNvSpPr/>
          <p:nvPr/>
        </p:nvSpPr>
        <p:spPr>
          <a:xfrm>
            <a:off x="6278728" y="1188720"/>
            <a:ext cx="5364328" cy="4937760"/>
          </a:xfrm>
          <a:prstGeom prst="roundRect">
            <a:avLst>
              <a:gd name="adj" fmla="val 2222"/>
            </a:avLst>
          </a:prstGeom>
          <a:solidFill>
            <a:schemeClr val="bg2"/>
          </a:solidFill>
          <a:ln w="12700">
            <a:solidFill>
              <a:schemeClr val="bg2"/>
            </a:solidFill>
            <a:prstDash val="solid"/>
          </a:ln>
        </p:spPr>
      </p:sp>
      <p:sp>
        <p:nvSpPr>
          <p:cNvPr id="10" name="Text 8"/>
          <p:cNvSpPr txBox="1"/>
          <p:nvPr/>
        </p:nvSpPr>
        <p:spPr>
          <a:xfrm>
            <a:off x="6553048" y="1325880"/>
            <a:ext cx="4815688" cy="365760"/>
          </a:xfrm>
          <a:prstGeom prst="rect">
            <a:avLst/>
          </a:prstGeom>
          <a:noFill/>
          <a:ln/>
        </p:spPr>
        <p:txBody>
          <a:bodyPr wrap="square" lIns="0" tIns="0" rIns="0" bIns="0" rtlCol="0" anchor="ctr"/>
          <a:lstStyle/>
          <a:p>
            <a:pPr indent="0" marL="0">
              <a:buNone/>
            </a:pPr>
            <a:r>
              <a:rPr lang="en-US" sz="1700" b="1" dirty="0">
                <a:solidFill>
                  <a:schemeClr val="accent1"/>
                </a:solidFill>
                <a:latin typeface="Courier New" pitchFamily="34" charset="0"/>
                <a:ea typeface="Courier New" pitchFamily="34" charset="-122"/>
                <a:cs typeface="Courier New" pitchFamily="34" charset="-120"/>
              </a:rPr>
              <a:t>api/transacciones.js</a:t>
            </a:r>
            <a:endParaRPr lang="en-US" sz="1700" dirty="0"/>
          </a:p>
        </p:txBody>
      </p:sp>
      <p:sp>
        <p:nvSpPr>
          <p:cNvPr id="11" name="Text 9"/>
          <p:cNvSpPr txBox="1"/>
          <p:nvPr/>
        </p:nvSpPr>
        <p:spPr>
          <a:xfrm>
            <a:off x="6553048" y="1691640"/>
            <a:ext cx="4815688" cy="320040"/>
          </a:xfrm>
          <a:prstGeom prst="rect">
            <a:avLst/>
          </a:prstGeom>
          <a:noFill/>
          <a:ln/>
        </p:spPr>
        <p:txBody>
          <a:bodyPr wrap="square" lIns="0" tIns="0" rIns="0" bIns="0" rtlCol="0" anchor="ctr"/>
          <a:lstStyle/>
          <a:p>
            <a:pPr indent="0" marL="0">
              <a:buNone/>
            </a:pPr>
            <a:r>
              <a:rPr lang="en-US" sz="1500" b="1" dirty="0">
                <a:solidFill>
                  <a:schemeClr val="tx1"/>
                </a:solidFill>
              </a:rPr>
              <a:t>El mensajero: habla con el backend</a:t>
            </a:r>
            <a:endParaRPr lang="en-US" sz="1500" dirty="0"/>
          </a:p>
        </p:txBody>
      </p:sp>
      <p:sp>
        <p:nvSpPr>
          <p:cNvPr id="12" name="Shape 10"/>
          <p:cNvSpPr/>
          <p:nvPr/>
        </p:nvSpPr>
        <p:spPr>
          <a:xfrm>
            <a:off x="6507328" y="2103120"/>
            <a:ext cx="4907128" cy="2606040"/>
          </a:xfrm>
          <a:prstGeom prst="roundRect">
            <a:avLst>
              <a:gd name="adj" fmla="val 4211"/>
            </a:avLst>
          </a:prstGeom>
          <a:solidFill>
            <a:srgbClr val="10261C"/>
          </a:solidFill>
          <a:ln w="12700">
            <a:solidFill>
              <a:srgbClr val="10261C"/>
            </a:solidFill>
            <a:prstDash val="solid"/>
          </a:ln>
        </p:spPr>
      </p:sp>
      <p:sp>
        <p:nvSpPr>
          <p:cNvPr id="13" name="Text 11"/>
          <p:cNvSpPr txBox="1"/>
          <p:nvPr/>
        </p:nvSpPr>
        <p:spPr>
          <a:xfrm>
            <a:off x="6644488" y="2240280"/>
            <a:ext cx="4678528" cy="2377440"/>
          </a:xfrm>
          <a:prstGeom prst="rect">
            <a:avLst/>
          </a:prstGeom>
          <a:noFill/>
          <a:ln/>
        </p:spPr>
        <p:txBody>
          <a:bodyPr wrap="square" lIns="0" tIns="0" rIns="0" bIns="0" rtlCol="0" anchor="t"/>
          <a:lstStyle/>
          <a:p>
            <a:pPr indent="0" marL="0">
              <a:buNone/>
            </a:pPr>
            <a:r>
              <a:rPr lang="en-US" sz="1200" b="1" dirty="0">
                <a:solidFill>
                  <a:srgbClr val="F2C14E"/>
                </a:solidFill>
                <a:latin typeface="Courier New" pitchFamily="34" charset="0"/>
                <a:ea typeface="Courier New" pitchFamily="34" charset="-122"/>
                <a:cs typeface="Courier New" pitchFamily="34" charset="-120"/>
              </a:rPr>
              <a:t>// la dirección de la API</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const BASE_URL =</a:t>
            </a:r>
            <a:endParaRPr lang="en-US" sz="1200" dirty="0"/>
          </a:p>
          <a:p>
            <a:pPr indent="0" marL="0">
              <a:buNone/>
            </a:pPr>
            <a:r>
              <a:rPr lang="en-US" sz="1200" dirty="0">
                <a:solidFill>
                  <a:srgbClr val="A8E6CB"/>
                </a:solidFill>
                <a:latin typeface="Courier New" pitchFamily="34" charset="0"/>
                <a:ea typeface="Courier New" pitchFamily="34" charset="-122"/>
                <a:cs typeface="Courier New" pitchFamily="34" charset="-120"/>
              </a:rPr>
              <a:t>  "http://localhost:5000/api/transacciones";</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rgbClr val="F2C14E"/>
                </a:solidFill>
                <a:latin typeface="Courier New" pitchFamily="34" charset="0"/>
                <a:ea typeface="Courier New" pitchFamily="34" charset="-122"/>
                <a:cs typeface="Courier New" pitchFamily="34" charset="-120"/>
              </a:rPr>
              <a:t>// una función por cada letra del CRUD</a:t>
            </a:r>
            <a:endParaRPr lang="en-US" sz="1200" dirty="0"/>
          </a:p>
          <a:p>
            <a:pPr indent="0" marL="0">
              <a:buNone/>
            </a:pPr>
            <a:r>
              <a:rPr lang="en-US" sz="1200" dirty="0">
                <a:solidFill>
                  <a:srgbClr val="8CC4F2"/>
                </a:solidFill>
                <a:latin typeface="Courier New" pitchFamily="34" charset="0"/>
                <a:ea typeface="Courier New" pitchFamily="34" charset="-122"/>
                <a:cs typeface="Courier New" pitchFamily="34" charset="-120"/>
              </a:rPr>
              <a:t>obtenerTransacciones()    // GET</a:t>
            </a:r>
            <a:endParaRPr lang="en-US" sz="1200" dirty="0"/>
          </a:p>
          <a:p>
            <a:pPr indent="0" marL="0">
              <a:buNone/>
            </a:pPr>
            <a:r>
              <a:rPr lang="en-US" sz="1200" dirty="0">
                <a:solidFill>
                  <a:srgbClr val="8CC4F2"/>
                </a:solidFill>
                <a:latin typeface="Courier New" pitchFamily="34" charset="0"/>
                <a:ea typeface="Courier New" pitchFamily="34" charset="-122"/>
                <a:cs typeface="Courier New" pitchFamily="34" charset="-120"/>
              </a:rPr>
              <a:t>crearTransaccion(datos)   // POST</a:t>
            </a:r>
            <a:endParaRPr lang="en-US" sz="1200" dirty="0"/>
          </a:p>
          <a:p>
            <a:pPr indent="0" marL="0">
              <a:buNone/>
            </a:pPr>
            <a:r>
              <a:rPr lang="en-US" sz="1200" dirty="0">
                <a:solidFill>
                  <a:srgbClr val="8CC4F2"/>
                </a:solidFill>
                <a:latin typeface="Courier New" pitchFamily="34" charset="0"/>
                <a:ea typeface="Courier New" pitchFamily="34" charset="-122"/>
                <a:cs typeface="Courier New" pitchFamily="34" charset="-120"/>
              </a:rPr>
              <a:t>actualizarTransaccion()   // PUT</a:t>
            </a:r>
            <a:endParaRPr lang="en-US" sz="1200" dirty="0"/>
          </a:p>
          <a:p>
            <a:pPr indent="0" marL="0">
              <a:buNone/>
            </a:pPr>
            <a:r>
              <a:rPr lang="en-US" sz="1200" dirty="0">
                <a:solidFill>
                  <a:srgbClr val="8CC4F2"/>
                </a:solidFill>
                <a:latin typeface="Courier New" pitchFamily="34" charset="0"/>
                <a:ea typeface="Courier New" pitchFamily="34" charset="-122"/>
                <a:cs typeface="Courier New" pitchFamily="34" charset="-120"/>
              </a:rPr>
              <a:t>eliminarTransaccion(id)   // DELETE</a:t>
            </a:r>
            <a:endParaRPr lang="en-US" sz="1200" dirty="0"/>
          </a:p>
          <a:p>
            <a:pPr indent="0" marL="0">
              <a:buNone/>
            </a:pPr>
            <a:r>
              <a:rPr lang="en-US" sz="1200" dirty="0">
                <a:solidFill>
                  <a:srgbClr val="E8F2EC"/>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rgbClr val="F2C14E"/>
                </a:solidFill>
                <a:latin typeface="Courier New" pitchFamily="34" charset="0"/>
                <a:ea typeface="Courier New" pitchFamily="34" charset="-122"/>
                <a:cs typeface="Courier New" pitchFamily="34" charset="-120"/>
              </a:rPr>
              <a:t>// todas usan fetch() y, si algo</a:t>
            </a:r>
            <a:endParaRPr lang="en-US" sz="1200" dirty="0"/>
          </a:p>
          <a:p>
            <a:pPr indent="0" marL="0">
              <a:buNone/>
            </a:pPr>
            <a:r>
              <a:rPr lang="en-US" sz="1200" b="1" dirty="0">
                <a:solidFill>
                  <a:srgbClr val="F2C14E"/>
                </a:solidFill>
                <a:latin typeface="Courier New" pitchFamily="34" charset="0"/>
                <a:ea typeface="Courier New" pitchFamily="34" charset="-122"/>
                <a:cs typeface="Courier New" pitchFamily="34" charset="-120"/>
              </a:rPr>
              <a:t>// falla, devuelven el mensaje de error</a:t>
            </a:r>
            <a:endParaRPr lang="en-US" sz="1200" dirty="0"/>
          </a:p>
        </p:txBody>
      </p:sp>
      <p:sp>
        <p:nvSpPr>
          <p:cNvPr id="14" name="Text 12"/>
          <p:cNvSpPr txBox="1"/>
          <p:nvPr/>
        </p:nvSpPr>
        <p:spPr>
          <a:xfrm>
            <a:off x="6553048" y="4846320"/>
            <a:ext cx="4815688" cy="1143000"/>
          </a:xfrm>
          <a:prstGeom prst="rect">
            <a:avLst/>
          </a:prstGeom>
          <a:noFill/>
          <a:ln/>
        </p:spPr>
        <p:txBody>
          <a:bodyPr wrap="square" lIns="0" tIns="0" rIns="0" bIns="0" rtlCol="0" anchor="t"/>
          <a:lstStyle/>
          <a:p>
            <a:pPr indent="0" marL="0">
              <a:buNone/>
            </a:pPr>
            <a:r>
              <a:rPr lang="en-US" sz="1400" dirty="0">
                <a:solidFill>
                  <a:schemeClr val="tx2"/>
                </a:solidFill>
              </a:rPr>
              <a:t>Es el único archivo que sabe dónde está el backend. Envía los datos en formato JSON con fetch() y trae la respuesta. Si el backend está apagado, avisa con un mensaje claro.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El mapa del CRUD: quién hace qué en cada capa</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02920"/>
                <a:gridCol w="1691640"/>
                <a:gridCol w="2514600"/>
                <a:gridCol w="2834640"/>
                <a:gridCol w="2514600"/>
                <a:gridCol w="1036015"/>
              </a:tblGrid>
              <a:tr h="685800">
                <a:tc>
                  <a:txBody>
                    <a:bodyPr/>
                    <a:lstStyle/>
                    <a:p>
                      <a:pPr indent="0" marL="0">
                        <a:buNone/>
                      </a:pPr>
                      <a:endParaRPr lang="en-US" sz="14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En la pantalla</a:t>
                      </a:r>
                      <a:endParaRPr lang="en-US" sz="14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Frontend llama a…</a:t>
                      </a:r>
                      <a:endParaRPr lang="en-US" sz="14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2F6FA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Viaja por la red</a:t>
                      </a:r>
                      <a:endParaRPr lang="en-US" sz="14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Backend ejecuta…</a:t>
                      </a:r>
                      <a:endParaRPr lang="en-US" sz="14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E8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En MySQL</a:t>
                      </a:r>
                      <a:endParaRPr lang="en-US" sz="14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r>
              <a:tr h="6858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E8A5F"/>
                    </a:solidFill>
                  </a:tcPr>
                </a:tc>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Botón «Registrar»</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crearTransaccion()</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POST /api/transacciones/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crear_transaccion()</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33433B"/>
                          </a:solidFill>
                          <a:latin typeface="Calibri" pitchFamily="34" charset="0"/>
                          <a:ea typeface="Calibri" pitchFamily="34" charset="-122"/>
                          <a:cs typeface="Calibri" pitchFamily="34" charset="-120"/>
                        </a:rPr>
                        <a:t>INSERT</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r>
              <a:tr h="6858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R</a:t>
                      </a:r>
                      <a:endParaRPr lang="en-US" sz="20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2F6FA8"/>
                    </a:solidFill>
                  </a:tcPr>
                </a:tc>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Al abrir la página</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obtenerTransacciones()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GET /api/transacciones/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listar_transacciones()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300" b="1" dirty="0">
                          <a:solidFill>
                            <a:srgbClr val="33433B"/>
                          </a:solidFill>
                          <a:latin typeface="Calibri" pitchFamily="34" charset="0"/>
                          <a:ea typeface="Calibri" pitchFamily="34" charset="-122"/>
                          <a:cs typeface="Calibri" pitchFamily="34" charset="-120"/>
                        </a:rPr>
                        <a:t>SELECT</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r>
              <a:tr h="6858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U</a:t>
                      </a:r>
                      <a:endParaRPr lang="en-US" sz="20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3A72F"/>
                    </a:solidFill>
                  </a:tcPr>
                </a:tc>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«Editar» y «Guardar»</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actualizarTransaccion()</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PUT /api/transacciones/12</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actualizar_transaccion()</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33433B"/>
                          </a:solidFill>
                          <a:latin typeface="Calibri" pitchFamily="34" charset="0"/>
                          <a:ea typeface="Calibri" pitchFamily="34" charset="-122"/>
                          <a:cs typeface="Calibri" pitchFamily="34" charset="-120"/>
                        </a:rPr>
                        <a:t>UPDATE</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r>
              <a:tr h="6858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C2415B"/>
                    </a:solidFill>
                  </a:tcPr>
                </a:tc>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Botón «Eliminar»</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eliminarTransaccion()</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DELETE /api/transacciones/12</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200" dirty="0">
                          <a:solidFill>
                            <a:srgbClr val="33433B"/>
                          </a:solidFill>
                          <a:latin typeface="Courier New" pitchFamily="34" charset="0"/>
                          <a:ea typeface="Courier New" pitchFamily="34" charset="-122"/>
                          <a:cs typeface="Courier New" pitchFamily="34" charset="-120"/>
                        </a:rPr>
                        <a:t>eliminar_transaccion()</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l" indent="0" marL="0">
                        <a:buNone/>
                      </a:pPr>
                      <a:r>
                        <a:rPr lang="en-US" sz="1300" b="1" dirty="0">
                          <a:solidFill>
                            <a:srgbClr val="33433B"/>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r>
            </a:tbl>
          </a:graphicData>
        </a:graphic>
      </p:graphicFrame>
      <p:sp>
        <p:nvSpPr>
          <p:cNvPr id="4" name="Text 1"/>
          <p:cNvSpPr txBox="1"/>
          <p:nvPr/>
        </p:nvSpPr>
        <p:spPr>
          <a:xfrm>
            <a:off x="548640" y="4572000"/>
            <a:ext cx="11094415" cy="731520"/>
          </a:xfrm>
          <a:prstGeom prst="rect">
            <a:avLst/>
          </a:prstGeom>
          <a:noFill/>
          <a:ln/>
        </p:spPr>
        <p:txBody>
          <a:bodyPr wrap="square" lIns="0" tIns="0" rIns="0" bIns="0" rtlCol="0" anchor="ctr"/>
          <a:lstStyle/>
          <a:p>
            <a:pPr indent="0" marL="0">
              <a:buNone/>
            </a:pPr>
            <a:r>
              <a:rPr lang="en-US" sz="1500" b="1" dirty="0">
                <a:solidFill>
                  <a:schemeClr val="tx1"/>
                </a:solidFill>
              </a:rPr>
              <a:t>JSON </a:t>
            </a:r>
            <a:pPr indent="0" marL="0">
              <a:buNone/>
            </a:pPr>
            <a:r>
              <a:rPr lang="en-US" sz="1500" dirty="0">
                <a:solidFill>
                  <a:schemeClr val="tx2"/>
                </a:solidFill>
              </a:rPr>
              <a:t>es el formato del mensaje que viaja por la red. Por ejemplo:</a:t>
            </a:r>
            <a:endParaRPr lang="en-US" sz="1500" dirty="0"/>
          </a:p>
          <a:p>
            <a:pPr indent="0" marL="0">
              <a:buNone/>
            </a:pPr>
            <a:r>
              <a:rPr lang="en-US" sz="1500" b="1" dirty="0">
                <a:solidFill>
                  <a:schemeClr val="accent1"/>
                </a:solidFill>
                <a:latin typeface="Courier New" pitchFamily="34" charset="0"/>
                <a:ea typeface="Courier New" pitchFamily="34" charset="-122"/>
                <a:cs typeface="Courier New" pitchFamily="34" charset="-120"/>
              </a:rPr>
              <a:t>{"codigo": "TX-0009", "tipo": "PAGAR", "monto": 250000}</a:t>
            </a:r>
            <a:endParaRPr lang="en-US" sz="1500" dirty="0"/>
          </a:p>
        </p:txBody>
      </p:sp>
      <p:sp>
        <p:nvSpPr>
          <p:cNvPr id="5" name="Text 2"/>
          <p:cNvSpPr txBox="1"/>
          <p:nvPr/>
        </p:nvSpPr>
        <p:spPr>
          <a:xfrm>
            <a:off x="548640" y="5486400"/>
            <a:ext cx="11094415" cy="457200"/>
          </a:xfrm>
          <a:prstGeom prst="rect">
            <a:avLst/>
          </a:prstGeom>
          <a:noFill/>
          <a:ln/>
        </p:spPr>
        <p:txBody>
          <a:bodyPr wrap="square" lIns="0" tIns="0" rIns="0" bIns="0" rtlCol="0" anchor="ctr"/>
          <a:lstStyle/>
          <a:p>
            <a:pPr indent="0" marL="0">
              <a:buNone/>
            </a:pPr>
            <a:r>
              <a:rPr lang="en-US" sz="1500" b="1" dirty="0">
                <a:solidFill>
                  <a:schemeClr val="tx1"/>
                </a:solidFill>
              </a:rPr>
              <a:t>Prisma </a:t>
            </a:r>
            <a:pPr indent="0" marL="0">
              <a:buNone/>
            </a:pPr>
            <a:r>
              <a:rPr lang="en-US" sz="1500" dirty="0">
                <a:solidFill>
                  <a:schemeClr val="tx2"/>
                </a:solidFill>
              </a:rPr>
              <a:t>traduce las funciones de Python (create, find_many, update, delete) a esas órdenes SQL. Así no escribimos SQL a mano.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1"/>
                </a:solidFill>
              </a:rPr>
              <a:t>C · </a:t>
            </a:r>
            <a:pPr algn="l" indent="0" marL="0">
              <a:buNone/>
            </a:pPr>
            <a:r>
              <a:rPr lang="en-US" sz="3400" b="1" dirty="0">
                <a:solidFill>
                  <a:schemeClr val="tx1"/>
                </a:solidFill>
              </a:rPr>
              <a:t>Crear: el recorrido completo</a:t>
            </a:r>
            <a:endParaRPr lang="en-US" sz="3400" dirty="0"/>
          </a:p>
        </p:txBody>
      </p:sp>
      <p:sp>
        <p:nvSpPr>
          <p:cNvPr id="3" name="Shape 1"/>
          <p:cNvSpPr/>
          <p:nvPr/>
        </p:nvSpPr>
        <p:spPr>
          <a:xfrm>
            <a:off x="548640" y="1188720"/>
            <a:ext cx="3246120" cy="4160520"/>
          </a:xfrm>
          <a:prstGeom prst="roundRect">
            <a:avLst>
              <a:gd name="adj" fmla="val 3380"/>
            </a:avLst>
          </a:prstGeom>
          <a:solidFill>
            <a:schemeClr val="bg2"/>
          </a:solidFill>
          <a:ln w="12700">
            <a:solidFill>
              <a:schemeClr val="bg2"/>
            </a:solidFill>
            <a:prstDash val="solid"/>
          </a:ln>
        </p:spPr>
      </p:sp>
      <p:sp>
        <p:nvSpPr>
          <p:cNvPr id="4" name="Shape 2"/>
          <p:cNvSpPr/>
          <p:nvPr/>
        </p:nvSpPr>
        <p:spPr>
          <a:xfrm>
            <a:off x="731520" y="1325880"/>
            <a:ext cx="548640" cy="54864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Text 3"/>
          <p:cNvSpPr txBox="1"/>
          <p:nvPr/>
        </p:nvSpPr>
        <p:spPr>
          <a:xfrm>
            <a:off x="1417320" y="1307592"/>
            <a:ext cx="2240280" cy="310896"/>
          </a:xfrm>
          <a:prstGeom prst="rect">
            <a:avLst/>
          </a:prstGeom>
          <a:noFill/>
          <a:ln/>
        </p:spPr>
        <p:txBody>
          <a:bodyPr wrap="square" lIns="0" tIns="0" rIns="0" bIns="0" rtlCol="0" anchor="ctr"/>
          <a:lstStyle/>
          <a:p>
            <a:pPr indent="0" marL="0">
              <a:buNone/>
            </a:pPr>
            <a:r>
              <a:rPr lang="en-US" sz="1600" b="1" dirty="0">
                <a:solidFill>
                  <a:schemeClr val="accent3"/>
                </a:solidFill>
              </a:rPr>
              <a:t>FRONTEND</a:t>
            </a:r>
            <a:endParaRPr lang="en-US" sz="1600" dirty="0"/>
          </a:p>
        </p:txBody>
      </p:sp>
      <p:sp>
        <p:nvSpPr>
          <p:cNvPr id="7" name="Text 4"/>
          <p:cNvSpPr txBox="1"/>
          <p:nvPr/>
        </p:nvSpPr>
        <p:spPr>
          <a:xfrm>
            <a:off x="1417320" y="1609344"/>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React · la pantalla</a:t>
            </a:r>
            <a:endParaRPr lang="en-US" sz="1200" dirty="0"/>
          </a:p>
        </p:txBody>
      </p:sp>
      <p:sp>
        <p:nvSpPr>
          <p:cNvPr id="8" name="Shape 5"/>
          <p:cNvSpPr/>
          <p:nvPr/>
        </p:nvSpPr>
        <p:spPr>
          <a:xfrm>
            <a:off x="685800" y="2011680"/>
            <a:ext cx="2971800" cy="1717040"/>
          </a:xfrm>
          <a:prstGeom prst="roundRect">
            <a:avLst>
              <a:gd name="adj" fmla="val 6391"/>
            </a:avLst>
          </a:prstGeom>
          <a:solidFill>
            <a:srgbClr val="10261C"/>
          </a:solidFill>
          <a:ln w="12700">
            <a:solidFill>
              <a:srgbClr val="10261C"/>
            </a:solidFill>
            <a:prstDash val="solid"/>
          </a:ln>
        </p:spPr>
      </p:sp>
      <p:sp>
        <p:nvSpPr>
          <p:cNvPr id="9" name="Text 6"/>
          <p:cNvSpPr txBox="1"/>
          <p:nvPr/>
        </p:nvSpPr>
        <p:spPr>
          <a:xfrm>
            <a:off x="822960" y="2148840"/>
            <a:ext cx="274320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Transacciones.jsx</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await crearTransaccion(datos);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api/transacciones.js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fetch(BASE_URL + "/", {</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  method: "POST",</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body: JSON.stringify(datos)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a:t>
            </a:r>
            <a:endParaRPr lang="en-US" sz="1100" dirty="0"/>
          </a:p>
        </p:txBody>
      </p:sp>
      <p:sp>
        <p:nvSpPr>
          <p:cNvPr id="10" name="Text 7"/>
          <p:cNvSpPr txBox="1"/>
          <p:nvPr/>
        </p:nvSpPr>
        <p:spPr>
          <a:xfrm>
            <a:off x="731520" y="3820160"/>
            <a:ext cx="2880360" cy="1437640"/>
          </a:xfrm>
          <a:prstGeom prst="rect">
            <a:avLst/>
          </a:prstGeom>
          <a:noFill/>
          <a:ln/>
        </p:spPr>
        <p:txBody>
          <a:bodyPr wrap="square" lIns="0" tIns="0" rIns="0" bIns="0" rtlCol="0" anchor="t"/>
          <a:lstStyle/>
          <a:p>
            <a:pPr indent="0" marL="0">
              <a:buNone/>
            </a:pPr>
            <a:r>
              <a:rPr lang="en-US" sz="1300" dirty="0">
                <a:solidFill>
                  <a:schemeClr val="tx2"/>
                </a:solidFill>
              </a:rPr>
              <a:t>El usuario llena el formulario y presiona «Registrar». El frontend empaca los datos en JSON y los envía con un POST.</a:t>
            </a:r>
            <a:endParaRPr lang="en-US" sz="1300" dirty="0"/>
          </a:p>
        </p:txBody>
      </p:sp>
      <p:sp>
        <p:nvSpPr>
          <p:cNvPr id="11" name="Shape 8"/>
          <p:cNvSpPr/>
          <p:nvPr/>
        </p:nvSpPr>
        <p:spPr>
          <a:xfrm>
            <a:off x="3849624" y="2926080"/>
            <a:ext cx="499720" cy="292608"/>
          </a:xfrm>
          <a:prstGeom prst="rightArrow">
            <a:avLst/>
          </a:prstGeom>
          <a:solidFill>
            <a:schemeClr val="accent5"/>
          </a:solidFill>
          <a:ln w="12700">
            <a:solidFill>
              <a:schemeClr val="accent5"/>
            </a:solidFill>
            <a:prstDash val="solid"/>
          </a:ln>
        </p:spPr>
      </p:sp>
      <p:sp>
        <p:nvSpPr>
          <p:cNvPr id="12" name="Shape 9"/>
          <p:cNvSpPr/>
          <p:nvPr/>
        </p:nvSpPr>
        <p:spPr>
          <a:xfrm>
            <a:off x="4404208" y="1188720"/>
            <a:ext cx="3886200" cy="4160520"/>
          </a:xfrm>
          <a:prstGeom prst="roundRect">
            <a:avLst>
              <a:gd name="adj" fmla="val 2824"/>
            </a:avLst>
          </a:prstGeom>
          <a:solidFill>
            <a:schemeClr val="bg2"/>
          </a:solidFill>
          <a:ln w="12700">
            <a:solidFill>
              <a:schemeClr val="bg2"/>
            </a:solidFill>
            <a:prstDash val="solid"/>
          </a:ln>
        </p:spPr>
      </p:sp>
      <p:sp>
        <p:nvSpPr>
          <p:cNvPr id="13" name="Shape 10"/>
          <p:cNvSpPr/>
          <p:nvPr/>
        </p:nvSpPr>
        <p:spPr>
          <a:xfrm>
            <a:off x="4587088" y="1325880"/>
            <a:ext cx="548640" cy="54864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724248" y="1463040"/>
            <a:ext cx="274320" cy="274320"/>
          </a:xfrm>
          <a:prstGeom prst="rect">
            <a:avLst/>
          </a:prstGeom>
        </p:spPr>
      </p:pic>
      <p:sp>
        <p:nvSpPr>
          <p:cNvPr id="15" name="Text 11"/>
          <p:cNvSpPr txBox="1"/>
          <p:nvPr/>
        </p:nvSpPr>
        <p:spPr>
          <a:xfrm>
            <a:off x="5272888" y="1307592"/>
            <a:ext cx="2880360" cy="310896"/>
          </a:xfrm>
          <a:prstGeom prst="rect">
            <a:avLst/>
          </a:prstGeom>
          <a:noFill/>
          <a:ln/>
        </p:spPr>
        <p:txBody>
          <a:bodyPr wrap="square" lIns="0" tIns="0" rIns="0" bIns="0" rtlCol="0" anchor="ctr"/>
          <a:lstStyle/>
          <a:p>
            <a:pPr indent="0" marL="0">
              <a:buNone/>
            </a:pPr>
            <a:r>
              <a:rPr lang="en-US" sz="1600" b="1" dirty="0">
                <a:solidFill>
                  <a:schemeClr val="accent1"/>
                </a:solidFill>
              </a:rPr>
              <a:t>BACKEND</a:t>
            </a:r>
            <a:endParaRPr lang="en-US" sz="1600" dirty="0"/>
          </a:p>
        </p:txBody>
      </p:sp>
      <p:sp>
        <p:nvSpPr>
          <p:cNvPr id="16" name="Text 12"/>
          <p:cNvSpPr txBox="1"/>
          <p:nvPr/>
        </p:nvSpPr>
        <p:spPr>
          <a:xfrm>
            <a:off x="5272888" y="1609344"/>
            <a:ext cx="2880360" cy="274320"/>
          </a:xfrm>
          <a:prstGeom prst="rect">
            <a:avLst/>
          </a:prstGeom>
          <a:noFill/>
          <a:ln/>
        </p:spPr>
        <p:txBody>
          <a:bodyPr wrap="square" lIns="0" tIns="0" rIns="0" bIns="0" rtlCol="0" anchor="ctr"/>
          <a:lstStyle/>
          <a:p>
            <a:pPr indent="0" marL="0">
              <a:buNone/>
            </a:pPr>
            <a:r>
              <a:rPr lang="en-US" sz="1200" dirty="0">
                <a:solidFill>
                  <a:schemeClr val="accent5"/>
                </a:solidFill>
              </a:rPr>
              <a:t>Flask · la API</a:t>
            </a:r>
            <a:endParaRPr lang="en-US" sz="1200" dirty="0"/>
          </a:p>
        </p:txBody>
      </p:sp>
      <p:sp>
        <p:nvSpPr>
          <p:cNvPr id="17" name="Shape 13"/>
          <p:cNvSpPr/>
          <p:nvPr/>
        </p:nvSpPr>
        <p:spPr>
          <a:xfrm>
            <a:off x="4541368" y="2011680"/>
            <a:ext cx="3611880" cy="1717040"/>
          </a:xfrm>
          <a:prstGeom prst="roundRect">
            <a:avLst>
              <a:gd name="adj" fmla="val 6391"/>
            </a:avLst>
          </a:prstGeom>
          <a:solidFill>
            <a:srgbClr val="10261C"/>
          </a:solidFill>
          <a:ln w="12700">
            <a:solidFill>
              <a:srgbClr val="10261C"/>
            </a:solidFill>
            <a:prstDash val="solid"/>
          </a:ln>
        </p:spPr>
      </p:sp>
      <p:sp>
        <p:nvSpPr>
          <p:cNvPr id="18" name="Text 14"/>
          <p:cNvSpPr txBox="1"/>
          <p:nvPr/>
        </p:nvSpPr>
        <p:spPr>
          <a:xfrm>
            <a:off x="4678528" y="2148840"/>
            <a:ext cx="338328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routes: llega el POST</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@route("/", methods=["POST"])</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def crear():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controller.crear_transaccion(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request.get_json())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model: lo manda a guardar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db.transaccion.create(data=datos)</a:t>
            </a:r>
            <a:endParaRPr lang="en-US" sz="1100" dirty="0"/>
          </a:p>
        </p:txBody>
      </p:sp>
      <p:sp>
        <p:nvSpPr>
          <p:cNvPr id="19" name="Text 15"/>
          <p:cNvSpPr txBox="1"/>
          <p:nvPr/>
        </p:nvSpPr>
        <p:spPr>
          <a:xfrm>
            <a:off x="4587088" y="3820160"/>
            <a:ext cx="3520440" cy="1437640"/>
          </a:xfrm>
          <a:prstGeom prst="rect">
            <a:avLst/>
          </a:prstGeom>
          <a:noFill/>
          <a:ln/>
        </p:spPr>
        <p:txBody>
          <a:bodyPr wrap="square" lIns="0" tIns="0" rIns="0" bIns="0" rtlCol="0" anchor="t"/>
          <a:lstStyle/>
          <a:p>
            <a:pPr indent="0" marL="0">
              <a:buNone/>
            </a:pPr>
            <a:r>
              <a:rPr lang="en-US" sz="1300" dirty="0">
                <a:solidFill>
                  <a:schemeClr val="tx2"/>
                </a:solidFill>
              </a:rPr>
              <a:t>La ruta recibe el pedido. El controller revisa las reglas (datos y saldo) y, si todo está bien, el model lo manda a guardar.</a:t>
            </a:r>
            <a:endParaRPr lang="en-US" sz="1300" dirty="0"/>
          </a:p>
        </p:txBody>
      </p:sp>
      <p:sp>
        <p:nvSpPr>
          <p:cNvPr id="20" name="Shape 16"/>
          <p:cNvSpPr/>
          <p:nvPr/>
        </p:nvSpPr>
        <p:spPr>
          <a:xfrm>
            <a:off x="8345272" y="2926080"/>
            <a:ext cx="499720" cy="292608"/>
          </a:xfrm>
          <a:prstGeom prst="rightArrow">
            <a:avLst/>
          </a:prstGeom>
          <a:solidFill>
            <a:schemeClr val="accent5"/>
          </a:solidFill>
          <a:ln w="12700">
            <a:solidFill>
              <a:schemeClr val="accent5"/>
            </a:solidFill>
            <a:prstDash val="solid"/>
          </a:ln>
        </p:spPr>
      </p:sp>
      <p:sp>
        <p:nvSpPr>
          <p:cNvPr id="21" name="Shape 17"/>
          <p:cNvSpPr/>
          <p:nvPr/>
        </p:nvSpPr>
        <p:spPr>
          <a:xfrm>
            <a:off x="8899855" y="1188720"/>
            <a:ext cx="2743200" cy="4160520"/>
          </a:xfrm>
          <a:prstGeom prst="roundRect">
            <a:avLst>
              <a:gd name="adj" fmla="val 4000"/>
            </a:avLst>
          </a:prstGeom>
          <a:solidFill>
            <a:schemeClr val="bg2"/>
          </a:solidFill>
          <a:ln w="12700">
            <a:solidFill>
              <a:schemeClr val="bg2"/>
            </a:solidFill>
            <a:prstDash val="solid"/>
          </a:ln>
        </p:spPr>
      </p:sp>
      <p:sp>
        <p:nvSpPr>
          <p:cNvPr id="22" name="Shape 18"/>
          <p:cNvSpPr/>
          <p:nvPr/>
        </p:nvSpPr>
        <p:spPr>
          <a:xfrm>
            <a:off x="9082735" y="1325880"/>
            <a:ext cx="548640" cy="548640"/>
          </a:xfrm>
          <a:prstGeom prst="ellipse">
            <a:avLst/>
          </a:prstGeom>
          <a:solidFill>
            <a:schemeClr val="tx1"/>
          </a:solidFill>
          <a:ln w="12700">
            <a:solidFill>
              <a:schemeClr val="tx1"/>
            </a:solidFill>
            <a:prstDash val="solid"/>
          </a:ln>
        </p:spPr>
      </p:sp>
      <p:pic>
        <p:nvPicPr>
          <p:cNvPr id="23" name="Image 2" descr="preencoded.png">    </p:cNvPr>
          <p:cNvPicPr>
            <a:picLocks noChangeAspect="1"/>
          </p:cNvPicPr>
          <p:nvPr/>
        </p:nvPicPr>
        <p:blipFill>
          <a:blip r:embed="rId3"/>
          <a:stretch>
            <a:fillRect/>
          </a:stretch>
        </p:blipFill>
        <p:spPr>
          <a:xfrm>
            <a:off x="9219895" y="1463040"/>
            <a:ext cx="274320" cy="274320"/>
          </a:xfrm>
          <a:prstGeom prst="rect">
            <a:avLst/>
          </a:prstGeom>
        </p:spPr>
      </p:pic>
      <p:sp>
        <p:nvSpPr>
          <p:cNvPr id="24" name="Text 19"/>
          <p:cNvSpPr txBox="1"/>
          <p:nvPr/>
        </p:nvSpPr>
        <p:spPr>
          <a:xfrm>
            <a:off x="9768535" y="1307592"/>
            <a:ext cx="1737360" cy="310896"/>
          </a:xfrm>
          <a:prstGeom prst="rect">
            <a:avLst/>
          </a:prstGeom>
          <a:noFill/>
          <a:ln/>
        </p:spPr>
        <p:txBody>
          <a:bodyPr wrap="square" lIns="0" tIns="0" rIns="0" bIns="0" rtlCol="0" anchor="ctr"/>
          <a:lstStyle/>
          <a:p>
            <a:pPr indent="0" marL="0">
              <a:buNone/>
            </a:pPr>
            <a:r>
              <a:rPr lang="en-US" sz="1600" b="1" dirty="0">
                <a:solidFill>
                  <a:schemeClr val="tx1"/>
                </a:solidFill>
              </a:rPr>
              <a:t>BASE DE DATOS</a:t>
            </a:r>
            <a:endParaRPr lang="en-US" sz="1600" dirty="0"/>
          </a:p>
        </p:txBody>
      </p:sp>
      <p:sp>
        <p:nvSpPr>
          <p:cNvPr id="25" name="Text 20"/>
          <p:cNvSpPr txBox="1"/>
          <p:nvPr/>
        </p:nvSpPr>
        <p:spPr>
          <a:xfrm>
            <a:off x="9768535" y="1609344"/>
            <a:ext cx="1737360" cy="274320"/>
          </a:xfrm>
          <a:prstGeom prst="rect">
            <a:avLst/>
          </a:prstGeom>
          <a:noFill/>
          <a:ln/>
        </p:spPr>
        <p:txBody>
          <a:bodyPr wrap="square" lIns="0" tIns="0" rIns="0" bIns="0" rtlCol="0" anchor="ctr"/>
          <a:lstStyle/>
          <a:p>
            <a:pPr indent="0" marL="0">
              <a:buNone/>
            </a:pPr>
            <a:r>
              <a:rPr lang="en-US" sz="1200" dirty="0">
                <a:solidFill>
                  <a:schemeClr val="accent5"/>
                </a:solidFill>
              </a:rPr>
              <a:t>MySQL · los datos</a:t>
            </a:r>
            <a:endParaRPr lang="en-US" sz="1200" dirty="0"/>
          </a:p>
        </p:txBody>
      </p:sp>
      <p:sp>
        <p:nvSpPr>
          <p:cNvPr id="26" name="Shape 21"/>
          <p:cNvSpPr/>
          <p:nvPr/>
        </p:nvSpPr>
        <p:spPr>
          <a:xfrm>
            <a:off x="9037015" y="2011680"/>
            <a:ext cx="2468880" cy="1193165"/>
          </a:xfrm>
          <a:prstGeom prst="roundRect">
            <a:avLst>
              <a:gd name="adj" fmla="val 9196"/>
            </a:avLst>
          </a:prstGeom>
          <a:solidFill>
            <a:srgbClr val="10261C"/>
          </a:solidFill>
          <a:ln w="12700">
            <a:solidFill>
              <a:srgbClr val="10261C"/>
            </a:solidFill>
            <a:prstDash val="solid"/>
          </a:ln>
        </p:spPr>
      </p:sp>
      <p:sp>
        <p:nvSpPr>
          <p:cNvPr id="27" name="Text 22"/>
          <p:cNvSpPr txBox="1"/>
          <p:nvPr/>
        </p:nvSpPr>
        <p:spPr>
          <a:xfrm>
            <a:off x="9174175" y="2148840"/>
            <a:ext cx="2240280" cy="964565"/>
          </a:xfrm>
          <a:prstGeom prst="rect">
            <a:avLst/>
          </a:prstGeom>
          <a:noFill/>
          <a:ln/>
        </p:spPr>
        <p:txBody>
          <a:bodyPr wrap="square" lIns="0" tIns="0" rIns="0" bIns="0" rtlCol="0" anchor="t"/>
          <a:lstStyle/>
          <a:p>
            <a:pPr indent="0" marL="0">
              <a:buNone/>
            </a:pPr>
            <a:r>
              <a:rPr lang="en-US" sz="1100" dirty="0">
                <a:solidFill>
                  <a:srgbClr val="8CC4F2"/>
                </a:solidFill>
                <a:latin typeface="Courier New" pitchFamily="34" charset="0"/>
                <a:ea typeface="Courier New" pitchFamily="34" charset="-122"/>
                <a:cs typeface="Courier New" pitchFamily="34" charset="-120"/>
              </a:rPr>
              <a:t>INSERT INTO Transaccion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(codigo, tipo, monto)</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VALUES</a:t>
            </a:r>
            <a:endParaRPr lang="en-US" sz="1100" dirty="0"/>
          </a:p>
          <a:p>
            <a:pPr indent="0" marL="0">
              <a:buNone/>
            </a:pPr>
            <a:r>
              <a:rPr lang="en-US" sz="1100" dirty="0">
                <a:solidFill>
                  <a:srgbClr val="A8E6CB"/>
                </a:solidFill>
                <a:latin typeface="Courier New" pitchFamily="34" charset="0"/>
                <a:ea typeface="Courier New" pitchFamily="34" charset="-122"/>
                <a:cs typeface="Courier New" pitchFamily="34" charset="-120"/>
              </a:rPr>
              <a:t>  ('TX-0009', 'PAGAR',</a:t>
            </a:r>
            <a:endParaRPr lang="en-US" sz="1100" dirty="0"/>
          </a:p>
          <a:p>
            <a:pPr indent="0" marL="0">
              <a:buNone/>
            </a:pPr>
            <a:r>
              <a:rPr lang="en-US" sz="1100" dirty="0">
                <a:solidFill>
                  <a:srgbClr val="A8E6CB"/>
                </a:solidFill>
                <a:latin typeface="Courier New" pitchFamily="34" charset="0"/>
                <a:ea typeface="Courier New" pitchFamily="34" charset="-122"/>
                <a:cs typeface="Courier New" pitchFamily="34" charset="-120"/>
              </a:rPr>
              <a:t>   250000);</a:t>
            </a:r>
            <a:endParaRPr lang="en-US" sz="1100" dirty="0"/>
          </a:p>
        </p:txBody>
      </p:sp>
      <p:sp>
        <p:nvSpPr>
          <p:cNvPr id="28" name="Text 23"/>
          <p:cNvSpPr txBox="1"/>
          <p:nvPr/>
        </p:nvSpPr>
        <p:spPr>
          <a:xfrm>
            <a:off x="9082735" y="3296285"/>
            <a:ext cx="2377440" cy="1961515"/>
          </a:xfrm>
          <a:prstGeom prst="rect">
            <a:avLst/>
          </a:prstGeom>
          <a:noFill/>
          <a:ln/>
        </p:spPr>
        <p:txBody>
          <a:bodyPr wrap="square" lIns="0" tIns="0" rIns="0" bIns="0" rtlCol="0" anchor="t"/>
          <a:lstStyle/>
          <a:p>
            <a:pPr indent="0" marL="0">
              <a:buNone/>
            </a:pPr>
            <a:r>
              <a:rPr lang="en-US" sz="1300" dirty="0">
                <a:solidFill>
                  <a:schemeClr val="tx2"/>
                </a:solidFill>
              </a:rPr>
              <a:t>MySQL agrega una fila nueva. El id y la fecha los pone él solo.</a:t>
            </a:r>
            <a:endParaRPr lang="en-US" sz="1300" dirty="0"/>
          </a:p>
        </p:txBody>
      </p:sp>
      <p:sp>
        <p:nvSpPr>
          <p:cNvPr id="29" name="Text 24"/>
          <p:cNvSpPr txBox="1"/>
          <p:nvPr/>
        </p:nvSpPr>
        <p:spPr>
          <a:xfrm>
            <a:off x="3703320"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POST + JSON</a:t>
            </a:r>
            <a:endParaRPr lang="en-US" sz="900" dirty="0"/>
          </a:p>
        </p:txBody>
      </p:sp>
      <p:sp>
        <p:nvSpPr>
          <p:cNvPr id="30" name="Text 25"/>
          <p:cNvSpPr txBox="1"/>
          <p:nvPr/>
        </p:nvSpPr>
        <p:spPr>
          <a:xfrm>
            <a:off x="8198968"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Prisma: create()</a:t>
            </a:r>
            <a:endParaRPr lang="en-US" sz="900" dirty="0"/>
          </a:p>
        </p:txBody>
      </p:sp>
      <p:sp>
        <p:nvSpPr>
          <p:cNvPr id="31" name="Shape 26"/>
          <p:cNvSpPr/>
          <p:nvPr/>
        </p:nvSpPr>
        <p:spPr>
          <a:xfrm>
            <a:off x="548640" y="5486400"/>
            <a:ext cx="11094415" cy="658368"/>
          </a:xfrm>
          <a:prstGeom prst="roundRect">
            <a:avLst>
              <a:gd name="adj" fmla="val 16667"/>
            </a:avLst>
          </a:prstGeom>
          <a:solidFill>
            <a:schemeClr val="tx1"/>
          </a:solidFill>
          <a:ln w="12700">
            <a:solidFill>
              <a:schemeClr val="tx1"/>
            </a:solidFill>
            <a:prstDash val="solid"/>
          </a:ln>
        </p:spPr>
      </p:sp>
      <p:sp>
        <p:nvSpPr>
          <p:cNvPr id="32" name="Shape 27"/>
          <p:cNvSpPr/>
          <p:nvPr/>
        </p:nvSpPr>
        <p:spPr>
          <a:xfrm>
            <a:off x="777240" y="5650992"/>
            <a:ext cx="640080" cy="329184"/>
          </a:xfrm>
          <a:prstGeom prst="leftArrow">
            <a:avLst/>
          </a:prstGeom>
          <a:solidFill>
            <a:schemeClr val="accent6"/>
          </a:solidFill>
          <a:ln w="12700">
            <a:solidFill>
              <a:schemeClr val="accent6"/>
            </a:solidFill>
            <a:prstDash val="solid"/>
          </a:ln>
        </p:spPr>
      </p:sp>
      <p:sp>
        <p:nvSpPr>
          <p:cNvPr id="33" name="Text 28"/>
          <p:cNvSpPr txBox="1"/>
          <p:nvPr/>
        </p:nvSpPr>
        <p:spPr>
          <a:xfrm>
            <a:off x="1600200" y="5486400"/>
            <a:ext cx="9859975" cy="658368"/>
          </a:xfrm>
          <a:prstGeom prst="rect">
            <a:avLst/>
          </a:prstGeom>
          <a:noFill/>
          <a:ln/>
        </p:spPr>
        <p:txBody>
          <a:bodyPr wrap="square" lIns="0" tIns="0" rIns="0" bIns="0" rtlCol="0" anchor="ctr"/>
          <a:lstStyle/>
          <a:p>
            <a:pPr indent="0" marL="0">
              <a:buNone/>
            </a:pPr>
            <a:r>
              <a:rPr lang="en-US" sz="1500" b="1" dirty="0">
                <a:solidFill>
                  <a:schemeClr val="accent6"/>
                </a:solidFill>
              </a:rPr>
              <a:t>De vuelta: </a:t>
            </a:r>
            <a:pPr indent="0" marL="0">
              <a:buNone/>
            </a:pPr>
            <a:r>
              <a:rPr lang="en-US" sz="1500" dirty="0">
                <a:solidFill>
                  <a:schemeClr val="bg1"/>
                </a:solidFill>
              </a:rPr>
              <a:t>MySQL confirma → el backend responde 201 (creado) → la pantalla dice «Transacción registrada» y recarga el saldo.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1"/>
                </a:solidFill>
              </a:rPr>
              <a:t>C · </a:t>
            </a:r>
            <a:pPr algn="l" indent="0" marL="0">
              <a:buNone/>
            </a:pPr>
            <a:r>
              <a:rPr lang="en-US" sz="3400" b="1" dirty="0">
                <a:solidFill>
                  <a:schemeClr val="tx1"/>
                </a:solidFill>
              </a:rPr>
              <a:t>Crear: lo que revisa el backend</a:t>
            </a:r>
            <a:endParaRPr lang="en-US" sz="3400" dirty="0"/>
          </a:p>
        </p:txBody>
      </p:sp>
      <p:sp>
        <p:nvSpPr>
          <p:cNvPr id="3" name="Shape 1"/>
          <p:cNvSpPr/>
          <p:nvPr/>
        </p:nvSpPr>
        <p:spPr>
          <a:xfrm>
            <a:off x="548640" y="1234440"/>
            <a:ext cx="6675120" cy="4019296"/>
          </a:xfrm>
          <a:prstGeom prst="roundRect">
            <a:avLst>
              <a:gd name="adj" fmla="val 2730"/>
            </a:avLst>
          </a:prstGeom>
          <a:solidFill>
            <a:srgbClr val="10261C"/>
          </a:solidFill>
          <a:ln w="12700">
            <a:solidFill>
              <a:srgbClr val="10261C"/>
            </a:solidFill>
            <a:prstDash val="solid"/>
          </a:ln>
        </p:spPr>
      </p:sp>
      <p:sp>
        <p:nvSpPr>
          <p:cNvPr id="4" name="Text 2"/>
          <p:cNvSpPr txBox="1"/>
          <p:nvPr/>
        </p:nvSpPr>
        <p:spPr>
          <a:xfrm>
            <a:off x="822960" y="1463040"/>
            <a:ext cx="6217920" cy="3607816"/>
          </a:xfrm>
          <a:prstGeom prst="rect">
            <a:avLst/>
          </a:prstGeom>
          <a:noFill/>
          <a:ln/>
        </p:spPr>
        <p:txBody>
          <a:bodyPr wrap="square" lIns="0" tIns="0" rIns="0" bIns="0" rtlCol="0" anchor="t"/>
          <a:lstStyle/>
          <a:p>
            <a:pPr indent="0" marL="0">
              <a:buNone/>
            </a:pPr>
            <a:r>
              <a:rPr lang="en-US" sz="1400" dirty="0">
                <a:solidFill>
                  <a:srgbClr val="8CC4F2"/>
                </a:solidFill>
                <a:latin typeface="Courier New" pitchFamily="34" charset="0"/>
                <a:ea typeface="Courier New" pitchFamily="34" charset="-122"/>
                <a:cs typeface="Courier New" pitchFamily="34" charset="-120"/>
              </a:rPr>
              <a:t>def crear_transaccion(datos):</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1. Revisar los datos</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limpios, error = validar(datos)</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if error:</a:t>
            </a:r>
            <a:endParaRPr lang="en-US" sz="1400" dirty="0"/>
          </a:p>
          <a:p>
            <a:pPr indent="0" marL="0">
              <a:buNone/>
            </a:pPr>
            <a:r>
              <a:rPr lang="en-US" sz="1400" dirty="0">
                <a:solidFill>
                  <a:srgbClr val="F2A7B5"/>
                </a:solidFill>
                <a:latin typeface="Courier New" pitchFamily="34" charset="0"/>
                <a:ea typeface="Courier New" pitchFamily="34" charset="-122"/>
                <a:cs typeface="Courier New" pitchFamily="34" charset="-120"/>
              </a:rPr>
              <a:t>        return {"error": error}, 400</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2. ¿Alcanza el saldo?</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movimientos = movimientos_actuales() + [limpios]</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if saldo_queda_negativo(movimientos):</a:t>
            </a:r>
            <a:endParaRPr lang="en-US" sz="1400" dirty="0"/>
          </a:p>
          <a:p>
            <a:pPr indent="0" marL="0">
              <a:buNone/>
            </a:pPr>
            <a:r>
              <a:rPr lang="en-US" sz="1400" dirty="0">
                <a:solidFill>
                  <a:srgbClr val="F2A7B5"/>
                </a:solidFill>
                <a:latin typeface="Courier New" pitchFamily="34" charset="0"/>
                <a:ea typeface="Courier New" pitchFamily="34" charset="-122"/>
                <a:cs typeface="Courier New" pitchFamily="34" charset="-120"/>
              </a:rPr>
              <a:t>        return {"error": "Saldo insuficiente"}, 400</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3. Guardar en MySQL</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nueva = transaccion_model.crear(limpios)</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4. Responder: «creado»</a:t>
            </a:r>
            <a:endParaRPr lang="en-US" sz="1400" dirty="0"/>
          </a:p>
          <a:p>
            <a:pPr indent="0" marL="0">
              <a:buNone/>
            </a:pPr>
            <a:r>
              <a:rPr lang="en-US" sz="1400" dirty="0">
                <a:solidFill>
                  <a:srgbClr val="A8E6CB"/>
                </a:solidFill>
                <a:latin typeface="Courier New" pitchFamily="34" charset="0"/>
                <a:ea typeface="Courier New" pitchFamily="34" charset="-122"/>
                <a:cs typeface="Courier New" pitchFamily="34" charset="-120"/>
              </a:rPr>
              <a:t>    return a_diccionario(nueva), 201</a:t>
            </a:r>
            <a:endParaRPr lang="en-US" sz="1400" dirty="0"/>
          </a:p>
        </p:txBody>
      </p:sp>
      <p:sp>
        <p:nvSpPr>
          <p:cNvPr id="5" name="Text 3"/>
          <p:cNvSpPr txBox="1"/>
          <p:nvPr/>
        </p:nvSpPr>
        <p:spPr>
          <a:xfrm>
            <a:off x="548640" y="5326888"/>
            <a:ext cx="6675120" cy="256032"/>
          </a:xfrm>
          <a:prstGeom prst="rect">
            <a:avLst/>
          </a:prstGeom>
          <a:noFill/>
          <a:ln/>
        </p:spPr>
        <p:txBody>
          <a:bodyPr wrap="square" lIns="0" tIns="0" rIns="0" bIns="0" rtlCol="0" anchor="ctr"/>
          <a:lstStyle/>
          <a:p>
            <a:pPr indent="0" marL="0">
              <a:buNone/>
            </a:pPr>
            <a:r>
              <a:rPr lang="en-US" sz="1000" i="1" dirty="0">
                <a:solidFill>
                  <a:schemeClr val="accent5"/>
                </a:solidFill>
              </a:rPr>
              <a:t>Código del controller (backend), resumido para la explicación.</a:t>
            </a:r>
            <a:endParaRPr lang="en-US" sz="1000" dirty="0"/>
          </a:p>
        </p:txBody>
      </p:sp>
      <p:pic>
        <p:nvPicPr>
          <p:cNvPr id="6" name="Image 0" descr="Pago TX-0009 registrado; el saldo baja a 3.259.000">    </p:cNvPr>
          <p:cNvPicPr>
            <a:picLocks noChangeAspect="1"/>
          </p:cNvPicPr>
          <p:nvPr/>
        </p:nvPicPr>
        <p:blipFill>
          <a:blip r:embed="rId1"/>
          <a:stretch>
            <a:fillRect/>
          </a:stretch>
        </p:blipFill>
        <p:spPr>
          <a:xfrm>
            <a:off x="7678963" y="1234440"/>
            <a:ext cx="3828930" cy="2331720"/>
          </a:xfrm>
          <a:prstGeom prst="rect">
            <a:avLst/>
          </a:prstGeom>
          <a:effectLst>
            <a:outerShdw sx="100000" sy="100000" kx="0" ky="0" algn="bl" rotWithShape="0" blurRad="101600" dist="25400" dir="5400000">
              <a:srgbClr val="000000">
                <a:alpha val="18000"/>
              </a:srgbClr>
            </a:outerShdw>
          </a:effectLst>
        </p:spPr>
      </p:pic>
      <p:sp>
        <p:nvSpPr>
          <p:cNvPr id="7" name="Shape 4"/>
          <p:cNvSpPr/>
          <p:nvPr/>
        </p:nvSpPr>
        <p:spPr>
          <a:xfrm>
            <a:off x="7543800" y="379476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7543800" y="3794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8138160" y="3767328"/>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Revisa los datos</a:t>
            </a:r>
            <a:endParaRPr lang="en-US" sz="1700" dirty="0"/>
          </a:p>
        </p:txBody>
      </p:sp>
      <p:sp>
        <p:nvSpPr>
          <p:cNvPr id="10" name="Text 7"/>
          <p:cNvSpPr txBox="1"/>
          <p:nvPr/>
        </p:nvSpPr>
        <p:spPr>
          <a:xfrm>
            <a:off x="8138160" y="4096512"/>
            <a:ext cx="3504895" cy="457200"/>
          </a:xfrm>
          <a:prstGeom prst="rect">
            <a:avLst/>
          </a:prstGeom>
          <a:noFill/>
          <a:ln/>
        </p:spPr>
        <p:txBody>
          <a:bodyPr wrap="square" lIns="0" tIns="0" rIns="0" bIns="0" rtlCol="0" anchor="t"/>
          <a:lstStyle/>
          <a:p>
            <a:pPr indent="0" marL="0">
              <a:buNone/>
            </a:pPr>
            <a:r>
              <a:rPr lang="en-US" sz="1400" dirty="0">
                <a:solidFill>
                  <a:schemeClr val="tx2"/>
                </a:solidFill>
              </a:rPr>
              <a:t>Código, tipo y monto válidos</a:t>
            </a:r>
            <a:endParaRPr lang="en-US" sz="1400" dirty="0"/>
          </a:p>
        </p:txBody>
      </p:sp>
      <p:sp>
        <p:nvSpPr>
          <p:cNvPr id="11" name="Shape 8"/>
          <p:cNvSpPr/>
          <p:nvPr/>
        </p:nvSpPr>
        <p:spPr>
          <a:xfrm>
            <a:off x="7543800" y="4398264"/>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7543800" y="439826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8138160" y="4370832"/>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Prueba el saldo</a:t>
            </a:r>
            <a:endParaRPr lang="en-US" sz="1700" dirty="0"/>
          </a:p>
        </p:txBody>
      </p:sp>
      <p:sp>
        <p:nvSpPr>
          <p:cNvPr id="14" name="Text 11"/>
          <p:cNvSpPr txBox="1"/>
          <p:nvPr/>
        </p:nvSpPr>
        <p:spPr>
          <a:xfrm>
            <a:off x="8138160" y="4700016"/>
            <a:ext cx="3504895" cy="457200"/>
          </a:xfrm>
          <a:prstGeom prst="rect">
            <a:avLst/>
          </a:prstGeom>
          <a:noFill/>
          <a:ln/>
        </p:spPr>
        <p:txBody>
          <a:bodyPr wrap="square" lIns="0" tIns="0" rIns="0" bIns="0" rtlCol="0" anchor="t"/>
          <a:lstStyle/>
          <a:p>
            <a:pPr indent="0" marL="0">
              <a:buNone/>
            </a:pPr>
            <a:r>
              <a:rPr lang="en-US" sz="1400" dirty="0">
                <a:solidFill>
                  <a:schemeClr val="tx2"/>
                </a:solidFill>
              </a:rPr>
              <a:t>Si no alcanza, no guarda</a:t>
            </a:r>
            <a:endParaRPr lang="en-US" sz="1400" dirty="0"/>
          </a:p>
        </p:txBody>
      </p:sp>
      <p:sp>
        <p:nvSpPr>
          <p:cNvPr id="15" name="Shape 12"/>
          <p:cNvSpPr/>
          <p:nvPr/>
        </p:nvSpPr>
        <p:spPr>
          <a:xfrm>
            <a:off x="7543800" y="5001768"/>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7543800" y="5001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8138160" y="4974336"/>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Guarda en MySQL</a:t>
            </a:r>
            <a:endParaRPr lang="en-US" sz="1700" dirty="0"/>
          </a:p>
        </p:txBody>
      </p:sp>
      <p:sp>
        <p:nvSpPr>
          <p:cNvPr id="18" name="Text 15"/>
          <p:cNvSpPr txBox="1"/>
          <p:nvPr/>
        </p:nvSpPr>
        <p:spPr>
          <a:xfrm>
            <a:off x="8138160" y="5303520"/>
            <a:ext cx="3504895" cy="457200"/>
          </a:xfrm>
          <a:prstGeom prst="rect">
            <a:avLst/>
          </a:prstGeom>
          <a:noFill/>
          <a:ln/>
        </p:spPr>
        <p:txBody>
          <a:bodyPr wrap="square" lIns="0" tIns="0" rIns="0" bIns="0" rtlCol="0" anchor="t"/>
          <a:lstStyle/>
          <a:p>
            <a:pPr indent="0" marL="0">
              <a:buNone/>
            </a:pPr>
            <a:r>
              <a:rPr lang="en-US" sz="1400" dirty="0">
                <a:solidFill>
                  <a:schemeClr val="tx2"/>
                </a:solidFill>
              </a:rPr>
              <a:t>El model hace el INSERT</a:t>
            </a:r>
            <a:endParaRPr lang="en-US" sz="1400" dirty="0"/>
          </a:p>
        </p:txBody>
      </p:sp>
      <p:sp>
        <p:nvSpPr>
          <p:cNvPr id="19" name="Shape 16"/>
          <p:cNvSpPr/>
          <p:nvPr/>
        </p:nvSpPr>
        <p:spPr>
          <a:xfrm>
            <a:off x="7543800" y="5605272"/>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7543800" y="5605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8138160" y="5577840"/>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Responde 201</a:t>
            </a:r>
            <a:endParaRPr lang="en-US" sz="1700" dirty="0"/>
          </a:p>
        </p:txBody>
      </p:sp>
      <p:sp>
        <p:nvSpPr>
          <p:cNvPr id="22" name="Text 19"/>
          <p:cNvSpPr txBox="1"/>
          <p:nvPr/>
        </p:nvSpPr>
        <p:spPr>
          <a:xfrm>
            <a:off x="8138160" y="5907024"/>
            <a:ext cx="3504895" cy="457200"/>
          </a:xfrm>
          <a:prstGeom prst="rect">
            <a:avLst/>
          </a:prstGeom>
          <a:noFill/>
          <a:ln/>
        </p:spPr>
        <p:txBody>
          <a:bodyPr wrap="square" lIns="0" tIns="0" rIns="0" bIns="0" rtlCol="0" anchor="t"/>
          <a:lstStyle/>
          <a:p>
            <a:pPr indent="0" marL="0">
              <a:buNone/>
            </a:pPr>
            <a:r>
              <a:rPr lang="en-US" sz="1400" dirty="0">
                <a:solidFill>
                  <a:schemeClr val="tx2"/>
                </a:solidFill>
              </a:rPr>
              <a:t>La pantalla muestra el saldo nuevo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3"/>
                </a:solidFill>
              </a:rPr>
              <a:t>R · </a:t>
            </a:r>
            <a:pPr algn="l" indent="0" marL="0">
              <a:buNone/>
            </a:pPr>
            <a:r>
              <a:rPr lang="en-US" sz="3400" b="1" dirty="0">
                <a:solidFill>
                  <a:schemeClr val="tx1"/>
                </a:solidFill>
              </a:rPr>
              <a:t>Leer: el recorrido completo</a:t>
            </a:r>
            <a:endParaRPr lang="en-US" sz="3400" dirty="0"/>
          </a:p>
        </p:txBody>
      </p:sp>
      <p:sp>
        <p:nvSpPr>
          <p:cNvPr id="3" name="Shape 1"/>
          <p:cNvSpPr/>
          <p:nvPr/>
        </p:nvSpPr>
        <p:spPr>
          <a:xfrm>
            <a:off x="548640" y="1188720"/>
            <a:ext cx="3246120" cy="4160520"/>
          </a:xfrm>
          <a:prstGeom prst="roundRect">
            <a:avLst>
              <a:gd name="adj" fmla="val 3380"/>
            </a:avLst>
          </a:prstGeom>
          <a:solidFill>
            <a:schemeClr val="bg2"/>
          </a:solidFill>
          <a:ln w="12700">
            <a:solidFill>
              <a:schemeClr val="bg2"/>
            </a:solidFill>
            <a:prstDash val="solid"/>
          </a:ln>
        </p:spPr>
      </p:sp>
      <p:sp>
        <p:nvSpPr>
          <p:cNvPr id="4" name="Shape 2"/>
          <p:cNvSpPr/>
          <p:nvPr/>
        </p:nvSpPr>
        <p:spPr>
          <a:xfrm>
            <a:off x="731520" y="1325880"/>
            <a:ext cx="548640" cy="54864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Text 3"/>
          <p:cNvSpPr txBox="1"/>
          <p:nvPr/>
        </p:nvSpPr>
        <p:spPr>
          <a:xfrm>
            <a:off x="1417320" y="1307592"/>
            <a:ext cx="2240280" cy="310896"/>
          </a:xfrm>
          <a:prstGeom prst="rect">
            <a:avLst/>
          </a:prstGeom>
          <a:noFill/>
          <a:ln/>
        </p:spPr>
        <p:txBody>
          <a:bodyPr wrap="square" lIns="0" tIns="0" rIns="0" bIns="0" rtlCol="0" anchor="ctr"/>
          <a:lstStyle/>
          <a:p>
            <a:pPr indent="0" marL="0">
              <a:buNone/>
            </a:pPr>
            <a:r>
              <a:rPr lang="en-US" sz="1600" b="1" dirty="0">
                <a:solidFill>
                  <a:schemeClr val="accent3"/>
                </a:solidFill>
              </a:rPr>
              <a:t>FRONTEND</a:t>
            </a:r>
            <a:endParaRPr lang="en-US" sz="1600" dirty="0"/>
          </a:p>
        </p:txBody>
      </p:sp>
      <p:sp>
        <p:nvSpPr>
          <p:cNvPr id="7" name="Text 4"/>
          <p:cNvSpPr txBox="1"/>
          <p:nvPr/>
        </p:nvSpPr>
        <p:spPr>
          <a:xfrm>
            <a:off x="1417320" y="1609344"/>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React · la pantalla</a:t>
            </a:r>
            <a:endParaRPr lang="en-US" sz="1200" dirty="0"/>
          </a:p>
        </p:txBody>
      </p:sp>
      <p:sp>
        <p:nvSpPr>
          <p:cNvPr id="8" name="Shape 5"/>
          <p:cNvSpPr/>
          <p:nvPr/>
        </p:nvSpPr>
        <p:spPr>
          <a:xfrm>
            <a:off x="685800" y="2011680"/>
            <a:ext cx="2971800" cy="1717040"/>
          </a:xfrm>
          <a:prstGeom prst="roundRect">
            <a:avLst>
              <a:gd name="adj" fmla="val 6391"/>
            </a:avLst>
          </a:prstGeom>
          <a:solidFill>
            <a:srgbClr val="10261C"/>
          </a:solidFill>
          <a:ln w="12700">
            <a:solidFill>
              <a:srgbClr val="10261C"/>
            </a:solidFill>
            <a:prstDash val="solid"/>
          </a:ln>
        </p:spPr>
      </p:sp>
      <p:sp>
        <p:nvSpPr>
          <p:cNvPr id="9" name="Text 6"/>
          <p:cNvSpPr txBox="1"/>
          <p:nvPr/>
        </p:nvSpPr>
        <p:spPr>
          <a:xfrm>
            <a:off x="822960" y="2148840"/>
            <a:ext cx="274320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al abrir la página</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useEffect(() =&gt; {</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cargarTransacciones();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api/transacciones.js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fetch(BASE_URL +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sin método = GET</a:t>
            </a:r>
            <a:endParaRPr lang="en-US" sz="1100" dirty="0"/>
          </a:p>
        </p:txBody>
      </p:sp>
      <p:sp>
        <p:nvSpPr>
          <p:cNvPr id="10" name="Text 7"/>
          <p:cNvSpPr txBox="1"/>
          <p:nvPr/>
        </p:nvSpPr>
        <p:spPr>
          <a:xfrm>
            <a:off x="731520" y="3820160"/>
            <a:ext cx="2880360" cy="1437640"/>
          </a:xfrm>
          <a:prstGeom prst="rect">
            <a:avLst/>
          </a:prstGeom>
          <a:noFill/>
          <a:ln/>
        </p:spPr>
        <p:txBody>
          <a:bodyPr wrap="square" lIns="0" tIns="0" rIns="0" bIns="0" rtlCol="0" anchor="t"/>
          <a:lstStyle/>
          <a:p>
            <a:pPr indent="0" marL="0">
              <a:buNone/>
            </a:pPr>
            <a:r>
              <a:rPr lang="en-US" sz="1300" dirty="0">
                <a:solidFill>
                  <a:schemeClr val="tx2"/>
                </a:solidFill>
              </a:rPr>
              <a:t>Apenas se abre la página, useEffect pide la lista. No hay que presionar ningún botón.</a:t>
            </a:r>
            <a:endParaRPr lang="en-US" sz="1300" dirty="0"/>
          </a:p>
        </p:txBody>
      </p:sp>
      <p:sp>
        <p:nvSpPr>
          <p:cNvPr id="11" name="Shape 8"/>
          <p:cNvSpPr/>
          <p:nvPr/>
        </p:nvSpPr>
        <p:spPr>
          <a:xfrm>
            <a:off x="3849624" y="2926080"/>
            <a:ext cx="499720" cy="292608"/>
          </a:xfrm>
          <a:prstGeom prst="rightArrow">
            <a:avLst/>
          </a:prstGeom>
          <a:solidFill>
            <a:schemeClr val="accent5"/>
          </a:solidFill>
          <a:ln w="12700">
            <a:solidFill>
              <a:schemeClr val="accent5"/>
            </a:solidFill>
            <a:prstDash val="solid"/>
          </a:ln>
        </p:spPr>
      </p:sp>
      <p:sp>
        <p:nvSpPr>
          <p:cNvPr id="12" name="Shape 9"/>
          <p:cNvSpPr/>
          <p:nvPr/>
        </p:nvSpPr>
        <p:spPr>
          <a:xfrm>
            <a:off x="4404208" y="1188720"/>
            <a:ext cx="3886200" cy="4160520"/>
          </a:xfrm>
          <a:prstGeom prst="roundRect">
            <a:avLst>
              <a:gd name="adj" fmla="val 2824"/>
            </a:avLst>
          </a:prstGeom>
          <a:solidFill>
            <a:schemeClr val="bg2"/>
          </a:solidFill>
          <a:ln w="12700">
            <a:solidFill>
              <a:schemeClr val="bg2"/>
            </a:solidFill>
            <a:prstDash val="solid"/>
          </a:ln>
        </p:spPr>
      </p:sp>
      <p:sp>
        <p:nvSpPr>
          <p:cNvPr id="13" name="Shape 10"/>
          <p:cNvSpPr/>
          <p:nvPr/>
        </p:nvSpPr>
        <p:spPr>
          <a:xfrm>
            <a:off x="4587088" y="1325880"/>
            <a:ext cx="548640" cy="54864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724248" y="1463040"/>
            <a:ext cx="274320" cy="274320"/>
          </a:xfrm>
          <a:prstGeom prst="rect">
            <a:avLst/>
          </a:prstGeom>
        </p:spPr>
      </p:pic>
      <p:sp>
        <p:nvSpPr>
          <p:cNvPr id="15" name="Text 11"/>
          <p:cNvSpPr txBox="1"/>
          <p:nvPr/>
        </p:nvSpPr>
        <p:spPr>
          <a:xfrm>
            <a:off x="5272888" y="1307592"/>
            <a:ext cx="2880360" cy="310896"/>
          </a:xfrm>
          <a:prstGeom prst="rect">
            <a:avLst/>
          </a:prstGeom>
          <a:noFill/>
          <a:ln/>
        </p:spPr>
        <p:txBody>
          <a:bodyPr wrap="square" lIns="0" tIns="0" rIns="0" bIns="0" rtlCol="0" anchor="ctr"/>
          <a:lstStyle/>
          <a:p>
            <a:pPr indent="0" marL="0">
              <a:buNone/>
            </a:pPr>
            <a:r>
              <a:rPr lang="en-US" sz="1600" b="1" dirty="0">
                <a:solidFill>
                  <a:schemeClr val="accent1"/>
                </a:solidFill>
              </a:rPr>
              <a:t>BACKEND</a:t>
            </a:r>
            <a:endParaRPr lang="en-US" sz="1600" dirty="0"/>
          </a:p>
        </p:txBody>
      </p:sp>
      <p:sp>
        <p:nvSpPr>
          <p:cNvPr id="16" name="Text 12"/>
          <p:cNvSpPr txBox="1"/>
          <p:nvPr/>
        </p:nvSpPr>
        <p:spPr>
          <a:xfrm>
            <a:off x="5272888" y="1609344"/>
            <a:ext cx="2880360" cy="274320"/>
          </a:xfrm>
          <a:prstGeom prst="rect">
            <a:avLst/>
          </a:prstGeom>
          <a:noFill/>
          <a:ln/>
        </p:spPr>
        <p:txBody>
          <a:bodyPr wrap="square" lIns="0" tIns="0" rIns="0" bIns="0" rtlCol="0" anchor="ctr"/>
          <a:lstStyle/>
          <a:p>
            <a:pPr indent="0" marL="0">
              <a:buNone/>
            </a:pPr>
            <a:r>
              <a:rPr lang="en-US" sz="1200" dirty="0">
                <a:solidFill>
                  <a:schemeClr val="accent5"/>
                </a:solidFill>
              </a:rPr>
              <a:t>Flask · la API</a:t>
            </a:r>
            <a:endParaRPr lang="en-US" sz="1200" dirty="0"/>
          </a:p>
        </p:txBody>
      </p:sp>
      <p:sp>
        <p:nvSpPr>
          <p:cNvPr id="17" name="Shape 13"/>
          <p:cNvSpPr/>
          <p:nvPr/>
        </p:nvSpPr>
        <p:spPr>
          <a:xfrm>
            <a:off x="4541368" y="2011680"/>
            <a:ext cx="3611880" cy="1717040"/>
          </a:xfrm>
          <a:prstGeom prst="roundRect">
            <a:avLst>
              <a:gd name="adj" fmla="val 6391"/>
            </a:avLst>
          </a:prstGeom>
          <a:solidFill>
            <a:srgbClr val="10261C"/>
          </a:solidFill>
          <a:ln w="12700">
            <a:solidFill>
              <a:srgbClr val="10261C"/>
            </a:solidFill>
            <a:prstDash val="solid"/>
          </a:ln>
        </p:spPr>
      </p:sp>
      <p:sp>
        <p:nvSpPr>
          <p:cNvPr id="18" name="Text 14"/>
          <p:cNvSpPr txBox="1"/>
          <p:nvPr/>
        </p:nvSpPr>
        <p:spPr>
          <a:xfrm>
            <a:off x="4678528" y="2148840"/>
            <a:ext cx="338328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routes: llega el GET</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@route("/", methods=["GET"])</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def listar():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controller.listar_transacciones()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model: trae todo, en orden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db.transaccion.find_many(</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order={"id": "asc"})</a:t>
            </a:r>
            <a:endParaRPr lang="en-US" sz="1100" dirty="0"/>
          </a:p>
        </p:txBody>
      </p:sp>
      <p:sp>
        <p:nvSpPr>
          <p:cNvPr id="19" name="Text 15"/>
          <p:cNvSpPr txBox="1"/>
          <p:nvPr/>
        </p:nvSpPr>
        <p:spPr>
          <a:xfrm>
            <a:off x="4587088" y="3820160"/>
            <a:ext cx="3520440" cy="1437640"/>
          </a:xfrm>
          <a:prstGeom prst="rect">
            <a:avLst/>
          </a:prstGeom>
          <a:noFill/>
          <a:ln/>
        </p:spPr>
        <p:txBody>
          <a:bodyPr wrap="square" lIns="0" tIns="0" rIns="0" bIns="0" rtlCol="0" anchor="t"/>
          <a:lstStyle/>
          <a:p>
            <a:pPr indent="0" marL="0">
              <a:buNone/>
            </a:pPr>
            <a:r>
              <a:rPr lang="en-US" sz="1300" dirty="0">
                <a:solidFill>
                  <a:schemeClr val="tx2"/>
                </a:solidFill>
              </a:rPr>
              <a:t>El model trae todos los movimientos. El controller calcula el saldo de cada uno y el saldo disponible.</a:t>
            </a:r>
            <a:endParaRPr lang="en-US" sz="1300" dirty="0"/>
          </a:p>
        </p:txBody>
      </p:sp>
      <p:sp>
        <p:nvSpPr>
          <p:cNvPr id="20" name="Shape 16"/>
          <p:cNvSpPr/>
          <p:nvPr/>
        </p:nvSpPr>
        <p:spPr>
          <a:xfrm>
            <a:off x="8345272" y="2926080"/>
            <a:ext cx="499720" cy="292608"/>
          </a:xfrm>
          <a:prstGeom prst="rightArrow">
            <a:avLst/>
          </a:prstGeom>
          <a:solidFill>
            <a:schemeClr val="accent5"/>
          </a:solidFill>
          <a:ln w="12700">
            <a:solidFill>
              <a:schemeClr val="accent5"/>
            </a:solidFill>
            <a:prstDash val="solid"/>
          </a:ln>
        </p:spPr>
      </p:sp>
      <p:sp>
        <p:nvSpPr>
          <p:cNvPr id="21" name="Shape 17"/>
          <p:cNvSpPr/>
          <p:nvPr/>
        </p:nvSpPr>
        <p:spPr>
          <a:xfrm>
            <a:off x="8899855" y="1188720"/>
            <a:ext cx="2743200" cy="4160520"/>
          </a:xfrm>
          <a:prstGeom prst="roundRect">
            <a:avLst>
              <a:gd name="adj" fmla="val 4000"/>
            </a:avLst>
          </a:prstGeom>
          <a:solidFill>
            <a:schemeClr val="bg2"/>
          </a:solidFill>
          <a:ln w="12700">
            <a:solidFill>
              <a:schemeClr val="bg2"/>
            </a:solidFill>
            <a:prstDash val="solid"/>
          </a:ln>
        </p:spPr>
      </p:sp>
      <p:sp>
        <p:nvSpPr>
          <p:cNvPr id="22" name="Shape 18"/>
          <p:cNvSpPr/>
          <p:nvPr/>
        </p:nvSpPr>
        <p:spPr>
          <a:xfrm>
            <a:off x="9082735" y="1325880"/>
            <a:ext cx="548640" cy="548640"/>
          </a:xfrm>
          <a:prstGeom prst="ellipse">
            <a:avLst/>
          </a:prstGeom>
          <a:solidFill>
            <a:schemeClr val="tx1"/>
          </a:solidFill>
          <a:ln w="12700">
            <a:solidFill>
              <a:schemeClr val="tx1"/>
            </a:solidFill>
            <a:prstDash val="solid"/>
          </a:ln>
        </p:spPr>
      </p:sp>
      <p:pic>
        <p:nvPicPr>
          <p:cNvPr id="23" name="Image 2" descr="preencoded.png">    </p:cNvPr>
          <p:cNvPicPr>
            <a:picLocks noChangeAspect="1"/>
          </p:cNvPicPr>
          <p:nvPr/>
        </p:nvPicPr>
        <p:blipFill>
          <a:blip r:embed="rId3"/>
          <a:stretch>
            <a:fillRect/>
          </a:stretch>
        </p:blipFill>
        <p:spPr>
          <a:xfrm>
            <a:off x="9219895" y="1463040"/>
            <a:ext cx="274320" cy="274320"/>
          </a:xfrm>
          <a:prstGeom prst="rect">
            <a:avLst/>
          </a:prstGeom>
        </p:spPr>
      </p:pic>
      <p:sp>
        <p:nvSpPr>
          <p:cNvPr id="24" name="Text 19"/>
          <p:cNvSpPr txBox="1"/>
          <p:nvPr/>
        </p:nvSpPr>
        <p:spPr>
          <a:xfrm>
            <a:off x="9768535" y="1307592"/>
            <a:ext cx="1737360" cy="310896"/>
          </a:xfrm>
          <a:prstGeom prst="rect">
            <a:avLst/>
          </a:prstGeom>
          <a:noFill/>
          <a:ln/>
        </p:spPr>
        <p:txBody>
          <a:bodyPr wrap="square" lIns="0" tIns="0" rIns="0" bIns="0" rtlCol="0" anchor="ctr"/>
          <a:lstStyle/>
          <a:p>
            <a:pPr indent="0" marL="0">
              <a:buNone/>
            </a:pPr>
            <a:r>
              <a:rPr lang="en-US" sz="1600" b="1" dirty="0">
                <a:solidFill>
                  <a:schemeClr val="tx1"/>
                </a:solidFill>
              </a:rPr>
              <a:t>BASE DE DATOS</a:t>
            </a:r>
            <a:endParaRPr lang="en-US" sz="1600" dirty="0"/>
          </a:p>
        </p:txBody>
      </p:sp>
      <p:sp>
        <p:nvSpPr>
          <p:cNvPr id="25" name="Text 20"/>
          <p:cNvSpPr txBox="1"/>
          <p:nvPr/>
        </p:nvSpPr>
        <p:spPr>
          <a:xfrm>
            <a:off x="9768535" y="1609344"/>
            <a:ext cx="1737360" cy="274320"/>
          </a:xfrm>
          <a:prstGeom prst="rect">
            <a:avLst/>
          </a:prstGeom>
          <a:noFill/>
          <a:ln/>
        </p:spPr>
        <p:txBody>
          <a:bodyPr wrap="square" lIns="0" tIns="0" rIns="0" bIns="0" rtlCol="0" anchor="ctr"/>
          <a:lstStyle/>
          <a:p>
            <a:pPr indent="0" marL="0">
              <a:buNone/>
            </a:pPr>
            <a:r>
              <a:rPr lang="en-US" sz="1200" dirty="0">
                <a:solidFill>
                  <a:schemeClr val="accent5"/>
                </a:solidFill>
              </a:rPr>
              <a:t>MySQL · los datos</a:t>
            </a:r>
            <a:endParaRPr lang="en-US" sz="1200" dirty="0"/>
          </a:p>
        </p:txBody>
      </p:sp>
      <p:sp>
        <p:nvSpPr>
          <p:cNvPr id="26" name="Shape 21"/>
          <p:cNvSpPr/>
          <p:nvPr/>
        </p:nvSpPr>
        <p:spPr>
          <a:xfrm>
            <a:off x="9037015" y="2011680"/>
            <a:ext cx="2468880" cy="669290"/>
          </a:xfrm>
          <a:prstGeom prst="roundRect">
            <a:avLst>
              <a:gd name="adj" fmla="val 16395"/>
            </a:avLst>
          </a:prstGeom>
          <a:solidFill>
            <a:srgbClr val="10261C"/>
          </a:solidFill>
          <a:ln w="12700">
            <a:solidFill>
              <a:srgbClr val="10261C"/>
            </a:solidFill>
            <a:prstDash val="solid"/>
          </a:ln>
        </p:spPr>
      </p:sp>
      <p:sp>
        <p:nvSpPr>
          <p:cNvPr id="27" name="Text 22"/>
          <p:cNvSpPr txBox="1"/>
          <p:nvPr/>
        </p:nvSpPr>
        <p:spPr>
          <a:xfrm>
            <a:off x="9174175" y="2148840"/>
            <a:ext cx="2240280" cy="440690"/>
          </a:xfrm>
          <a:prstGeom prst="rect">
            <a:avLst/>
          </a:prstGeom>
          <a:noFill/>
          <a:ln/>
        </p:spPr>
        <p:txBody>
          <a:bodyPr wrap="square" lIns="0" tIns="0" rIns="0" bIns="0" rtlCol="0" anchor="t"/>
          <a:lstStyle/>
          <a:p>
            <a:pPr indent="0" marL="0">
              <a:buNone/>
            </a:pPr>
            <a:r>
              <a:rPr lang="en-US" sz="1100" dirty="0">
                <a:solidFill>
                  <a:srgbClr val="8CC4F2"/>
                </a:solidFill>
                <a:latin typeface="Courier New" pitchFamily="34" charset="0"/>
                <a:ea typeface="Courier New" pitchFamily="34" charset="-122"/>
                <a:cs typeface="Courier New" pitchFamily="34" charset="-120"/>
              </a:rPr>
              <a:t>SELECT * FROM Transaccion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ORDER BY id ASC;</a:t>
            </a:r>
            <a:endParaRPr lang="en-US" sz="1100" dirty="0"/>
          </a:p>
        </p:txBody>
      </p:sp>
      <p:sp>
        <p:nvSpPr>
          <p:cNvPr id="28" name="Text 23"/>
          <p:cNvSpPr txBox="1"/>
          <p:nvPr/>
        </p:nvSpPr>
        <p:spPr>
          <a:xfrm>
            <a:off x="9082735" y="2772410"/>
            <a:ext cx="2377440" cy="2485390"/>
          </a:xfrm>
          <a:prstGeom prst="rect">
            <a:avLst/>
          </a:prstGeom>
          <a:noFill/>
          <a:ln/>
        </p:spPr>
        <p:txBody>
          <a:bodyPr wrap="square" lIns="0" tIns="0" rIns="0" bIns="0" rtlCol="0" anchor="t"/>
          <a:lstStyle/>
          <a:p>
            <a:pPr indent="0" marL="0">
              <a:buNone/>
            </a:pPr>
            <a:r>
              <a:rPr lang="en-US" sz="1300" dirty="0">
                <a:solidFill>
                  <a:schemeClr val="tx2"/>
                </a:solidFill>
              </a:rPr>
              <a:t>MySQL devuelve todas las filas, de la más vieja a la más nueva, para poder ir sumando y restando.</a:t>
            </a:r>
            <a:endParaRPr lang="en-US" sz="1300" dirty="0"/>
          </a:p>
        </p:txBody>
      </p:sp>
      <p:sp>
        <p:nvSpPr>
          <p:cNvPr id="29" name="Text 24"/>
          <p:cNvSpPr txBox="1"/>
          <p:nvPr/>
        </p:nvSpPr>
        <p:spPr>
          <a:xfrm>
            <a:off x="3703320"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GET</a:t>
            </a:r>
            <a:endParaRPr lang="en-US" sz="900" dirty="0"/>
          </a:p>
        </p:txBody>
      </p:sp>
      <p:sp>
        <p:nvSpPr>
          <p:cNvPr id="30" name="Text 25"/>
          <p:cNvSpPr txBox="1"/>
          <p:nvPr/>
        </p:nvSpPr>
        <p:spPr>
          <a:xfrm>
            <a:off x="8198968"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Prisma: find_many()</a:t>
            </a:r>
            <a:endParaRPr lang="en-US" sz="900" dirty="0"/>
          </a:p>
        </p:txBody>
      </p:sp>
      <p:sp>
        <p:nvSpPr>
          <p:cNvPr id="31" name="Shape 26"/>
          <p:cNvSpPr/>
          <p:nvPr/>
        </p:nvSpPr>
        <p:spPr>
          <a:xfrm>
            <a:off x="548640" y="5486400"/>
            <a:ext cx="11094415" cy="658368"/>
          </a:xfrm>
          <a:prstGeom prst="roundRect">
            <a:avLst>
              <a:gd name="adj" fmla="val 16667"/>
            </a:avLst>
          </a:prstGeom>
          <a:solidFill>
            <a:schemeClr val="tx1"/>
          </a:solidFill>
          <a:ln w="12700">
            <a:solidFill>
              <a:schemeClr val="tx1"/>
            </a:solidFill>
            <a:prstDash val="solid"/>
          </a:ln>
        </p:spPr>
      </p:sp>
      <p:sp>
        <p:nvSpPr>
          <p:cNvPr id="32" name="Shape 27"/>
          <p:cNvSpPr/>
          <p:nvPr/>
        </p:nvSpPr>
        <p:spPr>
          <a:xfrm>
            <a:off x="777240" y="5650992"/>
            <a:ext cx="640080" cy="329184"/>
          </a:xfrm>
          <a:prstGeom prst="leftArrow">
            <a:avLst/>
          </a:prstGeom>
          <a:solidFill>
            <a:schemeClr val="accent6"/>
          </a:solidFill>
          <a:ln w="12700">
            <a:solidFill>
              <a:schemeClr val="accent6"/>
            </a:solidFill>
            <a:prstDash val="solid"/>
          </a:ln>
        </p:spPr>
      </p:sp>
      <p:sp>
        <p:nvSpPr>
          <p:cNvPr id="33" name="Text 28"/>
          <p:cNvSpPr txBox="1"/>
          <p:nvPr/>
        </p:nvSpPr>
        <p:spPr>
          <a:xfrm>
            <a:off x="1600200" y="5486400"/>
            <a:ext cx="9859975" cy="658368"/>
          </a:xfrm>
          <a:prstGeom prst="rect">
            <a:avLst/>
          </a:prstGeom>
          <a:noFill/>
          <a:ln/>
        </p:spPr>
        <p:txBody>
          <a:bodyPr wrap="square" lIns="0" tIns="0" rIns="0" bIns="0" rtlCol="0" anchor="ctr"/>
          <a:lstStyle/>
          <a:p>
            <a:pPr indent="0" marL="0">
              <a:buNone/>
            </a:pPr>
            <a:r>
              <a:rPr lang="en-US" sz="1500" b="1" dirty="0">
                <a:solidFill>
                  <a:schemeClr val="accent6"/>
                </a:solidFill>
              </a:rPr>
              <a:t>De vuelta: </a:t>
            </a:r>
            <a:pPr indent="0" marL="0">
              <a:buNone/>
            </a:pPr>
            <a:r>
              <a:rPr lang="en-US" sz="1500" dirty="0">
                <a:solidFill>
                  <a:schemeClr val="bg1"/>
                </a:solidFill>
              </a:rPr>
              <a:t>200 (OK) + JSON con el saldo y la lista → la pantalla dibuja el saldo arriba y la tabla de movimientos.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¿Cómo se calcula el saldo?</a:t>
            </a:r>
            <a:endParaRPr lang="en-US" sz="3400" dirty="0"/>
          </a:p>
        </p:txBody>
      </p:sp>
      <p:sp>
        <p:nvSpPr>
          <p:cNvPr id="3" name="Shape 1"/>
          <p:cNvSpPr/>
          <p:nvPr/>
        </p:nvSpPr>
        <p:spPr>
          <a:xfrm>
            <a:off x="548640" y="1234440"/>
            <a:ext cx="6675120" cy="3151632"/>
          </a:xfrm>
          <a:prstGeom prst="roundRect">
            <a:avLst>
              <a:gd name="adj" fmla="val 3482"/>
            </a:avLst>
          </a:prstGeom>
          <a:solidFill>
            <a:srgbClr val="10261C"/>
          </a:solidFill>
          <a:ln w="12700">
            <a:solidFill>
              <a:srgbClr val="10261C"/>
            </a:solidFill>
            <a:prstDash val="solid"/>
          </a:ln>
        </p:spPr>
      </p:sp>
      <p:sp>
        <p:nvSpPr>
          <p:cNvPr id="4" name="Text 2"/>
          <p:cNvSpPr txBox="1"/>
          <p:nvPr/>
        </p:nvSpPr>
        <p:spPr>
          <a:xfrm>
            <a:off x="822960" y="1463040"/>
            <a:ext cx="6217920" cy="2740152"/>
          </a:xfrm>
          <a:prstGeom prst="rect">
            <a:avLst/>
          </a:prstGeom>
          <a:noFill/>
          <a:ln/>
        </p:spPr>
        <p:txBody>
          <a:bodyPr wrap="square" lIns="0" tIns="0" rIns="0" bIns="0" rtlCol="0" anchor="t"/>
          <a:lstStyle/>
          <a:p>
            <a:pPr indent="0" marL="0">
              <a:buNone/>
            </a:pPr>
            <a:r>
              <a:rPr lang="en-US" sz="1400" b="1" dirty="0">
                <a:solidFill>
                  <a:srgbClr val="F2C14E"/>
                </a:solidFill>
                <a:latin typeface="Courier New" pitchFamily="34" charset="0"/>
                <a:ea typeface="Courier New" pitchFamily="34" charset="-122"/>
                <a:cs typeface="Courier New" pitchFamily="34" charset="-120"/>
              </a:rPr>
              <a:t># Cada tipo dice si suma (+1) o resta (-1)</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TIPOS = {</a:t>
            </a:r>
            <a:endParaRPr lang="en-US" sz="1400" dirty="0"/>
          </a:p>
          <a:p>
            <a:pPr indent="0" marL="0">
              <a:buNone/>
            </a:pPr>
            <a:r>
              <a:rPr lang="en-US" sz="1400" dirty="0">
                <a:solidFill>
                  <a:srgbClr val="A8E6CB"/>
                </a:solidFill>
                <a:latin typeface="Courier New" pitchFamily="34" charset="0"/>
                <a:ea typeface="Courier New" pitchFamily="34" charset="-122"/>
                <a:cs typeface="Courier New" pitchFamily="34" charset="-120"/>
              </a:rPr>
              <a:t>    "CONSIGNAR": +1,   "AVANCE": +1,</a:t>
            </a:r>
            <a:endParaRPr lang="en-US" sz="1400" dirty="0"/>
          </a:p>
          <a:p>
            <a:pPr indent="0" marL="0">
              <a:buNone/>
            </a:pPr>
            <a:r>
              <a:rPr lang="en-US" sz="1400" dirty="0">
                <a:solidFill>
                  <a:srgbClr val="F2A7B5"/>
                </a:solidFill>
                <a:latin typeface="Courier New" pitchFamily="34" charset="0"/>
                <a:ea typeface="Courier New" pitchFamily="34" charset="-122"/>
                <a:cs typeface="Courier New" pitchFamily="34" charset="-120"/>
              </a:rPr>
              <a:t>    "PAGAR": -1,       "TRANSFERIR": -1,</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CC4F2"/>
                </a:solidFill>
                <a:latin typeface="Courier New" pitchFamily="34" charset="0"/>
                <a:ea typeface="Courier New" pitchFamily="34" charset="-122"/>
                <a:cs typeface="Courier New" pitchFamily="34" charset="-120"/>
              </a:rPr>
              <a:t>def calcular_saldos(movimientos):</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saldo = 0                  # empieza en 0</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for t in movimientos:      # de viejo a nuevo</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saldo = saldo + TIPOS[t["tipo"]] * t["monto"]</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 se anota el saldo en el movimiento ...</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return resultado</a:t>
            </a:r>
            <a:endParaRPr lang="en-US" sz="1400" dirty="0"/>
          </a:p>
        </p:txBody>
      </p:sp>
      <p:sp>
        <p:nvSpPr>
          <p:cNvPr id="5" name="Text 3"/>
          <p:cNvSpPr txBox="1"/>
          <p:nvPr/>
        </p:nvSpPr>
        <p:spPr>
          <a:xfrm>
            <a:off x="548640" y="4459224"/>
            <a:ext cx="6675120" cy="256032"/>
          </a:xfrm>
          <a:prstGeom prst="rect">
            <a:avLst/>
          </a:prstGeom>
          <a:noFill/>
          <a:ln/>
        </p:spPr>
        <p:txBody>
          <a:bodyPr wrap="square" lIns="0" tIns="0" rIns="0" bIns="0" rtlCol="0" anchor="ctr"/>
          <a:lstStyle/>
          <a:p>
            <a:pPr indent="0" marL="0">
              <a:buNone/>
            </a:pPr>
            <a:r>
              <a:rPr lang="en-US" sz="1000" i="1" dirty="0">
                <a:solidFill>
                  <a:schemeClr val="accent5"/>
                </a:solidFill>
              </a:rPr>
              <a:t>Código del controller (backend), resumido para la explicación.</a:t>
            </a:r>
            <a:endParaRPr lang="en-US" sz="1000" dirty="0"/>
          </a:p>
        </p:txBody>
      </p:sp>
      <p:sp>
        <p:nvSpPr>
          <p:cNvPr id="6" name="Text 4"/>
          <p:cNvSpPr txBox="1"/>
          <p:nvPr/>
        </p:nvSpPr>
        <p:spPr>
          <a:xfrm>
            <a:off x="7543800" y="1234440"/>
            <a:ext cx="4099255" cy="365760"/>
          </a:xfrm>
          <a:prstGeom prst="rect">
            <a:avLst/>
          </a:prstGeom>
          <a:noFill/>
          <a:ln/>
        </p:spPr>
        <p:txBody>
          <a:bodyPr wrap="square" lIns="0" tIns="0" rIns="0" bIns="0" rtlCol="0" anchor="ctr"/>
          <a:lstStyle/>
          <a:p>
            <a:pPr indent="0" marL="0">
              <a:buNone/>
            </a:pPr>
            <a:r>
              <a:rPr lang="en-US" sz="1800" b="1" dirty="0">
                <a:solidFill>
                  <a:schemeClr val="tx1"/>
                </a:solidFill>
              </a:rPr>
              <a:t>Ejemplo: así va cambiando el saldo</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543800" y="1691640"/>
          <a:ext cx="4099255" cy="914400"/>
        </p:xfrm>
        <a:graphic>
          <a:graphicData uri="http://schemas.openxmlformats.org/drawingml/2006/table">
            <a:tbl>
              <a:tblPr/>
              <a:tblGrid>
                <a:gridCol w="1691640"/>
                <a:gridCol w="1234440"/>
                <a:gridCol w="1173175"/>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Movimiento</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Cuenta</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Saldo</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0B3D2C"/>
                    </a:solidFill>
                  </a:tcPr>
                </a:tc>
              </a:tr>
              <a:tr h="457200">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Inicio</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3343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Consignar 3.500.000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r" indent="0" marL="0">
                        <a:buNone/>
                      </a:pPr>
                      <a:r>
                        <a:rPr lang="en-US" sz="1300" dirty="0">
                          <a:solidFill>
                            <a:srgbClr val="0E8A5F"/>
                          </a:solidFill>
                          <a:latin typeface="Calibri" pitchFamily="34" charset="0"/>
                          <a:ea typeface="Calibri" pitchFamily="34" charset="-122"/>
                          <a:cs typeface="Calibri" pitchFamily="34" charset="-120"/>
                        </a:rPr>
                        <a:t>+1 × 3.500.000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r" indent="0" marL="0">
                        <a:buNone/>
                      </a:pPr>
                      <a:r>
                        <a:rPr lang="en-US" sz="1300" b="1" dirty="0">
                          <a:solidFill>
                            <a:srgbClr val="33433B"/>
                          </a:solidFill>
                          <a:latin typeface="Calibri" pitchFamily="34" charset="0"/>
                          <a:ea typeface="Calibri" pitchFamily="34" charset="-122"/>
                          <a:cs typeface="Calibri" pitchFamily="34" charset="-120"/>
                        </a:rPr>
                        <a:t>$3.500.000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r>
              <a:tr h="457200">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Pagar 420.000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C2415B"/>
                          </a:solidFill>
                          <a:latin typeface="Calibri" pitchFamily="34" charset="0"/>
                          <a:ea typeface="Calibri" pitchFamily="34" charset="-122"/>
                          <a:cs typeface="Calibri" pitchFamily="34" charset="-120"/>
                        </a:rPr>
                        <a:t>−1 × 420.000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33433B"/>
                          </a:solidFill>
                          <a:latin typeface="Calibri" pitchFamily="34" charset="0"/>
                          <a:ea typeface="Calibri" pitchFamily="34" charset="-122"/>
                          <a:cs typeface="Calibri" pitchFamily="34" charset="-120"/>
                        </a:rPr>
                        <a:t>$3.080.000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Transferir 850.000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r" indent="0" marL="0">
                        <a:buNone/>
                      </a:pPr>
                      <a:r>
                        <a:rPr lang="en-US" sz="1300" dirty="0">
                          <a:solidFill>
                            <a:srgbClr val="C2415B"/>
                          </a:solidFill>
                          <a:latin typeface="Calibri" pitchFamily="34" charset="0"/>
                          <a:ea typeface="Calibri" pitchFamily="34" charset="-122"/>
                          <a:cs typeface="Calibri" pitchFamily="34" charset="-120"/>
                        </a:rPr>
                        <a:t>−1 × 850.000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c>
                  <a:txBody>
                    <a:bodyPr/>
                    <a:lstStyle/>
                    <a:p>
                      <a:pPr algn="r" indent="0" marL="0">
                        <a:buNone/>
                      </a:pPr>
                      <a:r>
                        <a:rPr lang="en-US" sz="1300" b="1" dirty="0">
                          <a:solidFill>
                            <a:srgbClr val="33433B"/>
                          </a:solidFill>
                          <a:latin typeface="Calibri" pitchFamily="34" charset="0"/>
                          <a:ea typeface="Calibri" pitchFamily="34" charset="-122"/>
                          <a:cs typeface="Calibri" pitchFamily="34" charset="-120"/>
                        </a:rPr>
                        <a:t>$2.230.000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EEF6F1"/>
                    </a:solidFill>
                  </a:tcPr>
                </a:tc>
              </a:tr>
              <a:tr h="457200">
                <a:tc>
                  <a:txBody>
                    <a:bodyPr/>
                    <a:lstStyle/>
                    <a:p>
                      <a:pPr algn="l" indent="0" marL="0">
                        <a:buNone/>
                      </a:pPr>
                      <a:r>
                        <a:rPr lang="en-US" sz="1300" dirty="0">
                          <a:solidFill>
                            <a:srgbClr val="33433B"/>
                          </a:solidFill>
                          <a:latin typeface="Calibri" pitchFamily="34" charset="0"/>
                          <a:ea typeface="Calibri" pitchFamily="34" charset="-122"/>
                          <a:cs typeface="Calibri" pitchFamily="34" charset="-120"/>
                        </a:rPr>
                        <a:t>Avance 1.000.000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E8A5F"/>
                          </a:solidFill>
                          <a:latin typeface="Calibri" pitchFamily="34" charset="0"/>
                          <a:ea typeface="Calibri" pitchFamily="34" charset="-122"/>
                          <a:cs typeface="Calibri" pitchFamily="34" charset="-120"/>
                        </a:rPr>
                        <a:t>+1 × 1.000.000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33433B"/>
                          </a:solidFill>
                          <a:latin typeface="Calibri" pitchFamily="34" charset="0"/>
                          <a:ea typeface="Calibri" pitchFamily="34" charset="-122"/>
                          <a:cs typeface="Calibri" pitchFamily="34" charset="-120"/>
                        </a:rPr>
                        <a:t>$3.230.000</a:t>
                      </a:r>
                      <a:endParaRPr lang="en-US" sz="1300" dirty="0">
                        <a:latin typeface="Calibri" charset="0"/>
                        <a:ea typeface="Calibri" charset="0"/>
                        <a:cs typeface="Calibri" charset="0"/>
                      </a:endParaRPr>
                    </a:p>
                  </a:txBody>
                  <a:tcPr marL="91440" marR="91440" marT="45720" marB="45720" anchor="ctr">
                    <a:lnL w="6350" cap="flat" cmpd="sng" algn="ctr">
                      <a:solidFill>
                        <a:srgbClr val="D5E3DA"/>
                      </a:solidFill>
                      <a:prstDash val="solid"/>
                      <a:round/>
                      <a:headEnd type="none" w="med" len="med"/>
                      <a:tailEnd type="none" w="med" len="med"/>
                    </a:lnL>
                    <a:lnR w="6350" cap="flat" cmpd="sng" algn="ctr">
                      <a:solidFill>
                        <a:srgbClr val="D5E3DA"/>
                      </a:solidFill>
                      <a:prstDash val="solid"/>
                      <a:round/>
                      <a:headEnd type="none" w="med" len="med"/>
                      <a:tailEnd type="none" w="med" len="med"/>
                    </a:lnR>
                    <a:lnT w="6350" cap="flat" cmpd="sng" algn="ctr">
                      <a:solidFill>
                        <a:srgbClr val="D5E3DA"/>
                      </a:solidFill>
                      <a:prstDash val="solid"/>
                      <a:round/>
                      <a:headEnd type="none" w="med" len="med"/>
                      <a:tailEnd type="none" w="med" len="med"/>
                    </a:lnT>
                    <a:lnB w="6350" cap="flat" cmpd="sng" algn="ctr">
                      <a:solidFill>
                        <a:srgbClr val="D5E3DA"/>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120640"/>
            <a:ext cx="11094415" cy="1005840"/>
          </a:xfrm>
          <a:prstGeom prst="roundRect">
            <a:avLst>
              <a:gd name="adj" fmla="val 10909"/>
            </a:avLst>
          </a:prstGeom>
          <a:solidFill>
            <a:schemeClr val="tx1"/>
          </a:solidFill>
          <a:ln w="12700">
            <a:solidFill>
              <a:schemeClr val="tx1"/>
            </a:solidFill>
            <a:prstDash val="solid"/>
          </a:ln>
        </p:spPr>
      </p:sp>
      <p:sp>
        <p:nvSpPr>
          <p:cNvPr id="9" name="Text 6"/>
          <p:cNvSpPr txBox="1"/>
          <p:nvPr/>
        </p:nvSpPr>
        <p:spPr>
          <a:xfrm>
            <a:off x="822960" y="5166360"/>
            <a:ext cx="10545775" cy="914400"/>
          </a:xfrm>
          <a:prstGeom prst="rect">
            <a:avLst/>
          </a:prstGeom>
          <a:noFill/>
          <a:ln/>
        </p:spPr>
        <p:txBody>
          <a:bodyPr wrap="square" lIns="0" tIns="0" rIns="0" bIns="0" rtlCol="0" anchor="ctr"/>
          <a:lstStyle/>
          <a:p>
            <a:pPr indent="0" marL="0">
              <a:buNone/>
            </a:pPr>
            <a:r>
              <a:rPr lang="en-US" sz="1700" b="1" dirty="0">
                <a:solidFill>
                  <a:schemeClr val="accent6"/>
                </a:solidFill>
              </a:rPr>
              <a:t>¿Por qué el saldo no se guarda? </a:t>
            </a:r>
            <a:pPr indent="0" marL="0">
              <a:buNone/>
            </a:pPr>
            <a:r>
              <a:rPr lang="en-US" sz="1700" dirty="0">
                <a:solidFill>
                  <a:schemeClr val="bg1"/>
                </a:solidFill>
              </a:rPr>
              <a:t>Porque si edito o borro un movimiento viejo, un saldo guardado quedaría descuadrado. Calculándolo cada vez, siempre coincide.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4"/>
                </a:solidFill>
              </a:rPr>
              <a:t>U · </a:t>
            </a:r>
            <a:pPr algn="l" indent="0" marL="0">
              <a:buNone/>
            </a:pPr>
            <a:r>
              <a:rPr lang="en-US" sz="3400" b="1" dirty="0">
                <a:solidFill>
                  <a:schemeClr val="tx1"/>
                </a:solidFill>
              </a:rPr>
              <a:t>Modificar: el recorrido completo</a:t>
            </a:r>
            <a:endParaRPr lang="en-US" sz="3400" dirty="0"/>
          </a:p>
        </p:txBody>
      </p:sp>
      <p:sp>
        <p:nvSpPr>
          <p:cNvPr id="3" name="Shape 1"/>
          <p:cNvSpPr/>
          <p:nvPr/>
        </p:nvSpPr>
        <p:spPr>
          <a:xfrm>
            <a:off x="548640" y="1188720"/>
            <a:ext cx="3246120" cy="4160520"/>
          </a:xfrm>
          <a:prstGeom prst="roundRect">
            <a:avLst>
              <a:gd name="adj" fmla="val 3380"/>
            </a:avLst>
          </a:prstGeom>
          <a:solidFill>
            <a:schemeClr val="bg2"/>
          </a:solidFill>
          <a:ln w="12700">
            <a:solidFill>
              <a:schemeClr val="bg2"/>
            </a:solidFill>
            <a:prstDash val="solid"/>
          </a:ln>
        </p:spPr>
      </p:sp>
      <p:sp>
        <p:nvSpPr>
          <p:cNvPr id="4" name="Shape 2"/>
          <p:cNvSpPr/>
          <p:nvPr/>
        </p:nvSpPr>
        <p:spPr>
          <a:xfrm>
            <a:off x="731520" y="1325880"/>
            <a:ext cx="548640" cy="54864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Text 3"/>
          <p:cNvSpPr txBox="1"/>
          <p:nvPr/>
        </p:nvSpPr>
        <p:spPr>
          <a:xfrm>
            <a:off x="1417320" y="1307592"/>
            <a:ext cx="2240280" cy="310896"/>
          </a:xfrm>
          <a:prstGeom prst="rect">
            <a:avLst/>
          </a:prstGeom>
          <a:noFill/>
          <a:ln/>
        </p:spPr>
        <p:txBody>
          <a:bodyPr wrap="square" lIns="0" tIns="0" rIns="0" bIns="0" rtlCol="0" anchor="ctr"/>
          <a:lstStyle/>
          <a:p>
            <a:pPr indent="0" marL="0">
              <a:buNone/>
            </a:pPr>
            <a:r>
              <a:rPr lang="en-US" sz="1600" b="1" dirty="0">
                <a:solidFill>
                  <a:schemeClr val="accent3"/>
                </a:solidFill>
              </a:rPr>
              <a:t>FRONTEND</a:t>
            </a:r>
            <a:endParaRPr lang="en-US" sz="1600" dirty="0"/>
          </a:p>
        </p:txBody>
      </p:sp>
      <p:sp>
        <p:nvSpPr>
          <p:cNvPr id="7" name="Text 4"/>
          <p:cNvSpPr txBox="1"/>
          <p:nvPr/>
        </p:nvSpPr>
        <p:spPr>
          <a:xfrm>
            <a:off x="1417320" y="1609344"/>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React · la pantalla</a:t>
            </a:r>
            <a:endParaRPr lang="en-US" sz="1200" dirty="0"/>
          </a:p>
        </p:txBody>
      </p:sp>
      <p:sp>
        <p:nvSpPr>
          <p:cNvPr id="8" name="Shape 5"/>
          <p:cNvSpPr/>
          <p:nvPr/>
        </p:nvSpPr>
        <p:spPr>
          <a:xfrm>
            <a:off x="685800" y="2011680"/>
            <a:ext cx="2971800" cy="1717040"/>
          </a:xfrm>
          <a:prstGeom prst="roundRect">
            <a:avLst>
              <a:gd name="adj" fmla="val 6391"/>
            </a:avLst>
          </a:prstGeom>
          <a:solidFill>
            <a:srgbClr val="10261C"/>
          </a:solidFill>
          <a:ln w="12700">
            <a:solidFill>
              <a:srgbClr val="10261C"/>
            </a:solidFill>
            <a:prstDash val="solid"/>
          </a:ln>
        </p:spPr>
      </p:sp>
      <p:sp>
        <p:nvSpPr>
          <p:cNvPr id="9" name="Text 6"/>
          <p:cNvSpPr txBox="1"/>
          <p:nvPr/>
        </p:nvSpPr>
        <p:spPr>
          <a:xfrm>
            <a:off x="822960" y="2148840"/>
            <a:ext cx="274320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«Editar» llena el formulario;</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al guardar: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await actualizarTransaccion(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editandoId, datos);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api/transacciones.js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fetch(BASE_URL + "/" + id, {</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  method: "PUT", body: ... });</a:t>
            </a:r>
            <a:endParaRPr lang="en-US" sz="1100" dirty="0"/>
          </a:p>
        </p:txBody>
      </p:sp>
      <p:sp>
        <p:nvSpPr>
          <p:cNvPr id="10" name="Text 7"/>
          <p:cNvSpPr txBox="1"/>
          <p:nvPr/>
        </p:nvSpPr>
        <p:spPr>
          <a:xfrm>
            <a:off x="731520" y="3820160"/>
            <a:ext cx="2880360" cy="1437640"/>
          </a:xfrm>
          <a:prstGeom prst="rect">
            <a:avLst/>
          </a:prstGeom>
          <a:noFill/>
          <a:ln/>
        </p:spPr>
        <p:txBody>
          <a:bodyPr wrap="square" lIns="0" tIns="0" rIns="0" bIns="0" rtlCol="0" anchor="t"/>
          <a:lstStyle/>
          <a:p>
            <a:pPr indent="0" marL="0">
              <a:buNone/>
            </a:pPr>
            <a:r>
              <a:rPr lang="en-US" sz="1300" dirty="0">
                <a:solidFill>
                  <a:schemeClr val="tx2"/>
                </a:solidFill>
              </a:rPr>
              <a:t>«Editar» copia el movimiento al formulario. Al presionar «Guardar cambios» se envía un PUT con el id.</a:t>
            </a:r>
            <a:endParaRPr lang="en-US" sz="1300" dirty="0"/>
          </a:p>
        </p:txBody>
      </p:sp>
      <p:sp>
        <p:nvSpPr>
          <p:cNvPr id="11" name="Shape 8"/>
          <p:cNvSpPr/>
          <p:nvPr/>
        </p:nvSpPr>
        <p:spPr>
          <a:xfrm>
            <a:off x="3849624" y="2926080"/>
            <a:ext cx="499720" cy="292608"/>
          </a:xfrm>
          <a:prstGeom prst="rightArrow">
            <a:avLst/>
          </a:prstGeom>
          <a:solidFill>
            <a:schemeClr val="accent5"/>
          </a:solidFill>
          <a:ln w="12700">
            <a:solidFill>
              <a:schemeClr val="accent5"/>
            </a:solidFill>
            <a:prstDash val="solid"/>
          </a:ln>
        </p:spPr>
      </p:sp>
      <p:sp>
        <p:nvSpPr>
          <p:cNvPr id="12" name="Shape 9"/>
          <p:cNvSpPr/>
          <p:nvPr/>
        </p:nvSpPr>
        <p:spPr>
          <a:xfrm>
            <a:off x="4404208" y="1188720"/>
            <a:ext cx="3886200" cy="4160520"/>
          </a:xfrm>
          <a:prstGeom prst="roundRect">
            <a:avLst>
              <a:gd name="adj" fmla="val 2824"/>
            </a:avLst>
          </a:prstGeom>
          <a:solidFill>
            <a:schemeClr val="bg2"/>
          </a:solidFill>
          <a:ln w="12700">
            <a:solidFill>
              <a:schemeClr val="bg2"/>
            </a:solidFill>
            <a:prstDash val="solid"/>
          </a:ln>
        </p:spPr>
      </p:sp>
      <p:sp>
        <p:nvSpPr>
          <p:cNvPr id="13" name="Shape 10"/>
          <p:cNvSpPr/>
          <p:nvPr/>
        </p:nvSpPr>
        <p:spPr>
          <a:xfrm>
            <a:off x="4587088" y="1325880"/>
            <a:ext cx="548640" cy="54864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724248" y="1463040"/>
            <a:ext cx="274320" cy="274320"/>
          </a:xfrm>
          <a:prstGeom prst="rect">
            <a:avLst/>
          </a:prstGeom>
        </p:spPr>
      </p:pic>
      <p:sp>
        <p:nvSpPr>
          <p:cNvPr id="15" name="Text 11"/>
          <p:cNvSpPr txBox="1"/>
          <p:nvPr/>
        </p:nvSpPr>
        <p:spPr>
          <a:xfrm>
            <a:off x="5272888" y="1307592"/>
            <a:ext cx="2880360" cy="310896"/>
          </a:xfrm>
          <a:prstGeom prst="rect">
            <a:avLst/>
          </a:prstGeom>
          <a:noFill/>
          <a:ln/>
        </p:spPr>
        <p:txBody>
          <a:bodyPr wrap="square" lIns="0" tIns="0" rIns="0" bIns="0" rtlCol="0" anchor="ctr"/>
          <a:lstStyle/>
          <a:p>
            <a:pPr indent="0" marL="0">
              <a:buNone/>
            </a:pPr>
            <a:r>
              <a:rPr lang="en-US" sz="1600" b="1" dirty="0">
                <a:solidFill>
                  <a:schemeClr val="accent1"/>
                </a:solidFill>
              </a:rPr>
              <a:t>BACKEND</a:t>
            </a:r>
            <a:endParaRPr lang="en-US" sz="1600" dirty="0"/>
          </a:p>
        </p:txBody>
      </p:sp>
      <p:sp>
        <p:nvSpPr>
          <p:cNvPr id="16" name="Text 12"/>
          <p:cNvSpPr txBox="1"/>
          <p:nvPr/>
        </p:nvSpPr>
        <p:spPr>
          <a:xfrm>
            <a:off x="5272888" y="1609344"/>
            <a:ext cx="2880360" cy="274320"/>
          </a:xfrm>
          <a:prstGeom prst="rect">
            <a:avLst/>
          </a:prstGeom>
          <a:noFill/>
          <a:ln/>
        </p:spPr>
        <p:txBody>
          <a:bodyPr wrap="square" lIns="0" tIns="0" rIns="0" bIns="0" rtlCol="0" anchor="ctr"/>
          <a:lstStyle/>
          <a:p>
            <a:pPr indent="0" marL="0">
              <a:buNone/>
            </a:pPr>
            <a:r>
              <a:rPr lang="en-US" sz="1200" dirty="0">
                <a:solidFill>
                  <a:schemeClr val="accent5"/>
                </a:solidFill>
              </a:rPr>
              <a:t>Flask · la API</a:t>
            </a:r>
            <a:endParaRPr lang="en-US" sz="1200" dirty="0"/>
          </a:p>
        </p:txBody>
      </p:sp>
      <p:sp>
        <p:nvSpPr>
          <p:cNvPr id="17" name="Shape 13"/>
          <p:cNvSpPr/>
          <p:nvPr/>
        </p:nvSpPr>
        <p:spPr>
          <a:xfrm>
            <a:off x="4541368" y="2011680"/>
            <a:ext cx="3611880" cy="1891665"/>
          </a:xfrm>
          <a:prstGeom prst="roundRect">
            <a:avLst>
              <a:gd name="adj" fmla="val 5801"/>
            </a:avLst>
          </a:prstGeom>
          <a:solidFill>
            <a:srgbClr val="10261C"/>
          </a:solidFill>
          <a:ln w="12700">
            <a:solidFill>
              <a:srgbClr val="10261C"/>
            </a:solidFill>
            <a:prstDash val="solid"/>
          </a:ln>
        </p:spPr>
      </p:sp>
      <p:sp>
        <p:nvSpPr>
          <p:cNvPr id="18" name="Text 14"/>
          <p:cNvSpPr txBox="1"/>
          <p:nvPr/>
        </p:nvSpPr>
        <p:spPr>
          <a:xfrm>
            <a:off x="4678528" y="2148840"/>
            <a:ext cx="3383280" cy="1663065"/>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routes: llega el PUT</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@route("/&lt;int:id&gt;",</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       methods=["PUT"])</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def actualizar(id):</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controller.actualizar_transaccion(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id, request.get_json())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db.transaccion.update(</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where={"id": id}, data=datos)</a:t>
            </a:r>
            <a:endParaRPr lang="en-US" sz="1100" dirty="0"/>
          </a:p>
        </p:txBody>
      </p:sp>
      <p:sp>
        <p:nvSpPr>
          <p:cNvPr id="19" name="Text 15"/>
          <p:cNvSpPr txBox="1"/>
          <p:nvPr/>
        </p:nvSpPr>
        <p:spPr>
          <a:xfrm>
            <a:off x="4587088" y="3994785"/>
            <a:ext cx="3520440" cy="1263015"/>
          </a:xfrm>
          <a:prstGeom prst="rect">
            <a:avLst/>
          </a:prstGeom>
          <a:noFill/>
          <a:ln/>
        </p:spPr>
        <p:txBody>
          <a:bodyPr wrap="square" lIns="0" tIns="0" rIns="0" bIns="0" rtlCol="0" anchor="t"/>
          <a:lstStyle/>
          <a:p>
            <a:pPr indent="0" marL="0">
              <a:buNone/>
            </a:pPr>
            <a:r>
              <a:rPr lang="en-US" sz="1300" dirty="0">
                <a:solidFill>
                  <a:schemeClr val="tx2"/>
                </a:solidFill>
              </a:rPr>
              <a:t>El controller revisa que exista y que con el cambio el saldo no quede negativo. Luego el model lo actualiza.</a:t>
            </a:r>
            <a:endParaRPr lang="en-US" sz="1300" dirty="0"/>
          </a:p>
        </p:txBody>
      </p:sp>
      <p:sp>
        <p:nvSpPr>
          <p:cNvPr id="20" name="Shape 16"/>
          <p:cNvSpPr/>
          <p:nvPr/>
        </p:nvSpPr>
        <p:spPr>
          <a:xfrm>
            <a:off x="8345272" y="2926080"/>
            <a:ext cx="499720" cy="292608"/>
          </a:xfrm>
          <a:prstGeom prst="rightArrow">
            <a:avLst/>
          </a:prstGeom>
          <a:solidFill>
            <a:schemeClr val="accent5"/>
          </a:solidFill>
          <a:ln w="12700">
            <a:solidFill>
              <a:schemeClr val="accent5"/>
            </a:solidFill>
            <a:prstDash val="solid"/>
          </a:ln>
        </p:spPr>
      </p:sp>
      <p:sp>
        <p:nvSpPr>
          <p:cNvPr id="21" name="Shape 17"/>
          <p:cNvSpPr/>
          <p:nvPr/>
        </p:nvSpPr>
        <p:spPr>
          <a:xfrm>
            <a:off x="8899855" y="1188720"/>
            <a:ext cx="2743200" cy="4160520"/>
          </a:xfrm>
          <a:prstGeom prst="roundRect">
            <a:avLst>
              <a:gd name="adj" fmla="val 4000"/>
            </a:avLst>
          </a:prstGeom>
          <a:solidFill>
            <a:schemeClr val="bg2"/>
          </a:solidFill>
          <a:ln w="12700">
            <a:solidFill>
              <a:schemeClr val="bg2"/>
            </a:solidFill>
            <a:prstDash val="solid"/>
          </a:ln>
        </p:spPr>
      </p:sp>
      <p:sp>
        <p:nvSpPr>
          <p:cNvPr id="22" name="Shape 18"/>
          <p:cNvSpPr/>
          <p:nvPr/>
        </p:nvSpPr>
        <p:spPr>
          <a:xfrm>
            <a:off x="9082735" y="1325880"/>
            <a:ext cx="548640" cy="548640"/>
          </a:xfrm>
          <a:prstGeom prst="ellipse">
            <a:avLst/>
          </a:prstGeom>
          <a:solidFill>
            <a:schemeClr val="tx1"/>
          </a:solidFill>
          <a:ln w="12700">
            <a:solidFill>
              <a:schemeClr val="tx1"/>
            </a:solidFill>
            <a:prstDash val="solid"/>
          </a:ln>
        </p:spPr>
      </p:sp>
      <p:pic>
        <p:nvPicPr>
          <p:cNvPr id="23" name="Image 2" descr="preencoded.png">    </p:cNvPr>
          <p:cNvPicPr>
            <a:picLocks noChangeAspect="1"/>
          </p:cNvPicPr>
          <p:nvPr/>
        </p:nvPicPr>
        <p:blipFill>
          <a:blip r:embed="rId3"/>
          <a:stretch>
            <a:fillRect/>
          </a:stretch>
        </p:blipFill>
        <p:spPr>
          <a:xfrm>
            <a:off x="9219895" y="1463040"/>
            <a:ext cx="274320" cy="274320"/>
          </a:xfrm>
          <a:prstGeom prst="rect">
            <a:avLst/>
          </a:prstGeom>
        </p:spPr>
      </p:pic>
      <p:sp>
        <p:nvSpPr>
          <p:cNvPr id="24" name="Text 19"/>
          <p:cNvSpPr txBox="1"/>
          <p:nvPr/>
        </p:nvSpPr>
        <p:spPr>
          <a:xfrm>
            <a:off x="9768535" y="1307592"/>
            <a:ext cx="1737360" cy="310896"/>
          </a:xfrm>
          <a:prstGeom prst="rect">
            <a:avLst/>
          </a:prstGeom>
          <a:noFill/>
          <a:ln/>
        </p:spPr>
        <p:txBody>
          <a:bodyPr wrap="square" lIns="0" tIns="0" rIns="0" bIns="0" rtlCol="0" anchor="ctr"/>
          <a:lstStyle/>
          <a:p>
            <a:pPr indent="0" marL="0">
              <a:buNone/>
            </a:pPr>
            <a:r>
              <a:rPr lang="en-US" sz="1600" b="1" dirty="0">
                <a:solidFill>
                  <a:schemeClr val="tx1"/>
                </a:solidFill>
              </a:rPr>
              <a:t>BASE DE DATOS</a:t>
            </a:r>
            <a:endParaRPr lang="en-US" sz="1600" dirty="0"/>
          </a:p>
        </p:txBody>
      </p:sp>
      <p:sp>
        <p:nvSpPr>
          <p:cNvPr id="25" name="Text 20"/>
          <p:cNvSpPr txBox="1"/>
          <p:nvPr/>
        </p:nvSpPr>
        <p:spPr>
          <a:xfrm>
            <a:off x="9768535" y="1609344"/>
            <a:ext cx="1737360" cy="274320"/>
          </a:xfrm>
          <a:prstGeom prst="rect">
            <a:avLst/>
          </a:prstGeom>
          <a:noFill/>
          <a:ln/>
        </p:spPr>
        <p:txBody>
          <a:bodyPr wrap="square" lIns="0" tIns="0" rIns="0" bIns="0" rtlCol="0" anchor="ctr"/>
          <a:lstStyle/>
          <a:p>
            <a:pPr indent="0" marL="0">
              <a:buNone/>
            </a:pPr>
            <a:r>
              <a:rPr lang="en-US" sz="1200" dirty="0">
                <a:solidFill>
                  <a:schemeClr val="accent5"/>
                </a:solidFill>
              </a:rPr>
              <a:t>MySQL · los datos</a:t>
            </a:r>
            <a:endParaRPr lang="en-US" sz="1200" dirty="0"/>
          </a:p>
        </p:txBody>
      </p:sp>
      <p:sp>
        <p:nvSpPr>
          <p:cNvPr id="26" name="Shape 21"/>
          <p:cNvSpPr/>
          <p:nvPr/>
        </p:nvSpPr>
        <p:spPr>
          <a:xfrm>
            <a:off x="9037015" y="2011680"/>
            <a:ext cx="2468880" cy="1018540"/>
          </a:xfrm>
          <a:prstGeom prst="roundRect">
            <a:avLst>
              <a:gd name="adj" fmla="val 10773"/>
            </a:avLst>
          </a:prstGeom>
          <a:solidFill>
            <a:srgbClr val="10261C"/>
          </a:solidFill>
          <a:ln w="12700">
            <a:solidFill>
              <a:srgbClr val="10261C"/>
            </a:solidFill>
            <a:prstDash val="solid"/>
          </a:ln>
        </p:spPr>
      </p:sp>
      <p:sp>
        <p:nvSpPr>
          <p:cNvPr id="27" name="Text 22"/>
          <p:cNvSpPr txBox="1"/>
          <p:nvPr/>
        </p:nvSpPr>
        <p:spPr>
          <a:xfrm>
            <a:off x="9174175" y="2148840"/>
            <a:ext cx="2240280" cy="789940"/>
          </a:xfrm>
          <a:prstGeom prst="rect">
            <a:avLst/>
          </a:prstGeom>
          <a:noFill/>
          <a:ln/>
        </p:spPr>
        <p:txBody>
          <a:bodyPr wrap="square" lIns="0" tIns="0" rIns="0" bIns="0" rtlCol="0" anchor="t"/>
          <a:lstStyle/>
          <a:p>
            <a:pPr indent="0" marL="0">
              <a:buNone/>
            </a:pPr>
            <a:r>
              <a:rPr lang="en-US" sz="1100" dirty="0">
                <a:solidFill>
                  <a:srgbClr val="8CC4F2"/>
                </a:solidFill>
                <a:latin typeface="Courier New" pitchFamily="34" charset="0"/>
                <a:ea typeface="Courier New" pitchFamily="34" charset="-122"/>
                <a:cs typeface="Courier New" pitchFamily="34" charset="-120"/>
              </a:rPr>
              <a:t>UPDATE Transaccion</a:t>
            </a:r>
            <a:endParaRPr lang="en-US" sz="1100" dirty="0"/>
          </a:p>
          <a:p>
            <a:pPr indent="0" marL="0">
              <a:buNone/>
            </a:pPr>
            <a:r>
              <a:rPr lang="en-US" sz="1100" dirty="0">
                <a:solidFill>
                  <a:srgbClr val="A8E6CB"/>
                </a:solidFill>
                <a:latin typeface="Courier New" pitchFamily="34" charset="0"/>
                <a:ea typeface="Courier New" pitchFamily="34" charset="-122"/>
                <a:cs typeface="Courier New" pitchFamily="34" charset="-120"/>
              </a:rPr>
              <a:t>SET monto = 300000</a:t>
            </a:r>
            <a:endParaRPr lang="en-US" sz="1100" dirty="0"/>
          </a:p>
          <a:p>
            <a:pPr indent="0" marL="0">
              <a:buNone/>
            </a:pPr>
            <a:r>
              <a:rPr lang="en-US" sz="1100" dirty="0">
                <a:solidFill>
                  <a:srgbClr val="A8E6CB"/>
                </a:solidFill>
                <a:latin typeface="Courier New" pitchFamily="34" charset="0"/>
                <a:ea typeface="Courier New" pitchFamily="34" charset="-122"/>
                <a:cs typeface="Courier New" pitchFamily="34" charset="-120"/>
              </a:rPr>
              <a:t>WHERE id = 12;</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-- 12 es el id de TX-0009</a:t>
            </a:r>
            <a:endParaRPr lang="en-US" sz="1100" dirty="0"/>
          </a:p>
        </p:txBody>
      </p:sp>
      <p:sp>
        <p:nvSpPr>
          <p:cNvPr id="28" name="Text 23"/>
          <p:cNvSpPr txBox="1"/>
          <p:nvPr/>
        </p:nvSpPr>
        <p:spPr>
          <a:xfrm>
            <a:off x="9082735" y="3121660"/>
            <a:ext cx="2377440" cy="2136140"/>
          </a:xfrm>
          <a:prstGeom prst="rect">
            <a:avLst/>
          </a:prstGeom>
          <a:noFill/>
          <a:ln/>
        </p:spPr>
        <p:txBody>
          <a:bodyPr wrap="square" lIns="0" tIns="0" rIns="0" bIns="0" rtlCol="0" anchor="t"/>
          <a:lstStyle/>
          <a:p>
            <a:pPr indent="0" marL="0">
              <a:buNone/>
            </a:pPr>
            <a:r>
              <a:rPr lang="en-US" sz="1300" dirty="0">
                <a:solidFill>
                  <a:schemeClr val="tx2"/>
                </a:solidFill>
              </a:rPr>
              <a:t>MySQL cambia solo esa fila. El WHERE asegura que no toque ninguna otra.</a:t>
            </a:r>
            <a:endParaRPr lang="en-US" sz="1300" dirty="0"/>
          </a:p>
        </p:txBody>
      </p:sp>
      <p:sp>
        <p:nvSpPr>
          <p:cNvPr id="29" name="Text 24"/>
          <p:cNvSpPr txBox="1"/>
          <p:nvPr/>
        </p:nvSpPr>
        <p:spPr>
          <a:xfrm>
            <a:off x="3703320"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PUT /12 + JSON</a:t>
            </a:r>
            <a:endParaRPr lang="en-US" sz="900" dirty="0"/>
          </a:p>
        </p:txBody>
      </p:sp>
      <p:sp>
        <p:nvSpPr>
          <p:cNvPr id="30" name="Text 25"/>
          <p:cNvSpPr txBox="1"/>
          <p:nvPr/>
        </p:nvSpPr>
        <p:spPr>
          <a:xfrm>
            <a:off x="8198968"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Prisma: update()</a:t>
            </a:r>
            <a:endParaRPr lang="en-US" sz="900" dirty="0"/>
          </a:p>
        </p:txBody>
      </p:sp>
      <p:sp>
        <p:nvSpPr>
          <p:cNvPr id="31" name="Shape 26"/>
          <p:cNvSpPr/>
          <p:nvPr/>
        </p:nvSpPr>
        <p:spPr>
          <a:xfrm>
            <a:off x="548640" y="5486400"/>
            <a:ext cx="11094415" cy="658368"/>
          </a:xfrm>
          <a:prstGeom prst="roundRect">
            <a:avLst>
              <a:gd name="adj" fmla="val 16667"/>
            </a:avLst>
          </a:prstGeom>
          <a:solidFill>
            <a:schemeClr val="tx1"/>
          </a:solidFill>
          <a:ln w="12700">
            <a:solidFill>
              <a:schemeClr val="tx1"/>
            </a:solidFill>
            <a:prstDash val="solid"/>
          </a:ln>
        </p:spPr>
      </p:sp>
      <p:sp>
        <p:nvSpPr>
          <p:cNvPr id="32" name="Shape 27"/>
          <p:cNvSpPr/>
          <p:nvPr/>
        </p:nvSpPr>
        <p:spPr>
          <a:xfrm>
            <a:off x="777240" y="5650992"/>
            <a:ext cx="640080" cy="329184"/>
          </a:xfrm>
          <a:prstGeom prst="leftArrow">
            <a:avLst/>
          </a:prstGeom>
          <a:solidFill>
            <a:schemeClr val="accent6"/>
          </a:solidFill>
          <a:ln w="12700">
            <a:solidFill>
              <a:schemeClr val="accent6"/>
            </a:solidFill>
            <a:prstDash val="solid"/>
          </a:ln>
        </p:spPr>
      </p:sp>
      <p:sp>
        <p:nvSpPr>
          <p:cNvPr id="33" name="Text 28"/>
          <p:cNvSpPr txBox="1"/>
          <p:nvPr/>
        </p:nvSpPr>
        <p:spPr>
          <a:xfrm>
            <a:off x="1600200" y="5486400"/>
            <a:ext cx="9859975" cy="658368"/>
          </a:xfrm>
          <a:prstGeom prst="rect">
            <a:avLst/>
          </a:prstGeom>
          <a:noFill/>
          <a:ln/>
        </p:spPr>
        <p:txBody>
          <a:bodyPr wrap="square" lIns="0" tIns="0" rIns="0" bIns="0" rtlCol="0" anchor="ctr"/>
          <a:lstStyle/>
          <a:p>
            <a:pPr indent="0" marL="0">
              <a:buNone/>
            </a:pPr>
            <a:r>
              <a:rPr lang="en-US" sz="1500" b="1" dirty="0">
                <a:solidFill>
                  <a:schemeClr val="accent6"/>
                </a:solidFill>
              </a:rPr>
              <a:t>De vuelta: </a:t>
            </a:r>
            <a:pPr indent="0" marL="0">
              <a:buNone/>
            </a:pPr>
            <a:r>
              <a:rPr lang="en-US" sz="1500" dirty="0">
                <a:solidFill>
                  <a:schemeClr val="bg1"/>
                </a:solidFill>
              </a:rPr>
              <a:t>200 (OK) → la pantalla dice «Transacción actualizada» y el saldo se recalcula: $3.209.000.</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4"/>
                </a:solidFill>
              </a:rPr>
              <a:t>U · </a:t>
            </a:r>
            <a:pPr algn="l" indent="0" marL="0">
              <a:buNone/>
            </a:pPr>
            <a:r>
              <a:rPr lang="en-US" sz="3400" b="1" dirty="0">
                <a:solidFill>
                  <a:schemeClr val="tx1"/>
                </a:solidFill>
              </a:rPr>
              <a:t>Modificar: lo que revisa el backend</a:t>
            </a:r>
            <a:endParaRPr lang="en-US" sz="3400" dirty="0"/>
          </a:p>
        </p:txBody>
      </p:sp>
      <p:sp>
        <p:nvSpPr>
          <p:cNvPr id="3" name="Shape 1"/>
          <p:cNvSpPr/>
          <p:nvPr/>
        </p:nvSpPr>
        <p:spPr>
          <a:xfrm>
            <a:off x="548640" y="1234440"/>
            <a:ext cx="6675120" cy="3972814"/>
          </a:xfrm>
          <a:prstGeom prst="roundRect">
            <a:avLst>
              <a:gd name="adj" fmla="val 2762"/>
            </a:avLst>
          </a:prstGeom>
          <a:solidFill>
            <a:srgbClr val="10261C"/>
          </a:solidFill>
          <a:ln w="12700">
            <a:solidFill>
              <a:srgbClr val="10261C"/>
            </a:solidFill>
            <a:prstDash val="solid"/>
          </a:ln>
        </p:spPr>
      </p:sp>
      <p:sp>
        <p:nvSpPr>
          <p:cNvPr id="4" name="Text 2"/>
          <p:cNvSpPr txBox="1"/>
          <p:nvPr/>
        </p:nvSpPr>
        <p:spPr>
          <a:xfrm>
            <a:off x="822960" y="1463040"/>
            <a:ext cx="6217920" cy="3561334"/>
          </a:xfrm>
          <a:prstGeom prst="rect">
            <a:avLst/>
          </a:prstGeom>
          <a:noFill/>
          <a:ln/>
        </p:spPr>
        <p:txBody>
          <a:bodyPr wrap="square" lIns="0" tIns="0" rIns="0" bIns="0" rtlCol="0" anchor="t"/>
          <a:lstStyle/>
          <a:p>
            <a:pPr indent="0" marL="0">
              <a:buNone/>
            </a:pPr>
            <a:r>
              <a:rPr lang="en-US" sz="1300" dirty="0">
                <a:solidFill>
                  <a:srgbClr val="8CC4F2"/>
                </a:solidFill>
                <a:latin typeface="Courier New" pitchFamily="34" charset="0"/>
                <a:ea typeface="Courier New" pitchFamily="34" charset="-122"/>
                <a:cs typeface="Courier New" pitchFamily="34" charset="-120"/>
              </a:rPr>
              <a:t>def actualizar_transaccion(id, datos):</a:t>
            </a:r>
            <a:endParaRPr lang="en-US" sz="1300" dirty="0"/>
          </a:p>
          <a:p>
            <a:pPr indent="0" marL="0">
              <a:buNone/>
            </a:pPr>
            <a:r>
              <a:rPr lang="en-US" sz="1300" b="1" dirty="0">
                <a:solidFill>
                  <a:srgbClr val="F2C14E"/>
                </a:solidFill>
                <a:latin typeface="Courier New" pitchFamily="34" charset="0"/>
                <a:ea typeface="Courier New" pitchFamily="34" charset="-122"/>
                <a:cs typeface="Courier New" pitchFamily="34" charset="-120"/>
              </a:rPr>
              <a:t>    # 1. Revisar los datos</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limpios, error = validar(datos)</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if error:</a:t>
            </a:r>
            <a:endParaRPr lang="en-US" sz="1300" dirty="0"/>
          </a:p>
          <a:p>
            <a:pPr indent="0" marL="0">
              <a:buNone/>
            </a:pPr>
            <a:r>
              <a:rPr lang="en-US" sz="1300" dirty="0">
                <a:solidFill>
                  <a:srgbClr val="F2A7B5"/>
                </a:solidFill>
                <a:latin typeface="Courier New" pitchFamily="34" charset="0"/>
                <a:ea typeface="Courier New" pitchFamily="34" charset="-122"/>
                <a:cs typeface="Courier New" pitchFamily="34" charset="-120"/>
              </a:rPr>
              <a:t>        return {"error": error}, 400</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F2C14E"/>
                </a:solidFill>
                <a:latin typeface="Courier New" pitchFamily="34" charset="0"/>
                <a:ea typeface="Courier New" pitchFamily="34" charset="-122"/>
                <a:cs typeface="Courier New" pitchFamily="34" charset="-120"/>
              </a:rPr>
              <a:t>    # 2. ¿Existe ese movimiento?</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if not any(t["id"] == id for t in movimientos):</a:t>
            </a:r>
            <a:endParaRPr lang="en-US" sz="1300" dirty="0"/>
          </a:p>
          <a:p>
            <a:pPr indent="0" marL="0">
              <a:buNone/>
            </a:pPr>
            <a:r>
              <a:rPr lang="en-US" sz="1300" dirty="0">
                <a:solidFill>
                  <a:srgbClr val="F2A7B5"/>
                </a:solidFill>
                <a:latin typeface="Courier New" pitchFamily="34" charset="0"/>
                <a:ea typeface="Courier New" pitchFamily="34" charset="-122"/>
                <a:cs typeface="Courier New" pitchFamily="34" charset="-120"/>
              </a:rPr>
              <a:t>        return {"error": "No existe"}, 404</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F2C14E"/>
                </a:solidFill>
                <a:latin typeface="Courier New" pitchFamily="34" charset="0"/>
                <a:ea typeface="Courier New" pitchFamily="34" charset="-122"/>
                <a:cs typeface="Courier New" pitchFamily="34" charset="-120"/>
              </a:rPr>
              <a:t>    # 3. Con el cambio, ¿el saldo queda bien?</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if saldo_queda_negativo(cambiados):</a:t>
            </a:r>
            <a:endParaRPr lang="en-US" sz="1300" dirty="0"/>
          </a:p>
          <a:p>
            <a:pPr indent="0" marL="0">
              <a:buNone/>
            </a:pPr>
            <a:r>
              <a:rPr lang="en-US" sz="1300" dirty="0">
                <a:solidFill>
                  <a:srgbClr val="F2A7B5"/>
                </a:solidFill>
                <a:latin typeface="Courier New" pitchFamily="34" charset="0"/>
                <a:ea typeface="Courier New" pitchFamily="34" charset="-122"/>
                <a:cs typeface="Courier New" pitchFamily="34" charset="-120"/>
              </a:rPr>
              <a:t>        return {"error": "Quedaría negativo"}, 400</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F2C14E"/>
                </a:solidFill>
                <a:latin typeface="Courier New" pitchFamily="34" charset="0"/>
                <a:ea typeface="Courier New" pitchFamily="34" charset="-122"/>
                <a:cs typeface="Courier New" pitchFamily="34" charset="-120"/>
              </a:rPr>
              <a:t>    # 4. Guardar el cambio en MySQL</a:t>
            </a:r>
            <a:endParaRPr lang="en-US" sz="1300" dirty="0"/>
          </a:p>
          <a:p>
            <a:pPr indent="0" marL="0">
              <a:buNone/>
            </a:pPr>
            <a:r>
              <a:rPr lang="en-US" sz="1300" dirty="0">
                <a:solidFill>
                  <a:srgbClr val="E8F2EC"/>
                </a:solidFill>
                <a:latin typeface="Courier New" pitchFamily="34" charset="0"/>
                <a:ea typeface="Courier New" pitchFamily="34" charset="-122"/>
                <a:cs typeface="Courier New" pitchFamily="34" charset="-120"/>
              </a:rPr>
              <a:t>    actualizada = transaccion_model.actualizar(id, limpios)</a:t>
            </a:r>
            <a:endParaRPr lang="en-US" sz="1300" dirty="0"/>
          </a:p>
          <a:p>
            <a:pPr indent="0" marL="0">
              <a:buNone/>
            </a:pPr>
            <a:r>
              <a:rPr lang="en-US" sz="1300" dirty="0">
                <a:solidFill>
                  <a:srgbClr val="A8E6CB"/>
                </a:solidFill>
                <a:latin typeface="Courier New" pitchFamily="34" charset="0"/>
                <a:ea typeface="Courier New" pitchFamily="34" charset="-122"/>
                <a:cs typeface="Courier New" pitchFamily="34" charset="-120"/>
              </a:rPr>
              <a:t>    return a_diccionario(actualizada), 200</a:t>
            </a:r>
            <a:endParaRPr lang="en-US" sz="1300" dirty="0"/>
          </a:p>
        </p:txBody>
      </p:sp>
      <p:sp>
        <p:nvSpPr>
          <p:cNvPr id="5" name="Text 3"/>
          <p:cNvSpPr txBox="1"/>
          <p:nvPr/>
        </p:nvSpPr>
        <p:spPr>
          <a:xfrm>
            <a:off x="548640" y="5280406"/>
            <a:ext cx="6675120" cy="256032"/>
          </a:xfrm>
          <a:prstGeom prst="rect">
            <a:avLst/>
          </a:prstGeom>
          <a:noFill/>
          <a:ln/>
        </p:spPr>
        <p:txBody>
          <a:bodyPr wrap="square" lIns="0" tIns="0" rIns="0" bIns="0" rtlCol="0" anchor="ctr"/>
          <a:lstStyle/>
          <a:p>
            <a:pPr indent="0" marL="0">
              <a:buNone/>
            </a:pPr>
            <a:r>
              <a:rPr lang="en-US" sz="1000" i="1" dirty="0">
                <a:solidFill>
                  <a:schemeClr val="accent5"/>
                </a:solidFill>
              </a:rPr>
              <a:t>Código del controller (backend), resumido para la explicación.</a:t>
            </a:r>
            <a:endParaRPr lang="en-US" sz="1000" dirty="0"/>
          </a:p>
        </p:txBody>
      </p:sp>
      <p:pic>
        <p:nvPicPr>
          <p:cNvPr id="6" name="Image 0" descr="El pago TX-0009 editado a 300.000; saldo 3.209.000">    </p:cNvPr>
          <p:cNvPicPr>
            <a:picLocks noChangeAspect="1"/>
          </p:cNvPicPr>
          <p:nvPr/>
        </p:nvPicPr>
        <p:blipFill>
          <a:blip r:embed="rId1"/>
          <a:stretch>
            <a:fillRect/>
          </a:stretch>
        </p:blipFill>
        <p:spPr>
          <a:xfrm>
            <a:off x="7678963" y="1234440"/>
            <a:ext cx="3828930" cy="2331720"/>
          </a:xfrm>
          <a:prstGeom prst="rect">
            <a:avLst/>
          </a:prstGeom>
          <a:effectLst>
            <a:outerShdw sx="100000" sy="100000" kx="0" ky="0" algn="bl" rotWithShape="0" blurRad="101600" dist="25400" dir="5400000">
              <a:srgbClr val="000000">
                <a:alpha val="18000"/>
              </a:srgbClr>
            </a:outerShdw>
          </a:effectLst>
        </p:spPr>
      </p:pic>
      <p:sp>
        <p:nvSpPr>
          <p:cNvPr id="7" name="Shape 4"/>
          <p:cNvSpPr/>
          <p:nvPr/>
        </p:nvSpPr>
        <p:spPr>
          <a:xfrm>
            <a:off x="7543800" y="3794760"/>
            <a:ext cx="457200" cy="457200"/>
          </a:xfrm>
          <a:prstGeom prst="ellipse">
            <a:avLst/>
          </a:prstGeom>
          <a:solidFill>
            <a:schemeClr val="accent4"/>
          </a:solidFill>
          <a:ln w="12700">
            <a:solidFill>
              <a:schemeClr val="accent4"/>
            </a:solidFill>
            <a:prstDash val="solid"/>
          </a:ln>
        </p:spPr>
      </p:sp>
      <p:sp>
        <p:nvSpPr>
          <p:cNvPr id="8" name="Text 5"/>
          <p:cNvSpPr txBox="1"/>
          <p:nvPr/>
        </p:nvSpPr>
        <p:spPr>
          <a:xfrm>
            <a:off x="7543800" y="3794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8138160" y="3767328"/>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Revisa los datos</a:t>
            </a:r>
            <a:endParaRPr lang="en-US" sz="1700" dirty="0"/>
          </a:p>
        </p:txBody>
      </p:sp>
      <p:sp>
        <p:nvSpPr>
          <p:cNvPr id="10" name="Text 7"/>
          <p:cNvSpPr txBox="1"/>
          <p:nvPr/>
        </p:nvSpPr>
        <p:spPr>
          <a:xfrm>
            <a:off x="8138160" y="4096512"/>
            <a:ext cx="3504895" cy="457200"/>
          </a:xfrm>
          <a:prstGeom prst="rect">
            <a:avLst/>
          </a:prstGeom>
          <a:noFill/>
          <a:ln/>
        </p:spPr>
        <p:txBody>
          <a:bodyPr wrap="square" lIns="0" tIns="0" rIns="0" bIns="0" rtlCol="0" anchor="t"/>
          <a:lstStyle/>
          <a:p>
            <a:pPr indent="0" marL="0">
              <a:buNone/>
            </a:pPr>
            <a:r>
              <a:rPr lang="en-US" sz="1400" dirty="0">
                <a:solidFill>
                  <a:schemeClr val="tx2"/>
                </a:solidFill>
              </a:rPr>
              <a:t>Igual que al crear</a:t>
            </a:r>
            <a:endParaRPr lang="en-US" sz="1400" dirty="0"/>
          </a:p>
        </p:txBody>
      </p:sp>
      <p:sp>
        <p:nvSpPr>
          <p:cNvPr id="11" name="Shape 8"/>
          <p:cNvSpPr/>
          <p:nvPr/>
        </p:nvSpPr>
        <p:spPr>
          <a:xfrm>
            <a:off x="7543800" y="4398264"/>
            <a:ext cx="457200" cy="457200"/>
          </a:xfrm>
          <a:prstGeom prst="ellipse">
            <a:avLst/>
          </a:prstGeom>
          <a:solidFill>
            <a:schemeClr val="accent4"/>
          </a:solidFill>
          <a:ln w="12700">
            <a:solidFill>
              <a:schemeClr val="accent4"/>
            </a:solidFill>
            <a:prstDash val="solid"/>
          </a:ln>
        </p:spPr>
      </p:sp>
      <p:sp>
        <p:nvSpPr>
          <p:cNvPr id="12" name="Text 9"/>
          <p:cNvSpPr txBox="1"/>
          <p:nvPr/>
        </p:nvSpPr>
        <p:spPr>
          <a:xfrm>
            <a:off x="7543800" y="439826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8138160" y="4370832"/>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Busca el movimiento</a:t>
            </a:r>
            <a:endParaRPr lang="en-US" sz="1700" dirty="0"/>
          </a:p>
        </p:txBody>
      </p:sp>
      <p:sp>
        <p:nvSpPr>
          <p:cNvPr id="14" name="Text 11"/>
          <p:cNvSpPr txBox="1"/>
          <p:nvPr/>
        </p:nvSpPr>
        <p:spPr>
          <a:xfrm>
            <a:off x="8138160" y="4700016"/>
            <a:ext cx="3504895" cy="457200"/>
          </a:xfrm>
          <a:prstGeom prst="rect">
            <a:avLst/>
          </a:prstGeom>
          <a:noFill/>
          <a:ln/>
        </p:spPr>
        <p:txBody>
          <a:bodyPr wrap="square" lIns="0" tIns="0" rIns="0" bIns="0" rtlCol="0" anchor="t"/>
          <a:lstStyle/>
          <a:p>
            <a:pPr indent="0" marL="0">
              <a:buNone/>
            </a:pPr>
            <a:r>
              <a:rPr lang="en-US" sz="1400" dirty="0">
                <a:solidFill>
                  <a:schemeClr val="tx2"/>
                </a:solidFill>
              </a:rPr>
              <a:t>Si no existe: 404</a:t>
            </a:r>
            <a:endParaRPr lang="en-US" sz="1400" dirty="0"/>
          </a:p>
        </p:txBody>
      </p:sp>
      <p:sp>
        <p:nvSpPr>
          <p:cNvPr id="15" name="Shape 12"/>
          <p:cNvSpPr/>
          <p:nvPr/>
        </p:nvSpPr>
        <p:spPr>
          <a:xfrm>
            <a:off x="7543800" y="5001768"/>
            <a:ext cx="457200" cy="457200"/>
          </a:xfrm>
          <a:prstGeom prst="ellipse">
            <a:avLst/>
          </a:prstGeom>
          <a:solidFill>
            <a:schemeClr val="accent4"/>
          </a:solidFill>
          <a:ln w="12700">
            <a:solidFill>
              <a:schemeClr val="accent4"/>
            </a:solidFill>
            <a:prstDash val="solid"/>
          </a:ln>
        </p:spPr>
      </p:sp>
      <p:sp>
        <p:nvSpPr>
          <p:cNvPr id="16" name="Text 13"/>
          <p:cNvSpPr txBox="1"/>
          <p:nvPr/>
        </p:nvSpPr>
        <p:spPr>
          <a:xfrm>
            <a:off x="7543800" y="5001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8138160" y="4974336"/>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Prueba el saldo</a:t>
            </a:r>
            <a:endParaRPr lang="en-US" sz="1700" dirty="0"/>
          </a:p>
        </p:txBody>
      </p:sp>
      <p:sp>
        <p:nvSpPr>
          <p:cNvPr id="18" name="Text 15"/>
          <p:cNvSpPr txBox="1"/>
          <p:nvPr/>
        </p:nvSpPr>
        <p:spPr>
          <a:xfrm>
            <a:off x="8138160" y="5303520"/>
            <a:ext cx="3504895" cy="457200"/>
          </a:xfrm>
          <a:prstGeom prst="rect">
            <a:avLst/>
          </a:prstGeom>
          <a:noFill/>
          <a:ln/>
        </p:spPr>
        <p:txBody>
          <a:bodyPr wrap="square" lIns="0" tIns="0" rIns="0" bIns="0" rtlCol="0" anchor="t"/>
          <a:lstStyle/>
          <a:p>
            <a:pPr indent="0" marL="0">
              <a:buNone/>
            </a:pPr>
            <a:r>
              <a:rPr lang="en-US" sz="1400" dirty="0">
                <a:solidFill>
                  <a:schemeClr val="tx2"/>
                </a:solidFill>
              </a:rPr>
              <a:t>Con el cambio no puede quedar negativo</a:t>
            </a:r>
            <a:endParaRPr lang="en-US" sz="1400" dirty="0"/>
          </a:p>
        </p:txBody>
      </p:sp>
      <p:sp>
        <p:nvSpPr>
          <p:cNvPr id="19" name="Shape 16"/>
          <p:cNvSpPr/>
          <p:nvPr/>
        </p:nvSpPr>
        <p:spPr>
          <a:xfrm>
            <a:off x="7543800" y="5605272"/>
            <a:ext cx="457200" cy="457200"/>
          </a:xfrm>
          <a:prstGeom prst="ellipse">
            <a:avLst/>
          </a:prstGeom>
          <a:solidFill>
            <a:schemeClr val="accent4"/>
          </a:solidFill>
          <a:ln w="12700">
            <a:solidFill>
              <a:schemeClr val="accent4"/>
            </a:solidFill>
            <a:prstDash val="solid"/>
          </a:ln>
        </p:spPr>
      </p:sp>
      <p:sp>
        <p:nvSpPr>
          <p:cNvPr id="20" name="Text 17"/>
          <p:cNvSpPr txBox="1"/>
          <p:nvPr/>
        </p:nvSpPr>
        <p:spPr>
          <a:xfrm>
            <a:off x="7543800" y="5605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8138160" y="5577840"/>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Guarda y responde 200</a:t>
            </a:r>
            <a:endParaRPr lang="en-US" sz="1700" dirty="0"/>
          </a:p>
        </p:txBody>
      </p:sp>
      <p:sp>
        <p:nvSpPr>
          <p:cNvPr id="22" name="Text 19"/>
          <p:cNvSpPr txBox="1"/>
          <p:nvPr/>
        </p:nvSpPr>
        <p:spPr>
          <a:xfrm>
            <a:off x="8138160" y="5907024"/>
            <a:ext cx="3504895" cy="457200"/>
          </a:xfrm>
          <a:prstGeom prst="rect">
            <a:avLst/>
          </a:prstGeom>
          <a:noFill/>
          <a:ln/>
        </p:spPr>
        <p:txBody>
          <a:bodyPr wrap="square" lIns="0" tIns="0" rIns="0" bIns="0" rtlCol="0" anchor="t"/>
          <a:lstStyle/>
          <a:p>
            <a:pPr indent="0" marL="0">
              <a:buNone/>
            </a:pPr>
            <a:r>
              <a:rPr lang="en-US" sz="1400" dirty="0">
                <a:solidFill>
                  <a:schemeClr val="tx2"/>
                </a:solidFill>
              </a:rPr>
              <a:t>El saldo se recalcula solo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2"/>
                </a:solidFill>
              </a:rPr>
              <a:t>D · </a:t>
            </a:r>
            <a:pPr algn="l" indent="0" marL="0">
              <a:buNone/>
            </a:pPr>
            <a:r>
              <a:rPr lang="en-US" sz="3400" b="1" dirty="0">
                <a:solidFill>
                  <a:schemeClr val="tx1"/>
                </a:solidFill>
              </a:rPr>
              <a:t>Eliminar: el recorrido completo</a:t>
            </a:r>
            <a:endParaRPr lang="en-US" sz="3400" dirty="0"/>
          </a:p>
        </p:txBody>
      </p:sp>
      <p:sp>
        <p:nvSpPr>
          <p:cNvPr id="3" name="Shape 1"/>
          <p:cNvSpPr/>
          <p:nvPr/>
        </p:nvSpPr>
        <p:spPr>
          <a:xfrm>
            <a:off x="548640" y="1188720"/>
            <a:ext cx="3246120" cy="4160520"/>
          </a:xfrm>
          <a:prstGeom prst="roundRect">
            <a:avLst>
              <a:gd name="adj" fmla="val 3380"/>
            </a:avLst>
          </a:prstGeom>
          <a:solidFill>
            <a:schemeClr val="bg2"/>
          </a:solidFill>
          <a:ln w="12700">
            <a:solidFill>
              <a:schemeClr val="bg2"/>
            </a:solidFill>
            <a:prstDash val="solid"/>
          </a:ln>
        </p:spPr>
      </p:sp>
      <p:sp>
        <p:nvSpPr>
          <p:cNvPr id="4" name="Shape 2"/>
          <p:cNvSpPr/>
          <p:nvPr/>
        </p:nvSpPr>
        <p:spPr>
          <a:xfrm>
            <a:off x="731520" y="1325880"/>
            <a:ext cx="548640" cy="54864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Text 3"/>
          <p:cNvSpPr txBox="1"/>
          <p:nvPr/>
        </p:nvSpPr>
        <p:spPr>
          <a:xfrm>
            <a:off x="1417320" y="1307592"/>
            <a:ext cx="2240280" cy="310896"/>
          </a:xfrm>
          <a:prstGeom prst="rect">
            <a:avLst/>
          </a:prstGeom>
          <a:noFill/>
          <a:ln/>
        </p:spPr>
        <p:txBody>
          <a:bodyPr wrap="square" lIns="0" tIns="0" rIns="0" bIns="0" rtlCol="0" anchor="ctr"/>
          <a:lstStyle/>
          <a:p>
            <a:pPr indent="0" marL="0">
              <a:buNone/>
            </a:pPr>
            <a:r>
              <a:rPr lang="en-US" sz="1600" b="1" dirty="0">
                <a:solidFill>
                  <a:schemeClr val="accent3"/>
                </a:solidFill>
              </a:rPr>
              <a:t>FRONTEND</a:t>
            </a:r>
            <a:endParaRPr lang="en-US" sz="1600" dirty="0"/>
          </a:p>
        </p:txBody>
      </p:sp>
      <p:sp>
        <p:nvSpPr>
          <p:cNvPr id="7" name="Text 4"/>
          <p:cNvSpPr txBox="1"/>
          <p:nvPr/>
        </p:nvSpPr>
        <p:spPr>
          <a:xfrm>
            <a:off x="1417320" y="1609344"/>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React · la pantalla</a:t>
            </a:r>
            <a:endParaRPr lang="en-US" sz="1200" dirty="0"/>
          </a:p>
        </p:txBody>
      </p:sp>
      <p:sp>
        <p:nvSpPr>
          <p:cNvPr id="8" name="Shape 5"/>
          <p:cNvSpPr/>
          <p:nvPr/>
        </p:nvSpPr>
        <p:spPr>
          <a:xfrm>
            <a:off x="685800" y="2011680"/>
            <a:ext cx="2971800" cy="1891665"/>
          </a:xfrm>
          <a:prstGeom prst="roundRect">
            <a:avLst>
              <a:gd name="adj" fmla="val 5801"/>
            </a:avLst>
          </a:prstGeom>
          <a:solidFill>
            <a:srgbClr val="10261C"/>
          </a:solidFill>
          <a:ln w="12700">
            <a:solidFill>
              <a:srgbClr val="10261C"/>
            </a:solidFill>
            <a:prstDash val="solid"/>
          </a:ln>
        </p:spPr>
      </p:sp>
      <p:sp>
        <p:nvSpPr>
          <p:cNvPr id="9" name="Text 6"/>
          <p:cNvSpPr txBox="1"/>
          <p:nvPr/>
        </p:nvSpPr>
        <p:spPr>
          <a:xfrm>
            <a:off x="822960" y="2148840"/>
            <a:ext cx="2743200" cy="1663065"/>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botón «Eliminar»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const confirmado =</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window.confirm("¿Eliminar…?");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if (!confirmado) return;</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await eliminarTransaccion(id);</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api/transacciones.js</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fetch(BASE_URL + "/" + id,</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  { method: "DELETE" });</a:t>
            </a:r>
            <a:endParaRPr lang="en-US" sz="1100" dirty="0"/>
          </a:p>
        </p:txBody>
      </p:sp>
      <p:sp>
        <p:nvSpPr>
          <p:cNvPr id="10" name="Text 7"/>
          <p:cNvSpPr txBox="1"/>
          <p:nvPr/>
        </p:nvSpPr>
        <p:spPr>
          <a:xfrm>
            <a:off x="731520" y="3994785"/>
            <a:ext cx="2880360" cy="1263015"/>
          </a:xfrm>
          <a:prstGeom prst="rect">
            <a:avLst/>
          </a:prstGeom>
          <a:noFill/>
          <a:ln/>
        </p:spPr>
        <p:txBody>
          <a:bodyPr wrap="square" lIns="0" tIns="0" rIns="0" bIns="0" rtlCol="0" anchor="t"/>
          <a:lstStyle/>
          <a:p>
            <a:pPr indent="0" marL="0">
              <a:buNone/>
            </a:pPr>
            <a:r>
              <a:rPr lang="en-US" sz="1300" dirty="0">
                <a:solidFill>
                  <a:schemeClr val="tx2"/>
                </a:solidFill>
              </a:rPr>
              <a:t>Primero pregunta si de verdad quiere borrarlo. Si dice que sí, envía un DELETE con el id.</a:t>
            </a:r>
            <a:endParaRPr lang="en-US" sz="1300" dirty="0"/>
          </a:p>
        </p:txBody>
      </p:sp>
      <p:sp>
        <p:nvSpPr>
          <p:cNvPr id="11" name="Shape 8"/>
          <p:cNvSpPr/>
          <p:nvPr/>
        </p:nvSpPr>
        <p:spPr>
          <a:xfrm>
            <a:off x="3849624" y="2926080"/>
            <a:ext cx="499720" cy="292608"/>
          </a:xfrm>
          <a:prstGeom prst="rightArrow">
            <a:avLst/>
          </a:prstGeom>
          <a:solidFill>
            <a:schemeClr val="accent5"/>
          </a:solidFill>
          <a:ln w="12700">
            <a:solidFill>
              <a:schemeClr val="accent5"/>
            </a:solidFill>
            <a:prstDash val="solid"/>
          </a:ln>
        </p:spPr>
      </p:sp>
      <p:sp>
        <p:nvSpPr>
          <p:cNvPr id="12" name="Shape 9"/>
          <p:cNvSpPr/>
          <p:nvPr/>
        </p:nvSpPr>
        <p:spPr>
          <a:xfrm>
            <a:off x="4404208" y="1188720"/>
            <a:ext cx="3886200" cy="4160520"/>
          </a:xfrm>
          <a:prstGeom prst="roundRect">
            <a:avLst>
              <a:gd name="adj" fmla="val 2824"/>
            </a:avLst>
          </a:prstGeom>
          <a:solidFill>
            <a:schemeClr val="bg2"/>
          </a:solidFill>
          <a:ln w="12700">
            <a:solidFill>
              <a:schemeClr val="bg2"/>
            </a:solidFill>
            <a:prstDash val="solid"/>
          </a:ln>
        </p:spPr>
      </p:sp>
      <p:sp>
        <p:nvSpPr>
          <p:cNvPr id="13" name="Shape 10"/>
          <p:cNvSpPr/>
          <p:nvPr/>
        </p:nvSpPr>
        <p:spPr>
          <a:xfrm>
            <a:off x="4587088" y="1325880"/>
            <a:ext cx="548640" cy="54864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724248" y="1463040"/>
            <a:ext cx="274320" cy="274320"/>
          </a:xfrm>
          <a:prstGeom prst="rect">
            <a:avLst/>
          </a:prstGeom>
        </p:spPr>
      </p:pic>
      <p:sp>
        <p:nvSpPr>
          <p:cNvPr id="15" name="Text 11"/>
          <p:cNvSpPr txBox="1"/>
          <p:nvPr/>
        </p:nvSpPr>
        <p:spPr>
          <a:xfrm>
            <a:off x="5272888" y="1307592"/>
            <a:ext cx="2880360" cy="310896"/>
          </a:xfrm>
          <a:prstGeom prst="rect">
            <a:avLst/>
          </a:prstGeom>
          <a:noFill/>
          <a:ln/>
        </p:spPr>
        <p:txBody>
          <a:bodyPr wrap="square" lIns="0" tIns="0" rIns="0" bIns="0" rtlCol="0" anchor="ctr"/>
          <a:lstStyle/>
          <a:p>
            <a:pPr indent="0" marL="0">
              <a:buNone/>
            </a:pPr>
            <a:r>
              <a:rPr lang="en-US" sz="1600" b="1" dirty="0">
                <a:solidFill>
                  <a:schemeClr val="accent1"/>
                </a:solidFill>
              </a:rPr>
              <a:t>BACKEND</a:t>
            </a:r>
            <a:endParaRPr lang="en-US" sz="1600" dirty="0"/>
          </a:p>
        </p:txBody>
      </p:sp>
      <p:sp>
        <p:nvSpPr>
          <p:cNvPr id="16" name="Text 12"/>
          <p:cNvSpPr txBox="1"/>
          <p:nvPr/>
        </p:nvSpPr>
        <p:spPr>
          <a:xfrm>
            <a:off x="5272888" y="1609344"/>
            <a:ext cx="2880360" cy="274320"/>
          </a:xfrm>
          <a:prstGeom prst="rect">
            <a:avLst/>
          </a:prstGeom>
          <a:noFill/>
          <a:ln/>
        </p:spPr>
        <p:txBody>
          <a:bodyPr wrap="square" lIns="0" tIns="0" rIns="0" bIns="0" rtlCol="0" anchor="ctr"/>
          <a:lstStyle/>
          <a:p>
            <a:pPr indent="0" marL="0">
              <a:buNone/>
            </a:pPr>
            <a:r>
              <a:rPr lang="en-US" sz="1200" dirty="0">
                <a:solidFill>
                  <a:schemeClr val="accent5"/>
                </a:solidFill>
              </a:rPr>
              <a:t>Flask · la API</a:t>
            </a:r>
            <a:endParaRPr lang="en-US" sz="1200" dirty="0"/>
          </a:p>
        </p:txBody>
      </p:sp>
      <p:sp>
        <p:nvSpPr>
          <p:cNvPr id="17" name="Shape 13"/>
          <p:cNvSpPr/>
          <p:nvPr/>
        </p:nvSpPr>
        <p:spPr>
          <a:xfrm>
            <a:off x="4541368" y="2011680"/>
            <a:ext cx="3611880" cy="1717040"/>
          </a:xfrm>
          <a:prstGeom prst="roundRect">
            <a:avLst>
              <a:gd name="adj" fmla="val 6391"/>
            </a:avLst>
          </a:prstGeom>
          <a:solidFill>
            <a:srgbClr val="10261C"/>
          </a:solidFill>
          <a:ln w="12700">
            <a:solidFill>
              <a:srgbClr val="10261C"/>
            </a:solidFill>
            <a:prstDash val="solid"/>
          </a:ln>
        </p:spPr>
      </p:sp>
      <p:sp>
        <p:nvSpPr>
          <p:cNvPr id="18" name="Text 14"/>
          <p:cNvSpPr txBox="1"/>
          <p:nvPr/>
        </p:nvSpPr>
        <p:spPr>
          <a:xfrm>
            <a:off x="4678528" y="2148840"/>
            <a:ext cx="338328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routes: llega el DELETE</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@route("/&lt;int:id&gt;",</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       methods=["DELETE"])</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def eliminar(id):</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controller.eliminar_transaccion(id)</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db.transaccion.delete(</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where={"id": id})</a:t>
            </a:r>
            <a:endParaRPr lang="en-US" sz="1100" dirty="0"/>
          </a:p>
        </p:txBody>
      </p:sp>
      <p:sp>
        <p:nvSpPr>
          <p:cNvPr id="19" name="Text 15"/>
          <p:cNvSpPr txBox="1"/>
          <p:nvPr/>
        </p:nvSpPr>
        <p:spPr>
          <a:xfrm>
            <a:off x="4587088" y="3820160"/>
            <a:ext cx="3520440" cy="1437640"/>
          </a:xfrm>
          <a:prstGeom prst="rect">
            <a:avLst/>
          </a:prstGeom>
          <a:noFill/>
          <a:ln/>
        </p:spPr>
        <p:txBody>
          <a:bodyPr wrap="square" lIns="0" tIns="0" rIns="0" bIns="0" rtlCol="0" anchor="t"/>
          <a:lstStyle/>
          <a:p>
            <a:pPr indent="0" marL="0">
              <a:buNone/>
            </a:pPr>
            <a:r>
              <a:rPr lang="en-US" sz="1300" dirty="0">
                <a:solidFill>
                  <a:schemeClr val="tx2"/>
                </a:solidFill>
              </a:rPr>
              <a:t>El controller revisa que exista y que sin él el saldo no quede negativo. Luego el model lo borra.</a:t>
            </a:r>
            <a:endParaRPr lang="en-US" sz="1300" dirty="0"/>
          </a:p>
        </p:txBody>
      </p:sp>
      <p:sp>
        <p:nvSpPr>
          <p:cNvPr id="20" name="Shape 16"/>
          <p:cNvSpPr/>
          <p:nvPr/>
        </p:nvSpPr>
        <p:spPr>
          <a:xfrm>
            <a:off x="8345272" y="2926080"/>
            <a:ext cx="499720" cy="292608"/>
          </a:xfrm>
          <a:prstGeom prst="rightArrow">
            <a:avLst/>
          </a:prstGeom>
          <a:solidFill>
            <a:schemeClr val="accent5"/>
          </a:solidFill>
          <a:ln w="12700">
            <a:solidFill>
              <a:schemeClr val="accent5"/>
            </a:solidFill>
            <a:prstDash val="solid"/>
          </a:ln>
        </p:spPr>
      </p:sp>
      <p:sp>
        <p:nvSpPr>
          <p:cNvPr id="21" name="Shape 17"/>
          <p:cNvSpPr/>
          <p:nvPr/>
        </p:nvSpPr>
        <p:spPr>
          <a:xfrm>
            <a:off x="8899855" y="1188720"/>
            <a:ext cx="2743200" cy="4160520"/>
          </a:xfrm>
          <a:prstGeom prst="roundRect">
            <a:avLst>
              <a:gd name="adj" fmla="val 4000"/>
            </a:avLst>
          </a:prstGeom>
          <a:solidFill>
            <a:schemeClr val="bg2"/>
          </a:solidFill>
          <a:ln w="12700">
            <a:solidFill>
              <a:schemeClr val="bg2"/>
            </a:solidFill>
            <a:prstDash val="solid"/>
          </a:ln>
        </p:spPr>
      </p:sp>
      <p:sp>
        <p:nvSpPr>
          <p:cNvPr id="22" name="Shape 18"/>
          <p:cNvSpPr/>
          <p:nvPr/>
        </p:nvSpPr>
        <p:spPr>
          <a:xfrm>
            <a:off x="9082735" y="1325880"/>
            <a:ext cx="548640" cy="548640"/>
          </a:xfrm>
          <a:prstGeom prst="ellipse">
            <a:avLst/>
          </a:prstGeom>
          <a:solidFill>
            <a:schemeClr val="tx1"/>
          </a:solidFill>
          <a:ln w="12700">
            <a:solidFill>
              <a:schemeClr val="tx1"/>
            </a:solidFill>
            <a:prstDash val="solid"/>
          </a:ln>
        </p:spPr>
      </p:sp>
      <p:pic>
        <p:nvPicPr>
          <p:cNvPr id="23" name="Image 2" descr="preencoded.png">    </p:cNvPr>
          <p:cNvPicPr>
            <a:picLocks noChangeAspect="1"/>
          </p:cNvPicPr>
          <p:nvPr/>
        </p:nvPicPr>
        <p:blipFill>
          <a:blip r:embed="rId3"/>
          <a:stretch>
            <a:fillRect/>
          </a:stretch>
        </p:blipFill>
        <p:spPr>
          <a:xfrm>
            <a:off x="9219895" y="1463040"/>
            <a:ext cx="274320" cy="274320"/>
          </a:xfrm>
          <a:prstGeom prst="rect">
            <a:avLst/>
          </a:prstGeom>
        </p:spPr>
      </p:pic>
      <p:sp>
        <p:nvSpPr>
          <p:cNvPr id="24" name="Text 19"/>
          <p:cNvSpPr txBox="1"/>
          <p:nvPr/>
        </p:nvSpPr>
        <p:spPr>
          <a:xfrm>
            <a:off x="9768535" y="1307592"/>
            <a:ext cx="1737360" cy="310896"/>
          </a:xfrm>
          <a:prstGeom prst="rect">
            <a:avLst/>
          </a:prstGeom>
          <a:noFill/>
          <a:ln/>
        </p:spPr>
        <p:txBody>
          <a:bodyPr wrap="square" lIns="0" tIns="0" rIns="0" bIns="0" rtlCol="0" anchor="ctr"/>
          <a:lstStyle/>
          <a:p>
            <a:pPr indent="0" marL="0">
              <a:buNone/>
            </a:pPr>
            <a:r>
              <a:rPr lang="en-US" sz="1600" b="1" dirty="0">
                <a:solidFill>
                  <a:schemeClr val="tx1"/>
                </a:solidFill>
              </a:rPr>
              <a:t>BASE DE DATOS</a:t>
            </a:r>
            <a:endParaRPr lang="en-US" sz="1600" dirty="0"/>
          </a:p>
        </p:txBody>
      </p:sp>
      <p:sp>
        <p:nvSpPr>
          <p:cNvPr id="25" name="Text 20"/>
          <p:cNvSpPr txBox="1"/>
          <p:nvPr/>
        </p:nvSpPr>
        <p:spPr>
          <a:xfrm>
            <a:off x="9768535" y="1609344"/>
            <a:ext cx="1737360" cy="274320"/>
          </a:xfrm>
          <a:prstGeom prst="rect">
            <a:avLst/>
          </a:prstGeom>
          <a:noFill/>
          <a:ln/>
        </p:spPr>
        <p:txBody>
          <a:bodyPr wrap="square" lIns="0" tIns="0" rIns="0" bIns="0" rtlCol="0" anchor="ctr"/>
          <a:lstStyle/>
          <a:p>
            <a:pPr indent="0" marL="0">
              <a:buNone/>
            </a:pPr>
            <a:r>
              <a:rPr lang="en-US" sz="1200" dirty="0">
                <a:solidFill>
                  <a:schemeClr val="accent5"/>
                </a:solidFill>
              </a:rPr>
              <a:t>MySQL · los datos</a:t>
            </a:r>
            <a:endParaRPr lang="en-US" sz="1200" dirty="0"/>
          </a:p>
        </p:txBody>
      </p:sp>
      <p:sp>
        <p:nvSpPr>
          <p:cNvPr id="26" name="Shape 21"/>
          <p:cNvSpPr/>
          <p:nvPr/>
        </p:nvSpPr>
        <p:spPr>
          <a:xfrm>
            <a:off x="9037015" y="2011680"/>
            <a:ext cx="2468880" cy="669290"/>
          </a:xfrm>
          <a:prstGeom prst="roundRect">
            <a:avLst>
              <a:gd name="adj" fmla="val 16395"/>
            </a:avLst>
          </a:prstGeom>
          <a:solidFill>
            <a:srgbClr val="10261C"/>
          </a:solidFill>
          <a:ln w="12700">
            <a:solidFill>
              <a:srgbClr val="10261C"/>
            </a:solidFill>
            <a:prstDash val="solid"/>
          </a:ln>
        </p:spPr>
      </p:sp>
      <p:sp>
        <p:nvSpPr>
          <p:cNvPr id="27" name="Text 22"/>
          <p:cNvSpPr txBox="1"/>
          <p:nvPr/>
        </p:nvSpPr>
        <p:spPr>
          <a:xfrm>
            <a:off x="9174175" y="2148840"/>
            <a:ext cx="2240280" cy="440690"/>
          </a:xfrm>
          <a:prstGeom prst="rect">
            <a:avLst/>
          </a:prstGeom>
          <a:noFill/>
          <a:ln/>
        </p:spPr>
        <p:txBody>
          <a:bodyPr wrap="square" lIns="0" tIns="0" rIns="0" bIns="0" rtlCol="0" anchor="t"/>
          <a:lstStyle/>
          <a:p>
            <a:pPr indent="0" marL="0">
              <a:buNone/>
            </a:pPr>
            <a:r>
              <a:rPr lang="en-US" sz="1100" dirty="0">
                <a:solidFill>
                  <a:srgbClr val="8CC4F2"/>
                </a:solidFill>
                <a:latin typeface="Courier New" pitchFamily="34" charset="0"/>
                <a:ea typeface="Courier New" pitchFamily="34" charset="-122"/>
                <a:cs typeface="Courier New" pitchFamily="34" charset="-120"/>
              </a:rPr>
              <a:t>DELETE FROM Transaccion</a:t>
            </a:r>
            <a:endParaRPr lang="en-US" sz="1100" dirty="0"/>
          </a:p>
          <a:p>
            <a:pPr indent="0" marL="0">
              <a:buNone/>
            </a:pPr>
            <a:r>
              <a:rPr lang="en-US" sz="1100" dirty="0">
                <a:solidFill>
                  <a:srgbClr val="A8E6CB"/>
                </a:solidFill>
                <a:latin typeface="Courier New" pitchFamily="34" charset="0"/>
                <a:ea typeface="Courier New" pitchFamily="34" charset="-122"/>
                <a:cs typeface="Courier New" pitchFamily="34" charset="-120"/>
              </a:rPr>
              <a:t>WHERE id = 12;</a:t>
            </a:r>
            <a:endParaRPr lang="en-US" sz="1100" dirty="0"/>
          </a:p>
        </p:txBody>
      </p:sp>
      <p:sp>
        <p:nvSpPr>
          <p:cNvPr id="28" name="Text 23"/>
          <p:cNvSpPr txBox="1"/>
          <p:nvPr/>
        </p:nvSpPr>
        <p:spPr>
          <a:xfrm>
            <a:off x="9082735" y="2772410"/>
            <a:ext cx="2377440" cy="2485390"/>
          </a:xfrm>
          <a:prstGeom prst="rect">
            <a:avLst/>
          </a:prstGeom>
          <a:noFill/>
          <a:ln/>
        </p:spPr>
        <p:txBody>
          <a:bodyPr wrap="square" lIns="0" tIns="0" rIns="0" bIns="0" rtlCol="0" anchor="t"/>
          <a:lstStyle/>
          <a:p>
            <a:pPr indent="0" marL="0">
              <a:buNone/>
            </a:pPr>
            <a:r>
              <a:rPr lang="en-US" sz="1300" dirty="0">
                <a:solidFill>
                  <a:schemeClr val="tx2"/>
                </a:solidFill>
              </a:rPr>
              <a:t>MySQL borra solo esa fila. Sin el WHERE se borraría toda la tabla.</a:t>
            </a:r>
            <a:endParaRPr lang="en-US" sz="1300" dirty="0"/>
          </a:p>
        </p:txBody>
      </p:sp>
      <p:sp>
        <p:nvSpPr>
          <p:cNvPr id="29" name="Text 24"/>
          <p:cNvSpPr txBox="1"/>
          <p:nvPr/>
        </p:nvSpPr>
        <p:spPr>
          <a:xfrm>
            <a:off x="3703320"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DELETE /12</a:t>
            </a:r>
            <a:endParaRPr lang="en-US" sz="900" dirty="0"/>
          </a:p>
        </p:txBody>
      </p:sp>
      <p:sp>
        <p:nvSpPr>
          <p:cNvPr id="30" name="Text 25"/>
          <p:cNvSpPr txBox="1"/>
          <p:nvPr/>
        </p:nvSpPr>
        <p:spPr>
          <a:xfrm>
            <a:off x="8198968"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Prisma: delete()</a:t>
            </a:r>
            <a:endParaRPr lang="en-US" sz="900" dirty="0"/>
          </a:p>
        </p:txBody>
      </p:sp>
      <p:sp>
        <p:nvSpPr>
          <p:cNvPr id="31" name="Shape 26"/>
          <p:cNvSpPr/>
          <p:nvPr/>
        </p:nvSpPr>
        <p:spPr>
          <a:xfrm>
            <a:off x="548640" y="5486400"/>
            <a:ext cx="11094415" cy="658368"/>
          </a:xfrm>
          <a:prstGeom prst="roundRect">
            <a:avLst>
              <a:gd name="adj" fmla="val 16667"/>
            </a:avLst>
          </a:prstGeom>
          <a:solidFill>
            <a:schemeClr val="tx1"/>
          </a:solidFill>
          <a:ln w="12700">
            <a:solidFill>
              <a:schemeClr val="tx1"/>
            </a:solidFill>
            <a:prstDash val="solid"/>
          </a:ln>
        </p:spPr>
      </p:sp>
      <p:sp>
        <p:nvSpPr>
          <p:cNvPr id="32" name="Shape 27"/>
          <p:cNvSpPr/>
          <p:nvPr/>
        </p:nvSpPr>
        <p:spPr>
          <a:xfrm>
            <a:off x="777240" y="5650992"/>
            <a:ext cx="640080" cy="329184"/>
          </a:xfrm>
          <a:prstGeom prst="leftArrow">
            <a:avLst/>
          </a:prstGeom>
          <a:solidFill>
            <a:schemeClr val="accent6"/>
          </a:solidFill>
          <a:ln w="12700">
            <a:solidFill>
              <a:schemeClr val="accent6"/>
            </a:solidFill>
            <a:prstDash val="solid"/>
          </a:ln>
        </p:spPr>
      </p:sp>
      <p:sp>
        <p:nvSpPr>
          <p:cNvPr id="33" name="Text 28"/>
          <p:cNvSpPr txBox="1"/>
          <p:nvPr/>
        </p:nvSpPr>
        <p:spPr>
          <a:xfrm>
            <a:off x="1600200" y="5486400"/>
            <a:ext cx="9859975" cy="658368"/>
          </a:xfrm>
          <a:prstGeom prst="rect">
            <a:avLst/>
          </a:prstGeom>
          <a:noFill/>
          <a:ln/>
        </p:spPr>
        <p:txBody>
          <a:bodyPr wrap="square" lIns="0" tIns="0" rIns="0" bIns="0" rtlCol="0" anchor="ctr"/>
          <a:lstStyle/>
          <a:p>
            <a:pPr indent="0" marL="0">
              <a:buNone/>
            </a:pPr>
            <a:r>
              <a:rPr lang="en-US" sz="1500" b="1" dirty="0">
                <a:solidFill>
                  <a:schemeClr val="accent6"/>
                </a:solidFill>
              </a:rPr>
              <a:t>De vuelta: </a:t>
            </a:r>
            <a:pPr indent="0" marL="0">
              <a:buNone/>
            </a:pPr>
            <a:r>
              <a:rPr lang="en-US" sz="1500" dirty="0">
                <a:solidFill>
                  <a:schemeClr val="bg1"/>
                </a:solidFill>
              </a:rPr>
              <a:t>200 (OK) → la pantalla dice «Transacción TX-0009 eliminada» y el saldo vuelve a $3.509.000.</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2"/>
                </a:solidFill>
              </a:rPr>
              <a:t>D · </a:t>
            </a:r>
            <a:pPr algn="l" indent="0" marL="0">
              <a:buNone/>
            </a:pPr>
            <a:r>
              <a:rPr lang="en-US" sz="3400" b="1" dirty="0">
                <a:solidFill>
                  <a:schemeClr val="tx1"/>
                </a:solidFill>
              </a:rPr>
              <a:t>Eliminar: lo que revisa el backend</a:t>
            </a:r>
            <a:endParaRPr lang="en-US" sz="3400" dirty="0"/>
          </a:p>
        </p:txBody>
      </p:sp>
      <p:sp>
        <p:nvSpPr>
          <p:cNvPr id="3" name="Shape 1"/>
          <p:cNvSpPr/>
          <p:nvPr/>
        </p:nvSpPr>
        <p:spPr>
          <a:xfrm>
            <a:off x="548640" y="1234440"/>
            <a:ext cx="6675120" cy="3802380"/>
          </a:xfrm>
          <a:prstGeom prst="roundRect">
            <a:avLst>
              <a:gd name="adj" fmla="val 2886"/>
            </a:avLst>
          </a:prstGeom>
          <a:solidFill>
            <a:srgbClr val="10261C"/>
          </a:solidFill>
          <a:ln w="12700">
            <a:solidFill>
              <a:srgbClr val="10261C"/>
            </a:solidFill>
            <a:prstDash val="solid"/>
          </a:ln>
        </p:spPr>
      </p:sp>
      <p:sp>
        <p:nvSpPr>
          <p:cNvPr id="4" name="Text 2"/>
          <p:cNvSpPr txBox="1"/>
          <p:nvPr/>
        </p:nvSpPr>
        <p:spPr>
          <a:xfrm>
            <a:off x="822960" y="1463040"/>
            <a:ext cx="6217920" cy="3390900"/>
          </a:xfrm>
          <a:prstGeom prst="rect">
            <a:avLst/>
          </a:prstGeom>
          <a:noFill/>
          <a:ln/>
        </p:spPr>
        <p:txBody>
          <a:bodyPr wrap="square" lIns="0" tIns="0" rIns="0" bIns="0" rtlCol="0" anchor="t"/>
          <a:lstStyle/>
          <a:p>
            <a:pPr indent="0" marL="0">
              <a:buNone/>
            </a:pPr>
            <a:r>
              <a:rPr lang="en-US" sz="1400" dirty="0">
                <a:solidFill>
                  <a:srgbClr val="8CC4F2"/>
                </a:solidFill>
                <a:latin typeface="Courier New" pitchFamily="34" charset="0"/>
                <a:ea typeface="Courier New" pitchFamily="34" charset="-122"/>
                <a:cs typeface="Courier New" pitchFamily="34" charset="-120"/>
              </a:rPr>
              <a:t>def eliminar_transaccion(id):</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movimientos = movimientos_actuales()</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1. ¿Existe ese movimiento?</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if not any(t["id"] == id for t in movimientos):</a:t>
            </a:r>
            <a:endParaRPr lang="en-US" sz="1400" dirty="0"/>
          </a:p>
          <a:p>
            <a:pPr indent="0" marL="0">
              <a:buNone/>
            </a:pPr>
            <a:r>
              <a:rPr lang="en-US" sz="1400" dirty="0">
                <a:solidFill>
                  <a:srgbClr val="F2A7B5"/>
                </a:solidFill>
                <a:latin typeface="Courier New" pitchFamily="34" charset="0"/>
                <a:ea typeface="Courier New" pitchFamily="34" charset="-122"/>
                <a:cs typeface="Courier New" pitchFamily="34" charset="-120"/>
              </a:rPr>
              <a:t>        return {"error": "No existe"}, 404</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2. Sin él, ¿el saldo queda bien?</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sin_ese = [t for t in movimientos if t["id"] != id]</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if saldo_queda_negativo(sin_ese):</a:t>
            </a:r>
            <a:endParaRPr lang="en-US" sz="1400" dirty="0"/>
          </a:p>
          <a:p>
            <a:pPr indent="0" marL="0">
              <a:buNone/>
            </a:pPr>
            <a:r>
              <a:rPr lang="en-US" sz="1400" dirty="0">
                <a:solidFill>
                  <a:srgbClr val="F2A7B5"/>
                </a:solidFill>
                <a:latin typeface="Courier New" pitchFamily="34" charset="0"/>
                <a:ea typeface="Courier New" pitchFamily="34" charset="-122"/>
                <a:cs typeface="Courier New" pitchFamily="34" charset="-120"/>
              </a:rPr>
              <a:t>        return {"error": "Quedaría negativo"}, 400</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rgbClr val="F2C14E"/>
                </a:solidFill>
                <a:latin typeface="Courier New" pitchFamily="34" charset="0"/>
                <a:ea typeface="Courier New" pitchFamily="34" charset="-122"/>
                <a:cs typeface="Courier New" pitchFamily="34" charset="-120"/>
              </a:rPr>
              <a:t>    # 3. Borrar en MySQL y responder</a:t>
            </a:r>
            <a:endParaRPr lang="en-US" sz="1400" dirty="0"/>
          </a:p>
          <a:p>
            <a:pPr indent="0" marL="0">
              <a:buNone/>
            </a:pPr>
            <a:r>
              <a:rPr lang="en-US" sz="1400" dirty="0">
                <a:solidFill>
                  <a:srgbClr val="E8F2EC"/>
                </a:solidFill>
                <a:latin typeface="Courier New" pitchFamily="34" charset="0"/>
                <a:ea typeface="Courier New" pitchFamily="34" charset="-122"/>
                <a:cs typeface="Courier New" pitchFamily="34" charset="-120"/>
              </a:rPr>
              <a:t>    eliminada = transaccion_model.eliminar(id)</a:t>
            </a:r>
            <a:endParaRPr lang="en-US" sz="1400" dirty="0"/>
          </a:p>
          <a:p>
            <a:pPr indent="0" marL="0">
              <a:buNone/>
            </a:pPr>
            <a:r>
              <a:rPr lang="en-US" sz="1400" dirty="0">
                <a:solidFill>
                  <a:srgbClr val="A8E6CB"/>
                </a:solidFill>
                <a:latin typeface="Courier New" pitchFamily="34" charset="0"/>
                <a:ea typeface="Courier New" pitchFamily="34" charset="-122"/>
                <a:cs typeface="Courier New" pitchFamily="34" charset="-120"/>
              </a:rPr>
              <a:t>    return {"mensaje": "Eliminada"}, 200</a:t>
            </a:r>
            <a:endParaRPr lang="en-US" sz="1400" dirty="0"/>
          </a:p>
        </p:txBody>
      </p:sp>
      <p:sp>
        <p:nvSpPr>
          <p:cNvPr id="5" name="Text 3"/>
          <p:cNvSpPr txBox="1"/>
          <p:nvPr/>
        </p:nvSpPr>
        <p:spPr>
          <a:xfrm>
            <a:off x="548640" y="5109972"/>
            <a:ext cx="6675120" cy="256032"/>
          </a:xfrm>
          <a:prstGeom prst="rect">
            <a:avLst/>
          </a:prstGeom>
          <a:noFill/>
          <a:ln/>
        </p:spPr>
        <p:txBody>
          <a:bodyPr wrap="square" lIns="0" tIns="0" rIns="0" bIns="0" rtlCol="0" anchor="ctr"/>
          <a:lstStyle/>
          <a:p>
            <a:pPr indent="0" marL="0">
              <a:buNone/>
            </a:pPr>
            <a:r>
              <a:rPr lang="en-US" sz="1000" i="1" dirty="0">
                <a:solidFill>
                  <a:schemeClr val="accent5"/>
                </a:solidFill>
              </a:rPr>
              <a:t>Código del controller (backend), resumido para la explicación.</a:t>
            </a:r>
            <a:endParaRPr lang="en-US" sz="1000" dirty="0"/>
          </a:p>
        </p:txBody>
      </p:sp>
      <p:pic>
        <p:nvPicPr>
          <p:cNvPr id="6" name="Image 0" descr="La pantalla pide confirmación antes de eliminar">    </p:cNvPr>
          <p:cNvPicPr>
            <a:picLocks noChangeAspect="1"/>
          </p:cNvPicPr>
          <p:nvPr/>
        </p:nvPicPr>
        <p:blipFill>
          <a:blip r:embed="rId1"/>
          <a:stretch>
            <a:fillRect/>
          </a:stretch>
        </p:blipFill>
        <p:spPr>
          <a:xfrm>
            <a:off x="7861293" y="1234440"/>
            <a:ext cx="3464270" cy="2331720"/>
          </a:xfrm>
          <a:prstGeom prst="rect">
            <a:avLst/>
          </a:prstGeom>
          <a:effectLst>
            <a:outerShdw sx="100000" sy="100000" kx="0" ky="0" algn="bl" rotWithShape="0" blurRad="101600" dist="25400" dir="5400000">
              <a:srgbClr val="000000">
                <a:alpha val="18000"/>
              </a:srgbClr>
            </a:outerShdw>
          </a:effectLst>
        </p:spPr>
      </p:pic>
      <p:sp>
        <p:nvSpPr>
          <p:cNvPr id="7" name="Shape 4"/>
          <p:cNvSpPr/>
          <p:nvPr/>
        </p:nvSpPr>
        <p:spPr>
          <a:xfrm>
            <a:off x="7543800" y="3794760"/>
            <a:ext cx="457200" cy="457200"/>
          </a:xfrm>
          <a:prstGeom prst="ellipse">
            <a:avLst/>
          </a:prstGeom>
          <a:solidFill>
            <a:schemeClr val="accent2"/>
          </a:solidFill>
          <a:ln w="12700">
            <a:solidFill>
              <a:schemeClr val="accent2"/>
            </a:solidFill>
            <a:prstDash val="solid"/>
          </a:ln>
        </p:spPr>
      </p:sp>
      <p:sp>
        <p:nvSpPr>
          <p:cNvPr id="8" name="Text 5"/>
          <p:cNvSpPr txBox="1"/>
          <p:nvPr/>
        </p:nvSpPr>
        <p:spPr>
          <a:xfrm>
            <a:off x="7543800" y="3794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8138160" y="3767328"/>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La pantalla pregunta</a:t>
            </a:r>
            <a:endParaRPr lang="en-US" sz="1700" dirty="0"/>
          </a:p>
        </p:txBody>
      </p:sp>
      <p:sp>
        <p:nvSpPr>
          <p:cNvPr id="10" name="Text 7"/>
          <p:cNvSpPr txBox="1"/>
          <p:nvPr/>
        </p:nvSpPr>
        <p:spPr>
          <a:xfrm>
            <a:off x="8138160" y="4096512"/>
            <a:ext cx="3504895" cy="457200"/>
          </a:xfrm>
          <a:prstGeom prst="rect">
            <a:avLst/>
          </a:prstGeom>
          <a:noFill/>
          <a:ln/>
        </p:spPr>
        <p:txBody>
          <a:bodyPr wrap="square" lIns="0" tIns="0" rIns="0" bIns="0" rtlCol="0" anchor="t"/>
          <a:lstStyle/>
          <a:p>
            <a:pPr indent="0" marL="0">
              <a:buNone/>
            </a:pPr>
            <a:r>
              <a:rPr lang="en-US" sz="1400" dirty="0">
                <a:solidFill>
                  <a:schemeClr val="tx2"/>
                </a:solidFill>
              </a:rPr>
              <a:t>«¿Eliminar TX-0009?»</a:t>
            </a:r>
            <a:endParaRPr lang="en-US" sz="1400" dirty="0"/>
          </a:p>
        </p:txBody>
      </p:sp>
      <p:sp>
        <p:nvSpPr>
          <p:cNvPr id="11" name="Shape 8"/>
          <p:cNvSpPr/>
          <p:nvPr/>
        </p:nvSpPr>
        <p:spPr>
          <a:xfrm>
            <a:off x="7543800" y="4398264"/>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7543800" y="439826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8138160" y="4370832"/>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Busca el movimiento</a:t>
            </a:r>
            <a:endParaRPr lang="en-US" sz="1700" dirty="0"/>
          </a:p>
        </p:txBody>
      </p:sp>
      <p:sp>
        <p:nvSpPr>
          <p:cNvPr id="14" name="Text 11"/>
          <p:cNvSpPr txBox="1"/>
          <p:nvPr/>
        </p:nvSpPr>
        <p:spPr>
          <a:xfrm>
            <a:off x="8138160" y="4700016"/>
            <a:ext cx="3504895" cy="457200"/>
          </a:xfrm>
          <a:prstGeom prst="rect">
            <a:avLst/>
          </a:prstGeom>
          <a:noFill/>
          <a:ln/>
        </p:spPr>
        <p:txBody>
          <a:bodyPr wrap="square" lIns="0" tIns="0" rIns="0" bIns="0" rtlCol="0" anchor="t"/>
          <a:lstStyle/>
          <a:p>
            <a:pPr indent="0" marL="0">
              <a:buNone/>
            </a:pPr>
            <a:r>
              <a:rPr lang="en-US" sz="1400" dirty="0">
                <a:solidFill>
                  <a:schemeClr val="tx2"/>
                </a:solidFill>
              </a:rPr>
              <a:t>Si no existe: 404</a:t>
            </a:r>
            <a:endParaRPr lang="en-US" sz="1400" dirty="0"/>
          </a:p>
        </p:txBody>
      </p:sp>
      <p:sp>
        <p:nvSpPr>
          <p:cNvPr id="15" name="Shape 12"/>
          <p:cNvSpPr/>
          <p:nvPr/>
        </p:nvSpPr>
        <p:spPr>
          <a:xfrm>
            <a:off x="7543800" y="5001768"/>
            <a:ext cx="457200" cy="457200"/>
          </a:xfrm>
          <a:prstGeom prst="ellipse">
            <a:avLst/>
          </a:prstGeom>
          <a:solidFill>
            <a:schemeClr val="accent2"/>
          </a:solidFill>
          <a:ln w="12700">
            <a:solidFill>
              <a:schemeClr val="accent2"/>
            </a:solidFill>
            <a:prstDash val="solid"/>
          </a:ln>
        </p:spPr>
      </p:sp>
      <p:sp>
        <p:nvSpPr>
          <p:cNvPr id="16" name="Text 13"/>
          <p:cNvSpPr txBox="1"/>
          <p:nvPr/>
        </p:nvSpPr>
        <p:spPr>
          <a:xfrm>
            <a:off x="7543800" y="5001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8138160" y="4974336"/>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Prueba el saldo sin él</a:t>
            </a:r>
            <a:endParaRPr lang="en-US" sz="1700" dirty="0"/>
          </a:p>
        </p:txBody>
      </p:sp>
      <p:sp>
        <p:nvSpPr>
          <p:cNvPr id="18" name="Text 15"/>
          <p:cNvSpPr txBox="1"/>
          <p:nvPr/>
        </p:nvSpPr>
        <p:spPr>
          <a:xfrm>
            <a:off x="8138160" y="5303520"/>
            <a:ext cx="3504895" cy="457200"/>
          </a:xfrm>
          <a:prstGeom prst="rect">
            <a:avLst/>
          </a:prstGeom>
          <a:noFill/>
          <a:ln/>
        </p:spPr>
        <p:txBody>
          <a:bodyPr wrap="square" lIns="0" tIns="0" rIns="0" bIns="0" rtlCol="0" anchor="t"/>
          <a:lstStyle/>
          <a:p>
            <a:pPr indent="0" marL="0">
              <a:buNone/>
            </a:pPr>
            <a:r>
              <a:rPr lang="en-US" sz="1400" dirty="0">
                <a:solidFill>
                  <a:schemeClr val="tx2"/>
                </a:solidFill>
              </a:rPr>
              <a:t>No puede quedar negativo</a:t>
            </a:r>
            <a:endParaRPr lang="en-US" sz="1400" dirty="0"/>
          </a:p>
        </p:txBody>
      </p:sp>
      <p:sp>
        <p:nvSpPr>
          <p:cNvPr id="19" name="Shape 16"/>
          <p:cNvSpPr/>
          <p:nvPr/>
        </p:nvSpPr>
        <p:spPr>
          <a:xfrm>
            <a:off x="7543800" y="5605272"/>
            <a:ext cx="457200" cy="457200"/>
          </a:xfrm>
          <a:prstGeom prst="ellipse">
            <a:avLst/>
          </a:prstGeom>
          <a:solidFill>
            <a:schemeClr val="accent2"/>
          </a:solidFill>
          <a:ln w="12700">
            <a:solidFill>
              <a:schemeClr val="accent2"/>
            </a:solidFill>
            <a:prstDash val="solid"/>
          </a:ln>
        </p:spPr>
      </p:sp>
      <p:sp>
        <p:nvSpPr>
          <p:cNvPr id="20" name="Text 17"/>
          <p:cNvSpPr txBox="1"/>
          <p:nvPr/>
        </p:nvSpPr>
        <p:spPr>
          <a:xfrm>
            <a:off x="7543800" y="5605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8138160" y="5577840"/>
            <a:ext cx="3504895" cy="329184"/>
          </a:xfrm>
          <a:prstGeom prst="rect">
            <a:avLst/>
          </a:prstGeom>
          <a:noFill/>
          <a:ln/>
        </p:spPr>
        <p:txBody>
          <a:bodyPr wrap="square" lIns="0" tIns="0" rIns="0" bIns="0" rtlCol="0" anchor="ctr"/>
          <a:lstStyle/>
          <a:p>
            <a:pPr indent="0" marL="0">
              <a:buNone/>
            </a:pPr>
            <a:r>
              <a:rPr lang="en-US" sz="1700" b="1" dirty="0">
                <a:solidFill>
                  <a:schemeClr val="tx1"/>
                </a:solidFill>
              </a:rPr>
              <a:t>Borra y responde 200</a:t>
            </a:r>
            <a:endParaRPr lang="en-US" sz="1700" dirty="0"/>
          </a:p>
        </p:txBody>
      </p:sp>
      <p:sp>
        <p:nvSpPr>
          <p:cNvPr id="22" name="Text 19"/>
          <p:cNvSpPr txBox="1"/>
          <p:nvPr/>
        </p:nvSpPr>
        <p:spPr>
          <a:xfrm>
            <a:off x="8138160" y="5907024"/>
            <a:ext cx="3504895" cy="457200"/>
          </a:xfrm>
          <a:prstGeom prst="rect">
            <a:avLst/>
          </a:prstGeom>
          <a:noFill/>
          <a:ln/>
        </p:spPr>
        <p:txBody>
          <a:bodyPr wrap="square" lIns="0" tIns="0" rIns="0" bIns="0" rtlCol="0" anchor="t"/>
          <a:lstStyle/>
          <a:p>
            <a:pPr indent="0" marL="0">
              <a:buNone/>
            </a:pPr>
            <a:r>
              <a:rPr lang="en-US" sz="1400" dirty="0">
                <a:solidFill>
                  <a:schemeClr val="tx2"/>
                </a:solidFill>
              </a:rPr>
              <a:t>El saldo vuelve a $3.509.000</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Cuando algo sale mal, el sistema lo explica</a:t>
            </a:r>
            <a:endParaRPr lang="en-US" sz="3400" dirty="0"/>
          </a:p>
        </p:txBody>
      </p:sp>
      <p:pic>
        <p:nvPicPr>
          <p:cNvPr id="3" name="Image 0" descr="Transferencia de 5.000.000 rechazada por saldo insuficiente">    </p:cNvPr>
          <p:cNvPicPr>
            <a:picLocks noChangeAspect="1"/>
          </p:cNvPicPr>
          <p:nvPr/>
        </p:nvPicPr>
        <p:blipFill>
          <a:blip r:embed="rId1"/>
          <a:stretch>
            <a:fillRect/>
          </a:stretch>
        </p:blipFill>
        <p:spPr>
          <a:xfrm>
            <a:off x="548640" y="1428457"/>
            <a:ext cx="5669280" cy="3452446"/>
          </a:xfrm>
          <a:prstGeom prst="rect">
            <a:avLst/>
          </a:prstGeom>
          <a:effectLst>
            <a:outerShdw sx="100000" sy="100000" kx="0" ky="0" algn="bl" rotWithShape="0" blurRad="101600" dist="25400" dir="5400000">
              <a:srgbClr val="000000">
                <a:alpha val="18000"/>
              </a:srgbClr>
            </a:outerShdw>
          </a:effectLst>
        </p:spPr>
      </p:pic>
      <p:sp>
        <p:nvSpPr>
          <p:cNvPr id="4" name="Text 1"/>
          <p:cNvSpPr txBox="1"/>
          <p:nvPr/>
        </p:nvSpPr>
        <p:spPr>
          <a:xfrm>
            <a:off x="548640" y="5212080"/>
            <a:ext cx="5669280" cy="365760"/>
          </a:xfrm>
          <a:prstGeom prst="rect">
            <a:avLst/>
          </a:prstGeom>
          <a:noFill/>
          <a:ln/>
        </p:spPr>
        <p:txBody>
          <a:bodyPr wrap="square" lIns="0" tIns="0" rIns="0" bIns="0" rtlCol="0" anchor="ctr"/>
          <a:lstStyle/>
          <a:p>
            <a:pPr algn="ctr" indent="0" marL="0">
              <a:buNone/>
            </a:pPr>
            <a:r>
              <a:rPr lang="en-US" sz="1500" i="1" dirty="0">
                <a:solidFill>
                  <a:schemeClr val="tx2"/>
                </a:solidFill>
              </a:rPr>
              <a:t>Transferir $5.000.000 con un saldo de $3.259.000</a:t>
            </a:r>
            <a:endParaRPr lang="en-US" sz="1500" dirty="0"/>
          </a:p>
        </p:txBody>
      </p:sp>
      <p:sp>
        <p:nvSpPr>
          <p:cNvPr id="5" name="Text 2"/>
          <p:cNvSpPr txBox="1"/>
          <p:nvPr/>
        </p:nvSpPr>
        <p:spPr>
          <a:xfrm>
            <a:off x="6675120" y="1234440"/>
            <a:ext cx="4967935" cy="411480"/>
          </a:xfrm>
          <a:prstGeom prst="rect">
            <a:avLst/>
          </a:prstGeom>
          <a:noFill/>
          <a:ln/>
        </p:spPr>
        <p:txBody>
          <a:bodyPr wrap="square" lIns="0" tIns="0" rIns="0" bIns="0" rtlCol="0" anchor="ctr"/>
          <a:lstStyle/>
          <a:p>
            <a:pPr indent="0" marL="0">
              <a:buNone/>
            </a:pPr>
            <a:r>
              <a:rPr lang="en-US" sz="1800" b="1" dirty="0">
                <a:solidFill>
                  <a:schemeClr val="tx1"/>
                </a:solidFill>
              </a:rPr>
              <a:t>Cada error tiene su número y su mensaje</a:t>
            </a:r>
            <a:endParaRPr lang="en-US" sz="1800" dirty="0"/>
          </a:p>
        </p:txBody>
      </p:sp>
      <p:sp>
        <p:nvSpPr>
          <p:cNvPr id="6" name="Shape 3"/>
          <p:cNvSpPr/>
          <p:nvPr/>
        </p:nvSpPr>
        <p:spPr>
          <a:xfrm>
            <a:off x="6675120" y="1783080"/>
            <a:ext cx="4967935" cy="777240"/>
          </a:xfrm>
          <a:prstGeom prst="roundRect">
            <a:avLst>
              <a:gd name="adj" fmla="val 14118"/>
            </a:avLst>
          </a:prstGeom>
          <a:solidFill>
            <a:schemeClr val="bg2"/>
          </a:solidFill>
          <a:ln w="12700">
            <a:solidFill>
              <a:schemeClr val="bg2"/>
            </a:solidFill>
            <a:prstDash val="solid"/>
          </a:ln>
        </p:spPr>
      </p:sp>
      <p:sp>
        <p:nvSpPr>
          <p:cNvPr id="7" name="Shape 4"/>
          <p:cNvSpPr/>
          <p:nvPr/>
        </p:nvSpPr>
        <p:spPr>
          <a:xfrm>
            <a:off x="6858000" y="1975104"/>
            <a:ext cx="822960" cy="384048"/>
          </a:xfrm>
          <a:prstGeom prst="roundRect">
            <a:avLst>
              <a:gd name="adj" fmla="val 50000"/>
            </a:avLst>
          </a:prstGeom>
          <a:solidFill>
            <a:schemeClr val="accent2"/>
          </a:solidFill>
          <a:ln w="12700">
            <a:solidFill>
              <a:schemeClr val="accent2"/>
            </a:solidFill>
            <a:prstDash val="solid"/>
          </a:ln>
        </p:spPr>
      </p:sp>
      <p:sp>
        <p:nvSpPr>
          <p:cNvPr id="8" name="Text 5"/>
          <p:cNvSpPr txBox="1"/>
          <p:nvPr/>
        </p:nvSpPr>
        <p:spPr>
          <a:xfrm>
            <a:off x="6858000" y="1975104"/>
            <a:ext cx="822960" cy="384048"/>
          </a:xfrm>
          <a:prstGeom prst="rect">
            <a:avLst/>
          </a:prstGeom>
          <a:noFill/>
          <a:ln/>
        </p:spPr>
        <p:txBody>
          <a:bodyPr wrap="square" lIns="0" tIns="0" rIns="0" bIns="0" rtlCol="0" anchor="ctr"/>
          <a:lstStyle/>
          <a:p>
            <a:pPr algn="ctr" indent="0" marL="0">
              <a:buNone/>
            </a:pPr>
            <a:r>
              <a:rPr lang="en-US" sz="1400" b="1" dirty="0">
                <a:solidFill>
                  <a:schemeClr val="bg1"/>
                </a:solidFill>
              </a:rPr>
              <a:t>400</a:t>
            </a:r>
            <a:endParaRPr lang="en-US" sz="1400" dirty="0"/>
          </a:p>
        </p:txBody>
      </p:sp>
      <p:sp>
        <p:nvSpPr>
          <p:cNvPr id="9" name="Text 6"/>
          <p:cNvSpPr txBox="1"/>
          <p:nvPr/>
        </p:nvSpPr>
        <p:spPr>
          <a:xfrm>
            <a:off x="7863840" y="1783080"/>
            <a:ext cx="3596335" cy="777240"/>
          </a:xfrm>
          <a:prstGeom prst="rect">
            <a:avLst/>
          </a:prstGeom>
          <a:noFill/>
          <a:ln/>
        </p:spPr>
        <p:txBody>
          <a:bodyPr wrap="square" lIns="0" tIns="0" rIns="0" bIns="0" rtlCol="0" anchor="ctr"/>
          <a:lstStyle/>
          <a:p>
            <a:pPr indent="0" marL="0">
              <a:buNone/>
            </a:pPr>
            <a:r>
              <a:rPr lang="en-US" sz="1600" dirty="0">
                <a:solidFill>
                  <a:schemeClr val="tx1"/>
                </a:solidFill>
              </a:rPr>
              <a:t>Algo está mal en los datos, o no alcanza el saldo</a:t>
            </a:r>
            <a:endParaRPr lang="en-US" sz="1600" dirty="0"/>
          </a:p>
        </p:txBody>
      </p:sp>
      <p:sp>
        <p:nvSpPr>
          <p:cNvPr id="10" name="Shape 7"/>
          <p:cNvSpPr/>
          <p:nvPr/>
        </p:nvSpPr>
        <p:spPr>
          <a:xfrm>
            <a:off x="6675120" y="2743200"/>
            <a:ext cx="4967935" cy="777240"/>
          </a:xfrm>
          <a:prstGeom prst="roundRect">
            <a:avLst>
              <a:gd name="adj" fmla="val 14118"/>
            </a:avLst>
          </a:prstGeom>
          <a:solidFill>
            <a:schemeClr val="bg2"/>
          </a:solidFill>
          <a:ln w="12700">
            <a:solidFill>
              <a:schemeClr val="bg2"/>
            </a:solidFill>
            <a:prstDash val="solid"/>
          </a:ln>
        </p:spPr>
      </p:sp>
      <p:sp>
        <p:nvSpPr>
          <p:cNvPr id="11" name="Shape 8"/>
          <p:cNvSpPr/>
          <p:nvPr/>
        </p:nvSpPr>
        <p:spPr>
          <a:xfrm>
            <a:off x="6858000" y="2935224"/>
            <a:ext cx="822960" cy="384048"/>
          </a:xfrm>
          <a:prstGeom prst="roundRect">
            <a:avLst>
              <a:gd name="adj" fmla="val 50000"/>
            </a:avLst>
          </a:prstGeom>
          <a:solidFill>
            <a:schemeClr val="accent4"/>
          </a:solidFill>
          <a:ln w="12700">
            <a:solidFill>
              <a:schemeClr val="accent4"/>
            </a:solidFill>
            <a:prstDash val="solid"/>
          </a:ln>
        </p:spPr>
      </p:sp>
      <p:sp>
        <p:nvSpPr>
          <p:cNvPr id="12" name="Text 9"/>
          <p:cNvSpPr txBox="1"/>
          <p:nvPr/>
        </p:nvSpPr>
        <p:spPr>
          <a:xfrm>
            <a:off x="6858000" y="2935224"/>
            <a:ext cx="822960" cy="384048"/>
          </a:xfrm>
          <a:prstGeom prst="rect">
            <a:avLst/>
          </a:prstGeom>
          <a:noFill/>
          <a:ln/>
        </p:spPr>
        <p:txBody>
          <a:bodyPr wrap="square" lIns="0" tIns="0" rIns="0" bIns="0" rtlCol="0" anchor="ctr"/>
          <a:lstStyle/>
          <a:p>
            <a:pPr algn="ctr" indent="0" marL="0">
              <a:buNone/>
            </a:pPr>
            <a:r>
              <a:rPr lang="en-US" sz="1400" b="1" dirty="0">
                <a:solidFill>
                  <a:schemeClr val="bg1"/>
                </a:solidFill>
              </a:rPr>
              <a:t>404</a:t>
            </a:r>
            <a:endParaRPr lang="en-US" sz="1400" dirty="0"/>
          </a:p>
        </p:txBody>
      </p:sp>
      <p:sp>
        <p:nvSpPr>
          <p:cNvPr id="13" name="Text 10"/>
          <p:cNvSpPr txBox="1"/>
          <p:nvPr/>
        </p:nvSpPr>
        <p:spPr>
          <a:xfrm>
            <a:off x="7863840" y="2743200"/>
            <a:ext cx="3596335" cy="777240"/>
          </a:xfrm>
          <a:prstGeom prst="rect">
            <a:avLst/>
          </a:prstGeom>
          <a:noFill/>
          <a:ln/>
        </p:spPr>
        <p:txBody>
          <a:bodyPr wrap="square" lIns="0" tIns="0" rIns="0" bIns="0" rtlCol="0" anchor="ctr"/>
          <a:lstStyle/>
          <a:p>
            <a:pPr indent="0" marL="0">
              <a:buNone/>
            </a:pPr>
            <a:r>
              <a:rPr lang="en-US" sz="1600" dirty="0">
                <a:solidFill>
                  <a:schemeClr val="tx1"/>
                </a:solidFill>
              </a:rPr>
              <a:t>Ese movimiento no existe</a:t>
            </a:r>
            <a:endParaRPr lang="en-US" sz="1600" dirty="0"/>
          </a:p>
        </p:txBody>
      </p:sp>
      <p:sp>
        <p:nvSpPr>
          <p:cNvPr id="14" name="Shape 11"/>
          <p:cNvSpPr/>
          <p:nvPr/>
        </p:nvSpPr>
        <p:spPr>
          <a:xfrm>
            <a:off x="6675120" y="3703320"/>
            <a:ext cx="4967935" cy="777240"/>
          </a:xfrm>
          <a:prstGeom prst="roundRect">
            <a:avLst>
              <a:gd name="adj" fmla="val 14118"/>
            </a:avLst>
          </a:prstGeom>
          <a:solidFill>
            <a:schemeClr val="bg2"/>
          </a:solidFill>
          <a:ln w="12700">
            <a:solidFill>
              <a:schemeClr val="bg2"/>
            </a:solidFill>
            <a:prstDash val="solid"/>
          </a:ln>
        </p:spPr>
      </p:sp>
      <p:sp>
        <p:nvSpPr>
          <p:cNvPr id="15" name="Shape 12"/>
          <p:cNvSpPr/>
          <p:nvPr/>
        </p:nvSpPr>
        <p:spPr>
          <a:xfrm>
            <a:off x="6858000" y="3895344"/>
            <a:ext cx="822960" cy="384048"/>
          </a:xfrm>
          <a:prstGeom prst="roundRect">
            <a:avLst>
              <a:gd name="adj" fmla="val 50000"/>
            </a:avLst>
          </a:prstGeom>
          <a:solidFill>
            <a:schemeClr val="accent3"/>
          </a:solidFill>
          <a:ln w="12700">
            <a:solidFill>
              <a:schemeClr val="accent3"/>
            </a:solidFill>
            <a:prstDash val="solid"/>
          </a:ln>
        </p:spPr>
      </p:sp>
      <p:sp>
        <p:nvSpPr>
          <p:cNvPr id="16" name="Text 13"/>
          <p:cNvSpPr txBox="1"/>
          <p:nvPr/>
        </p:nvSpPr>
        <p:spPr>
          <a:xfrm>
            <a:off x="6858000" y="3895344"/>
            <a:ext cx="822960" cy="384048"/>
          </a:xfrm>
          <a:prstGeom prst="rect">
            <a:avLst/>
          </a:prstGeom>
          <a:noFill/>
          <a:ln/>
        </p:spPr>
        <p:txBody>
          <a:bodyPr wrap="square" lIns="0" tIns="0" rIns="0" bIns="0" rtlCol="0" anchor="ctr"/>
          <a:lstStyle/>
          <a:p>
            <a:pPr algn="ctr" indent="0" marL="0">
              <a:buNone/>
            </a:pPr>
            <a:r>
              <a:rPr lang="en-US" sz="1400" b="1" dirty="0">
                <a:solidFill>
                  <a:schemeClr val="bg1"/>
                </a:solidFill>
              </a:rPr>
              <a:t>409</a:t>
            </a:r>
            <a:endParaRPr lang="en-US" sz="1400" dirty="0"/>
          </a:p>
        </p:txBody>
      </p:sp>
      <p:sp>
        <p:nvSpPr>
          <p:cNvPr id="17" name="Text 14"/>
          <p:cNvSpPr txBox="1"/>
          <p:nvPr/>
        </p:nvSpPr>
        <p:spPr>
          <a:xfrm>
            <a:off x="7863840" y="3703320"/>
            <a:ext cx="3596335" cy="777240"/>
          </a:xfrm>
          <a:prstGeom prst="rect">
            <a:avLst/>
          </a:prstGeom>
          <a:noFill/>
          <a:ln/>
        </p:spPr>
        <p:txBody>
          <a:bodyPr wrap="square" lIns="0" tIns="0" rIns="0" bIns="0" rtlCol="0" anchor="ctr"/>
          <a:lstStyle/>
          <a:p>
            <a:pPr indent="0" marL="0">
              <a:buNone/>
            </a:pPr>
            <a:r>
              <a:rPr lang="en-US" sz="1600" dirty="0">
                <a:solidFill>
                  <a:schemeClr val="tx1"/>
                </a:solidFill>
              </a:rPr>
              <a:t>Ese código ya está registrado</a:t>
            </a:r>
            <a:endParaRPr lang="en-US" sz="1600" dirty="0"/>
          </a:p>
        </p:txBody>
      </p:sp>
      <p:sp>
        <p:nvSpPr>
          <p:cNvPr id="18" name="Shape 15"/>
          <p:cNvSpPr/>
          <p:nvPr/>
        </p:nvSpPr>
        <p:spPr>
          <a:xfrm>
            <a:off x="6675120" y="4663440"/>
            <a:ext cx="4967935" cy="777240"/>
          </a:xfrm>
          <a:prstGeom prst="roundRect">
            <a:avLst>
              <a:gd name="adj" fmla="val 14118"/>
            </a:avLst>
          </a:prstGeom>
          <a:solidFill>
            <a:schemeClr val="bg2"/>
          </a:solidFill>
          <a:ln w="12700">
            <a:solidFill>
              <a:schemeClr val="bg2"/>
            </a:solidFill>
            <a:prstDash val="solid"/>
          </a:ln>
        </p:spPr>
      </p:sp>
      <p:sp>
        <p:nvSpPr>
          <p:cNvPr id="19" name="Shape 16"/>
          <p:cNvSpPr/>
          <p:nvPr/>
        </p:nvSpPr>
        <p:spPr>
          <a:xfrm>
            <a:off x="6858000" y="4855464"/>
            <a:ext cx="822960" cy="384048"/>
          </a:xfrm>
          <a:prstGeom prst="roundRect">
            <a:avLst>
              <a:gd name="adj" fmla="val 50000"/>
            </a:avLst>
          </a:prstGeom>
          <a:solidFill>
            <a:schemeClr val="tx1"/>
          </a:solidFill>
          <a:ln w="12700">
            <a:solidFill>
              <a:schemeClr val="tx1"/>
            </a:solidFill>
            <a:prstDash val="solid"/>
          </a:ln>
        </p:spPr>
      </p:sp>
      <p:sp>
        <p:nvSpPr>
          <p:cNvPr id="20" name="Text 17"/>
          <p:cNvSpPr txBox="1"/>
          <p:nvPr/>
        </p:nvSpPr>
        <p:spPr>
          <a:xfrm>
            <a:off x="6858000" y="4855464"/>
            <a:ext cx="822960" cy="384048"/>
          </a:xfrm>
          <a:prstGeom prst="rect">
            <a:avLst/>
          </a:prstGeom>
          <a:noFill/>
          <a:ln/>
        </p:spPr>
        <p:txBody>
          <a:bodyPr wrap="square" lIns="0" tIns="0" rIns="0" bIns="0" rtlCol="0" anchor="ctr"/>
          <a:lstStyle/>
          <a:p>
            <a:pPr algn="ctr" indent="0" marL="0">
              <a:buNone/>
            </a:pPr>
            <a:r>
              <a:rPr lang="en-US" sz="1400" b="1" dirty="0">
                <a:solidFill>
                  <a:schemeClr val="bg1"/>
                </a:solidFill>
              </a:rPr>
              <a:t>503</a:t>
            </a:r>
            <a:endParaRPr lang="en-US" sz="1400" dirty="0"/>
          </a:p>
        </p:txBody>
      </p:sp>
      <p:sp>
        <p:nvSpPr>
          <p:cNvPr id="21" name="Text 18"/>
          <p:cNvSpPr txBox="1"/>
          <p:nvPr/>
        </p:nvSpPr>
        <p:spPr>
          <a:xfrm>
            <a:off x="7863840" y="4663440"/>
            <a:ext cx="3596335" cy="777240"/>
          </a:xfrm>
          <a:prstGeom prst="rect">
            <a:avLst/>
          </a:prstGeom>
          <a:noFill/>
          <a:ln/>
        </p:spPr>
        <p:txBody>
          <a:bodyPr wrap="square" lIns="0" tIns="0" rIns="0" bIns="0" rtlCol="0" anchor="ctr"/>
          <a:lstStyle/>
          <a:p>
            <a:pPr indent="0" marL="0">
              <a:buNone/>
            </a:pPr>
            <a:r>
              <a:rPr lang="en-US" sz="1600" dirty="0">
                <a:solidFill>
                  <a:schemeClr val="tx1"/>
                </a:solidFill>
              </a:rPr>
              <a:t>La base de datos está apagada</a:t>
            </a:r>
            <a:endParaRPr lang="en-US" sz="1600" dirty="0"/>
          </a:p>
        </p:txBody>
      </p:sp>
      <p:sp>
        <p:nvSpPr>
          <p:cNvPr id="22" name="Text 19"/>
          <p:cNvSpPr txBox="1"/>
          <p:nvPr/>
        </p:nvSpPr>
        <p:spPr>
          <a:xfrm>
            <a:off x="6675120" y="5669280"/>
            <a:ext cx="4967935" cy="457200"/>
          </a:xfrm>
          <a:prstGeom prst="rect">
            <a:avLst/>
          </a:prstGeom>
          <a:noFill/>
          <a:ln/>
        </p:spPr>
        <p:txBody>
          <a:bodyPr wrap="square" lIns="0" tIns="0" rIns="0" bIns="0" rtlCol="0" anchor="ctr"/>
          <a:lstStyle/>
          <a:p>
            <a:pPr indent="0" marL="0">
              <a:buNone/>
            </a:pPr>
            <a:r>
              <a:rPr lang="en-US" sz="1400" i="1" dirty="0">
                <a:solidFill>
                  <a:schemeClr val="tx2"/>
                </a:solidFill>
              </a:rPr>
              <a:t>En el proyecto original muchos de estos casos daban errores técnicos o un «eliminada» falso.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Probar todo de una vez: probar_api.py</a:t>
            </a:r>
            <a:endParaRPr lang="en-US" sz="3400" dirty="0"/>
          </a:p>
        </p:txBody>
      </p:sp>
      <p:pic>
        <p:nvPicPr>
          <p:cNvPr id="3" name="Image 0" descr="Resultado de las pruebas: 12 de 12">    </p:cNvPr>
          <p:cNvPicPr>
            <a:picLocks noChangeAspect="1"/>
          </p:cNvPicPr>
          <p:nvPr/>
        </p:nvPicPr>
        <p:blipFill>
          <a:blip r:embed="rId1"/>
          <a:stretch>
            <a:fillRect/>
          </a:stretch>
        </p:blipFill>
        <p:spPr>
          <a:xfrm>
            <a:off x="548640" y="1661353"/>
            <a:ext cx="6675120" cy="4083934"/>
          </a:xfrm>
          <a:prstGeom prst="rect">
            <a:avLst/>
          </a:prstGeom>
          <a:effectLst>
            <a:outerShdw sx="100000" sy="100000" kx="0" ky="0" algn="bl" rotWithShape="0" blurRad="101600" dist="25400" dir="5400000">
              <a:srgbClr val="000000">
                <a:alpha val="18000"/>
              </a:srgbClr>
            </a:outerShdw>
          </a:effectLst>
        </p:spPr>
      </p:pic>
      <p:sp>
        <p:nvSpPr>
          <p:cNvPr id="4" name="Text 1"/>
          <p:cNvSpPr txBox="1"/>
          <p:nvPr/>
        </p:nvSpPr>
        <p:spPr>
          <a:xfrm>
            <a:off x="7589520" y="1371600"/>
            <a:ext cx="4053535" cy="1005840"/>
          </a:xfrm>
          <a:prstGeom prst="rect">
            <a:avLst/>
          </a:prstGeom>
          <a:noFill/>
          <a:ln/>
        </p:spPr>
        <p:txBody>
          <a:bodyPr wrap="square" lIns="0" tIns="0" rIns="0" bIns="0" rtlCol="0" anchor="ctr"/>
          <a:lstStyle/>
          <a:p>
            <a:pPr indent="0" marL="0">
              <a:buNone/>
            </a:pPr>
            <a:r>
              <a:rPr lang="en-US" sz="6000" b="1" dirty="0">
                <a:solidFill>
                  <a:schemeClr val="accent1"/>
                </a:solidFill>
              </a:rPr>
              <a:t>12 / 12</a:t>
            </a:r>
            <a:endParaRPr lang="en-US" sz="6000" dirty="0"/>
          </a:p>
        </p:txBody>
      </p:sp>
      <p:sp>
        <p:nvSpPr>
          <p:cNvPr id="5" name="Text 2"/>
          <p:cNvSpPr txBox="1"/>
          <p:nvPr/>
        </p:nvSpPr>
        <p:spPr>
          <a:xfrm>
            <a:off x="7589520" y="2377440"/>
            <a:ext cx="4053535" cy="365760"/>
          </a:xfrm>
          <a:prstGeom prst="rect">
            <a:avLst/>
          </a:prstGeom>
          <a:noFill/>
          <a:ln/>
        </p:spPr>
        <p:txBody>
          <a:bodyPr wrap="square" lIns="0" tIns="0" rIns="0" bIns="0" rtlCol="0" anchor="ctr"/>
          <a:lstStyle/>
          <a:p>
            <a:pPr indent="0" marL="0">
              <a:buNone/>
            </a:pPr>
            <a:r>
              <a:rPr lang="en-US" sz="1800" dirty="0">
                <a:solidFill>
                  <a:schemeClr val="tx2"/>
                </a:solidFill>
              </a:rPr>
              <a:t>pruebas correctas</a:t>
            </a:r>
            <a:endParaRPr lang="en-US" sz="1800" dirty="0"/>
          </a:p>
        </p:txBody>
      </p:sp>
      <p:sp>
        <p:nvSpPr>
          <p:cNvPr id="6" name="Text 3"/>
          <p:cNvSpPr txBox="1"/>
          <p:nvPr/>
        </p:nvSpPr>
        <p:spPr>
          <a:xfrm>
            <a:off x="7589520" y="3017520"/>
            <a:ext cx="4053535" cy="30175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2"/>
                </a:solidFill>
              </a:rPr>
              <a:t>Antes había que probar a mano, comando por comando.</a:t>
            </a:r>
            <a:endParaRPr lang="en-US" sz="1700" dirty="0"/>
          </a:p>
          <a:p>
            <a:pPr marL="342900" indent="-342900">
              <a:spcAft>
                <a:spcPts val="1400"/>
              </a:spcAft>
              <a:buSzPct val="100000"/>
              <a:buChar char="•"/>
            </a:pPr>
            <a:r>
              <a:rPr lang="en-US" sz="1700" dirty="0">
                <a:solidFill>
                  <a:schemeClr val="tx2"/>
                </a:solidFill>
              </a:rPr>
              <a:t>El script prueba crear, leer, modificar y eliminar, y también los errores.</a:t>
            </a:r>
            <a:endParaRPr lang="en-US" sz="1700" dirty="0"/>
          </a:p>
          <a:p>
            <a:pPr marL="342900" indent="-342900">
              <a:spcAft>
                <a:spcPts val="1400"/>
              </a:spcAft>
              <a:buSzPct val="100000"/>
              <a:buChar char="•"/>
            </a:pPr>
            <a:r>
              <a:rPr lang="en-US" sz="1700" dirty="0">
                <a:solidFill>
                  <a:schemeClr val="tx2"/>
                </a:solidFill>
              </a:rPr>
              <a:t>Al final borra sus pruebas: el saldo queda igual.</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¿Y si se apaga la base de datos?</a:t>
            </a:r>
            <a:endParaRPr lang="en-US" sz="3400" dirty="0"/>
          </a:p>
        </p:txBody>
      </p:sp>
      <p:sp>
        <p:nvSpPr>
          <p:cNvPr id="3" name="Text 1"/>
          <p:cNvSpPr txBox="1"/>
          <p:nvPr/>
        </p:nvSpPr>
        <p:spPr>
          <a:xfrm>
            <a:off x="548640" y="1234440"/>
            <a:ext cx="5318608" cy="411480"/>
          </a:xfrm>
          <a:prstGeom prst="rect">
            <a:avLst/>
          </a:prstGeom>
          <a:noFill/>
          <a:ln/>
        </p:spPr>
        <p:txBody>
          <a:bodyPr wrap="square" lIns="0" tIns="0" rIns="0" bIns="0" rtlCol="0" anchor="ctr"/>
          <a:lstStyle/>
          <a:p>
            <a:pPr indent="0" marL="0">
              <a:buNone/>
            </a:pPr>
            <a:r>
              <a:rPr lang="en-US" sz="1900" b="1" dirty="0">
                <a:solidFill>
                  <a:schemeClr val="accent2"/>
                </a:solidFill>
              </a:rPr>
              <a:t>1. Apago la base de datos: docker stop</a:t>
            </a:r>
            <a:endParaRPr lang="en-US" sz="1900" dirty="0"/>
          </a:p>
        </p:txBody>
      </p:sp>
      <p:pic>
        <p:nvPicPr>
          <p:cNvPr id="4" name="Image 0" descr="La app no se cae: avisa y ofrece «Reintentar».">    </p:cNvPr>
          <p:cNvPicPr>
            <a:picLocks noChangeAspect="1"/>
          </p:cNvPicPr>
          <p:nvPr/>
        </p:nvPicPr>
        <p:blipFill>
          <a:blip r:embed="rId1"/>
          <a:stretch>
            <a:fillRect/>
          </a:stretch>
        </p:blipFill>
        <p:spPr>
          <a:xfrm>
            <a:off x="549534" y="1737360"/>
            <a:ext cx="5316820" cy="3749040"/>
          </a:xfrm>
          <a:prstGeom prst="rect">
            <a:avLst/>
          </a:prstGeom>
          <a:effectLst>
            <a:outerShdw sx="100000" sy="100000" kx="0" ky="0" algn="bl" rotWithShape="0" blurRad="101600" dist="25400" dir="5400000">
              <a:srgbClr val="000000">
                <a:alpha val="18000"/>
              </a:srgbClr>
            </a:outerShdw>
          </a:effectLst>
        </p:spPr>
      </p:pic>
      <p:sp>
        <p:nvSpPr>
          <p:cNvPr id="5" name="Text 2"/>
          <p:cNvSpPr txBox="1"/>
          <p:nvPr/>
        </p:nvSpPr>
        <p:spPr>
          <a:xfrm>
            <a:off x="548640" y="5623560"/>
            <a:ext cx="5318608" cy="457200"/>
          </a:xfrm>
          <a:prstGeom prst="rect">
            <a:avLst/>
          </a:prstGeom>
          <a:noFill/>
          <a:ln/>
        </p:spPr>
        <p:txBody>
          <a:bodyPr wrap="square" lIns="0" tIns="0" rIns="0" bIns="0" rtlCol="0" anchor="ctr"/>
          <a:lstStyle/>
          <a:p>
            <a:pPr algn="ctr" indent="0" marL="0">
              <a:buNone/>
            </a:pPr>
            <a:r>
              <a:rPr lang="en-US" sz="1600" dirty="0">
                <a:solidFill>
                  <a:schemeClr val="tx2"/>
                </a:solidFill>
              </a:rPr>
              <a:t>La app no se cae: avisa y ofrece «Reintentar».</a:t>
            </a:r>
            <a:endParaRPr lang="en-US" sz="1600" dirty="0"/>
          </a:p>
        </p:txBody>
      </p:sp>
      <p:sp>
        <p:nvSpPr>
          <p:cNvPr id="6" name="Text 3"/>
          <p:cNvSpPr txBox="1"/>
          <p:nvPr/>
        </p:nvSpPr>
        <p:spPr>
          <a:xfrm>
            <a:off x="6324448" y="1234440"/>
            <a:ext cx="5318608" cy="411480"/>
          </a:xfrm>
          <a:prstGeom prst="rect">
            <a:avLst/>
          </a:prstGeom>
          <a:noFill/>
          <a:ln/>
        </p:spPr>
        <p:txBody>
          <a:bodyPr wrap="square" lIns="0" tIns="0" rIns="0" bIns="0" rtlCol="0" anchor="ctr"/>
          <a:lstStyle/>
          <a:p>
            <a:pPr indent="0" marL="0">
              <a:buNone/>
            </a:pPr>
            <a:r>
              <a:rPr lang="en-US" sz="1900" b="1" dirty="0">
                <a:solidFill>
                  <a:schemeClr val="accent1"/>
                </a:solidFill>
              </a:rPr>
              <a:t>2. La enciendo: docker start</a:t>
            </a:r>
            <a:endParaRPr lang="en-US" sz="1900" dirty="0"/>
          </a:p>
        </p:txBody>
      </p:sp>
      <p:pic>
        <p:nvPicPr>
          <p:cNvPr id="7" name="Image 1" descr="Clic en «Reintentar» y todo vuelve.">    </p:cNvPr>
          <p:cNvPicPr>
            <a:picLocks noChangeAspect="1"/>
          </p:cNvPicPr>
          <p:nvPr/>
        </p:nvPicPr>
        <p:blipFill>
          <a:blip r:embed="rId2"/>
          <a:stretch>
            <a:fillRect/>
          </a:stretch>
        </p:blipFill>
        <p:spPr>
          <a:xfrm>
            <a:off x="6751499" y="1737360"/>
            <a:ext cx="4464506" cy="3749040"/>
          </a:xfrm>
          <a:prstGeom prst="rect">
            <a:avLst/>
          </a:prstGeom>
          <a:effectLst>
            <a:outerShdw sx="100000" sy="100000" kx="0" ky="0" algn="bl" rotWithShape="0" blurRad="101600" dist="25400" dir="5400000">
              <a:srgbClr val="000000">
                <a:alpha val="18000"/>
              </a:srgbClr>
            </a:outerShdw>
          </a:effectLst>
        </p:spPr>
      </p:pic>
      <p:sp>
        <p:nvSpPr>
          <p:cNvPr id="8" name="Text 4"/>
          <p:cNvSpPr txBox="1"/>
          <p:nvPr/>
        </p:nvSpPr>
        <p:spPr>
          <a:xfrm>
            <a:off x="6324448" y="5623560"/>
            <a:ext cx="5318608" cy="457200"/>
          </a:xfrm>
          <a:prstGeom prst="rect">
            <a:avLst/>
          </a:prstGeom>
          <a:noFill/>
          <a:ln/>
        </p:spPr>
        <p:txBody>
          <a:bodyPr wrap="square" lIns="0" tIns="0" rIns="0" bIns="0" rtlCol="0" anchor="ctr"/>
          <a:lstStyle/>
          <a:p>
            <a:pPr algn="ctr" indent="0" marL="0">
              <a:buNone/>
            </a:pPr>
            <a:r>
              <a:rPr lang="en-US" sz="1600" dirty="0">
                <a:solidFill>
                  <a:schemeClr val="tx2"/>
                </a:solidFill>
              </a:rPr>
              <a:t>Clic en «Reintentar» y todo vuelve.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accent2"/>
                </a:solidFill>
              </a:rPr>
              <a:t>503 · </a:t>
            </a:r>
            <a:pPr algn="l" indent="0" marL="0">
              <a:buNone/>
            </a:pPr>
            <a:r>
              <a:rPr lang="en-US" sz="3400" b="1" dirty="0">
                <a:solidFill>
                  <a:schemeClr val="tx1"/>
                </a:solidFill>
              </a:rPr>
              <a:t>El código que avisa si se apaga la base de datos</a:t>
            </a:r>
            <a:endParaRPr lang="en-US" sz="3400" dirty="0"/>
          </a:p>
        </p:txBody>
      </p:sp>
      <p:sp>
        <p:nvSpPr>
          <p:cNvPr id="3" name="Shape 1"/>
          <p:cNvSpPr/>
          <p:nvPr/>
        </p:nvSpPr>
        <p:spPr>
          <a:xfrm>
            <a:off x="548640" y="1188720"/>
            <a:ext cx="3246120" cy="4160520"/>
          </a:xfrm>
          <a:prstGeom prst="roundRect">
            <a:avLst>
              <a:gd name="adj" fmla="val 3380"/>
            </a:avLst>
          </a:prstGeom>
          <a:solidFill>
            <a:schemeClr val="bg2"/>
          </a:solidFill>
          <a:ln w="12700">
            <a:solidFill>
              <a:schemeClr val="bg2"/>
            </a:solidFill>
            <a:prstDash val="solid"/>
          </a:ln>
        </p:spPr>
      </p:sp>
      <p:sp>
        <p:nvSpPr>
          <p:cNvPr id="4" name="Shape 2"/>
          <p:cNvSpPr/>
          <p:nvPr/>
        </p:nvSpPr>
        <p:spPr>
          <a:xfrm>
            <a:off x="731520" y="1325880"/>
            <a:ext cx="548640" cy="54864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Text 3"/>
          <p:cNvSpPr txBox="1"/>
          <p:nvPr/>
        </p:nvSpPr>
        <p:spPr>
          <a:xfrm>
            <a:off x="1417320" y="1307592"/>
            <a:ext cx="2240280" cy="310896"/>
          </a:xfrm>
          <a:prstGeom prst="rect">
            <a:avLst/>
          </a:prstGeom>
          <a:noFill/>
          <a:ln/>
        </p:spPr>
        <p:txBody>
          <a:bodyPr wrap="square" lIns="0" tIns="0" rIns="0" bIns="0" rtlCol="0" anchor="ctr"/>
          <a:lstStyle/>
          <a:p>
            <a:pPr indent="0" marL="0">
              <a:buNone/>
            </a:pPr>
            <a:r>
              <a:rPr lang="en-US" sz="1600" b="1" dirty="0">
                <a:solidFill>
                  <a:schemeClr val="accent3"/>
                </a:solidFill>
              </a:rPr>
              <a:t>FRONTEND</a:t>
            </a:r>
            <a:endParaRPr lang="en-US" sz="1600" dirty="0"/>
          </a:p>
        </p:txBody>
      </p:sp>
      <p:sp>
        <p:nvSpPr>
          <p:cNvPr id="7" name="Text 4"/>
          <p:cNvSpPr txBox="1"/>
          <p:nvPr/>
        </p:nvSpPr>
        <p:spPr>
          <a:xfrm>
            <a:off x="1417320" y="1609344"/>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React · la pantalla</a:t>
            </a:r>
            <a:endParaRPr lang="en-US" sz="1200" dirty="0"/>
          </a:p>
        </p:txBody>
      </p:sp>
      <p:sp>
        <p:nvSpPr>
          <p:cNvPr id="8" name="Shape 5"/>
          <p:cNvSpPr/>
          <p:nvPr/>
        </p:nvSpPr>
        <p:spPr>
          <a:xfrm>
            <a:off x="685800" y="2011680"/>
            <a:ext cx="2971800" cy="2240915"/>
          </a:xfrm>
          <a:prstGeom prst="roundRect">
            <a:avLst>
              <a:gd name="adj" fmla="val 4897"/>
            </a:avLst>
          </a:prstGeom>
          <a:solidFill>
            <a:srgbClr val="10261C"/>
          </a:solidFill>
          <a:ln w="12700">
            <a:solidFill>
              <a:srgbClr val="10261C"/>
            </a:solidFill>
            <a:prstDash val="solid"/>
          </a:ln>
        </p:spPr>
      </p:sp>
      <p:sp>
        <p:nvSpPr>
          <p:cNvPr id="9" name="Text 6"/>
          <p:cNvSpPr txBox="1"/>
          <p:nvPr/>
        </p:nvSpPr>
        <p:spPr>
          <a:xfrm>
            <a:off x="822960" y="2148840"/>
            <a:ext cx="2743200" cy="2012315"/>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Transacciones.jsx</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try {</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await obtenerTransacciones();</a:t>
            </a:r>
            <a:endParaRPr lang="en-US" sz="1100" dirty="0"/>
          </a:p>
          <a:p>
            <a:pPr indent="0" marL="0">
              <a:buNone/>
            </a:pPr>
            <a:r>
              <a:rPr lang="en-US" sz="1100" dirty="0">
                <a:solidFill>
                  <a:srgbClr val="F2A7B5"/>
                </a:solidFill>
                <a:latin typeface="Courier New" pitchFamily="34" charset="0"/>
                <a:ea typeface="Courier New" pitchFamily="34" charset="-122"/>
                <a:cs typeface="Courier New" pitchFamily="34" charset="-120"/>
              </a:rPr>
              <a:t>} catch (e) {</a:t>
            </a:r>
            <a:endParaRPr lang="en-US" sz="1100" dirty="0"/>
          </a:p>
          <a:p>
            <a:pPr indent="0" marL="0">
              <a:buNone/>
            </a:pPr>
            <a:r>
              <a:rPr lang="en-US" sz="1100" dirty="0">
                <a:solidFill>
                  <a:srgbClr val="F2A7B5"/>
                </a:solidFill>
                <a:latin typeface="Courier New" pitchFamily="34" charset="0"/>
                <a:ea typeface="Courier New" pitchFamily="34" charset="-122"/>
                <a:cs typeface="Courier New" pitchFamily="34" charset="-120"/>
              </a:rPr>
              <a:t>  setSinConexion(e.message);</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api/transacciones.js</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dentro de pedir():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if (!respuesta.ok)</a:t>
            </a:r>
            <a:endParaRPr lang="en-US" sz="1100" dirty="0"/>
          </a:p>
          <a:p>
            <a:pPr indent="0" marL="0">
              <a:buNone/>
            </a:pPr>
            <a:r>
              <a:rPr lang="en-US" sz="1100" dirty="0">
                <a:solidFill>
                  <a:srgbClr val="F2A7B5"/>
                </a:solidFill>
                <a:latin typeface="Courier New" pitchFamily="34" charset="0"/>
                <a:ea typeface="Courier New" pitchFamily="34" charset="-122"/>
                <a:cs typeface="Courier New" pitchFamily="34" charset="-120"/>
              </a:rPr>
              <a:t>  throw new Error(datos.error);</a:t>
            </a:r>
            <a:endParaRPr lang="en-US" sz="1100" dirty="0"/>
          </a:p>
        </p:txBody>
      </p:sp>
      <p:sp>
        <p:nvSpPr>
          <p:cNvPr id="10" name="Text 7"/>
          <p:cNvSpPr txBox="1"/>
          <p:nvPr/>
        </p:nvSpPr>
        <p:spPr>
          <a:xfrm>
            <a:off x="731520" y="4344035"/>
            <a:ext cx="2880360" cy="913765"/>
          </a:xfrm>
          <a:prstGeom prst="rect">
            <a:avLst/>
          </a:prstGeom>
          <a:noFill/>
          <a:ln/>
        </p:spPr>
        <p:txBody>
          <a:bodyPr wrap="square" lIns="0" tIns="0" rIns="0" bIns="0" rtlCol="0" anchor="t"/>
          <a:lstStyle/>
          <a:p>
            <a:pPr indent="0" marL="0">
              <a:buNone/>
            </a:pPr>
            <a:r>
              <a:rPr lang="en-US" sz="1300" dirty="0">
                <a:solidFill>
                  <a:schemeClr val="tx2"/>
                </a:solidFill>
              </a:rPr>
              <a:t>pedir() ve que la respuesta no es OK y lanza el error. El catch lo atrapa y lo guarda con setSinConexion: así aparece la franja roja.</a:t>
            </a:r>
            <a:endParaRPr lang="en-US" sz="1300" dirty="0"/>
          </a:p>
        </p:txBody>
      </p:sp>
      <p:sp>
        <p:nvSpPr>
          <p:cNvPr id="11" name="Shape 8"/>
          <p:cNvSpPr/>
          <p:nvPr/>
        </p:nvSpPr>
        <p:spPr>
          <a:xfrm>
            <a:off x="3849624" y="2926080"/>
            <a:ext cx="499720" cy="292608"/>
          </a:xfrm>
          <a:prstGeom prst="rightArrow">
            <a:avLst/>
          </a:prstGeom>
          <a:solidFill>
            <a:schemeClr val="accent5"/>
          </a:solidFill>
          <a:ln w="12700">
            <a:solidFill>
              <a:schemeClr val="accent5"/>
            </a:solidFill>
            <a:prstDash val="solid"/>
          </a:ln>
        </p:spPr>
      </p:sp>
      <p:sp>
        <p:nvSpPr>
          <p:cNvPr id="12" name="Shape 9"/>
          <p:cNvSpPr/>
          <p:nvPr/>
        </p:nvSpPr>
        <p:spPr>
          <a:xfrm>
            <a:off x="4404208" y="1188720"/>
            <a:ext cx="3886200" cy="4160520"/>
          </a:xfrm>
          <a:prstGeom prst="roundRect">
            <a:avLst>
              <a:gd name="adj" fmla="val 2824"/>
            </a:avLst>
          </a:prstGeom>
          <a:solidFill>
            <a:schemeClr val="bg2"/>
          </a:solidFill>
          <a:ln w="12700">
            <a:solidFill>
              <a:schemeClr val="bg2"/>
            </a:solidFill>
            <a:prstDash val="solid"/>
          </a:ln>
        </p:spPr>
      </p:sp>
      <p:sp>
        <p:nvSpPr>
          <p:cNvPr id="13" name="Shape 10"/>
          <p:cNvSpPr/>
          <p:nvPr/>
        </p:nvSpPr>
        <p:spPr>
          <a:xfrm>
            <a:off x="4587088" y="1325880"/>
            <a:ext cx="548640" cy="54864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724248" y="1463040"/>
            <a:ext cx="274320" cy="274320"/>
          </a:xfrm>
          <a:prstGeom prst="rect">
            <a:avLst/>
          </a:prstGeom>
        </p:spPr>
      </p:pic>
      <p:sp>
        <p:nvSpPr>
          <p:cNvPr id="15" name="Text 11"/>
          <p:cNvSpPr txBox="1"/>
          <p:nvPr/>
        </p:nvSpPr>
        <p:spPr>
          <a:xfrm>
            <a:off x="5272888" y="1307592"/>
            <a:ext cx="2880360" cy="310896"/>
          </a:xfrm>
          <a:prstGeom prst="rect">
            <a:avLst/>
          </a:prstGeom>
          <a:noFill/>
          <a:ln/>
        </p:spPr>
        <p:txBody>
          <a:bodyPr wrap="square" lIns="0" tIns="0" rIns="0" bIns="0" rtlCol="0" anchor="ctr"/>
          <a:lstStyle/>
          <a:p>
            <a:pPr indent="0" marL="0">
              <a:buNone/>
            </a:pPr>
            <a:r>
              <a:rPr lang="en-US" sz="1600" b="1" dirty="0">
                <a:solidFill>
                  <a:schemeClr val="accent1"/>
                </a:solidFill>
              </a:rPr>
              <a:t>BACKEND</a:t>
            </a:r>
            <a:endParaRPr lang="en-US" sz="1600" dirty="0"/>
          </a:p>
        </p:txBody>
      </p:sp>
      <p:sp>
        <p:nvSpPr>
          <p:cNvPr id="16" name="Text 12"/>
          <p:cNvSpPr txBox="1"/>
          <p:nvPr/>
        </p:nvSpPr>
        <p:spPr>
          <a:xfrm>
            <a:off x="5272888" y="1609344"/>
            <a:ext cx="2880360" cy="274320"/>
          </a:xfrm>
          <a:prstGeom prst="rect">
            <a:avLst/>
          </a:prstGeom>
          <a:noFill/>
          <a:ln/>
        </p:spPr>
        <p:txBody>
          <a:bodyPr wrap="square" lIns="0" tIns="0" rIns="0" bIns="0" rtlCol="0" anchor="ctr"/>
          <a:lstStyle/>
          <a:p>
            <a:pPr indent="0" marL="0">
              <a:buNone/>
            </a:pPr>
            <a:r>
              <a:rPr lang="en-US" sz="1200" dirty="0">
                <a:solidFill>
                  <a:schemeClr val="accent5"/>
                </a:solidFill>
              </a:rPr>
              <a:t>Flask · la API</a:t>
            </a:r>
            <a:endParaRPr lang="en-US" sz="1200" dirty="0"/>
          </a:p>
        </p:txBody>
      </p:sp>
      <p:sp>
        <p:nvSpPr>
          <p:cNvPr id="17" name="Shape 13"/>
          <p:cNvSpPr/>
          <p:nvPr/>
        </p:nvSpPr>
        <p:spPr>
          <a:xfrm>
            <a:off x="4541368" y="2011680"/>
            <a:ext cx="3611880" cy="1717040"/>
          </a:xfrm>
          <a:prstGeom prst="roundRect">
            <a:avLst>
              <a:gd name="adj" fmla="val 6391"/>
            </a:avLst>
          </a:prstGeom>
          <a:solidFill>
            <a:srgbClr val="10261C"/>
          </a:solidFill>
          <a:ln w="12700">
            <a:solidFill>
              <a:srgbClr val="10261C"/>
            </a:solidFill>
            <a:prstDash val="solid"/>
          </a:ln>
        </p:spPr>
      </p:sp>
      <p:sp>
        <p:nvSpPr>
          <p:cNvPr id="18" name="Text 14"/>
          <p:cNvSpPr txBox="1"/>
          <p:nvPr/>
        </p:nvSpPr>
        <p:spPr>
          <a:xfrm>
            <a:off x="4678528" y="2148840"/>
            <a:ext cx="3383280" cy="1488440"/>
          </a:xfrm>
          <a:prstGeom prst="rect">
            <a:avLst/>
          </a:prstGeom>
          <a:noFill/>
          <a:ln/>
        </p:spPr>
        <p:txBody>
          <a:bodyPr wrap="square" lIns="0" tIns="0" rIns="0" bIns="0" rtlCol="0" anchor="t"/>
          <a:lstStyle/>
          <a:p>
            <a:pPr indent="0" marL="0">
              <a:buNone/>
            </a:pPr>
            <a:r>
              <a:rPr lang="en-US" sz="1100" b="1" dirty="0">
                <a:solidFill>
                  <a:srgbClr val="F2C14E"/>
                </a:solidFill>
                <a:latin typeface="Courier New" pitchFamily="34" charset="0"/>
                <a:ea typeface="Courier New" pitchFamily="34" charset="-122"/>
                <a:cs typeface="Courier New" pitchFamily="34" charset="-120"/>
              </a:rPr>
              <a:t># app.py</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si Prisma falla en cualquier ruta,</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Flask ejecuta esta función:</a:t>
            </a:r>
            <a:endParaRPr lang="en-US" sz="1100" dirty="0"/>
          </a:p>
          <a:p>
            <a:pPr indent="0" marL="0">
              <a:buNone/>
            </a:pPr>
            <a:r>
              <a:rPr lang="en-US" sz="1100" dirty="0">
                <a:solidFill>
                  <a:srgbClr val="8CC4F2"/>
                </a:solidFill>
                <a:latin typeface="Courier New" pitchFamily="34" charset="0"/>
                <a:ea typeface="Courier New" pitchFamily="34" charset="-122"/>
                <a:cs typeface="Courier New" pitchFamily="34" charset="-120"/>
              </a:rPr>
              <a:t>@app.errorhandler(PrismaError)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def base_de_datos_caida(error):</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return jsonify({"error":</a:t>
            </a:r>
            <a:endParaRPr lang="en-US" sz="1100" dirty="0"/>
          </a:p>
          <a:p>
            <a:pPr indent="0" marL="0">
              <a:buNone/>
            </a:pPr>
            <a:r>
              <a:rPr lang="en-US" sz="1100" dirty="0">
                <a:solidFill>
                  <a:srgbClr val="F2A7B5"/>
                </a:solidFill>
                <a:latin typeface="Courier New" pitchFamily="34" charset="0"/>
                <a:ea typeface="Courier New" pitchFamily="34" charset="-122"/>
                <a:cs typeface="Courier New" pitchFamily="34" charset="-120"/>
              </a:rPr>
              <a:t>    "La base de datos no está</a:t>
            </a:r>
            <a:endParaRPr lang="en-US" sz="1100" dirty="0"/>
          </a:p>
          <a:p>
            <a:pPr indent="0" marL="0">
              <a:buNone/>
            </a:pPr>
            <a:r>
              <a:rPr lang="en-US" sz="1100" dirty="0">
                <a:solidFill>
                  <a:srgbClr val="F2A7B5"/>
                </a:solidFill>
                <a:latin typeface="Courier New" pitchFamily="34" charset="0"/>
                <a:ea typeface="Courier New" pitchFamily="34" charset="-122"/>
                <a:cs typeface="Courier New" pitchFamily="34" charset="-120"/>
              </a:rPr>
              <a:t>     disponible..."}), 503</a:t>
            </a:r>
            <a:endParaRPr lang="en-US" sz="1100" dirty="0"/>
          </a:p>
        </p:txBody>
      </p:sp>
      <p:sp>
        <p:nvSpPr>
          <p:cNvPr id="19" name="Text 15"/>
          <p:cNvSpPr txBox="1"/>
          <p:nvPr/>
        </p:nvSpPr>
        <p:spPr>
          <a:xfrm>
            <a:off x="4587088" y="3820160"/>
            <a:ext cx="3520440" cy="1437640"/>
          </a:xfrm>
          <a:prstGeom prst="rect">
            <a:avLst/>
          </a:prstGeom>
          <a:noFill/>
          <a:ln/>
        </p:spPr>
        <p:txBody>
          <a:bodyPr wrap="square" lIns="0" tIns="0" rIns="0" bIns="0" rtlCol="0" anchor="t"/>
          <a:lstStyle/>
          <a:p>
            <a:pPr indent="0" marL="0">
              <a:buNone/>
            </a:pPr>
            <a:r>
              <a:rPr lang="en-US" sz="1300" dirty="0">
                <a:solidFill>
                  <a:schemeClr val="tx2"/>
                </a:solidFill>
              </a:rPr>
              <a:t>El backend no se cae: atrapa el error de Prisma y responde 503 (servicio no disponible) con un mensaje claro.</a:t>
            </a:r>
            <a:endParaRPr lang="en-US" sz="1300" dirty="0"/>
          </a:p>
        </p:txBody>
      </p:sp>
      <p:sp>
        <p:nvSpPr>
          <p:cNvPr id="20" name="Shape 16"/>
          <p:cNvSpPr/>
          <p:nvPr/>
        </p:nvSpPr>
        <p:spPr>
          <a:xfrm>
            <a:off x="8345272" y="2926080"/>
            <a:ext cx="499720" cy="292608"/>
          </a:xfrm>
          <a:prstGeom prst="rightArrow">
            <a:avLst/>
          </a:prstGeom>
          <a:solidFill>
            <a:schemeClr val="accent5"/>
          </a:solidFill>
          <a:ln w="12700">
            <a:solidFill>
              <a:schemeClr val="accent5"/>
            </a:solidFill>
            <a:prstDash val="solid"/>
          </a:ln>
        </p:spPr>
      </p:sp>
      <p:sp>
        <p:nvSpPr>
          <p:cNvPr id="21" name="Shape 17"/>
          <p:cNvSpPr/>
          <p:nvPr/>
        </p:nvSpPr>
        <p:spPr>
          <a:xfrm>
            <a:off x="8899855" y="1188720"/>
            <a:ext cx="2743200" cy="4160520"/>
          </a:xfrm>
          <a:prstGeom prst="roundRect">
            <a:avLst>
              <a:gd name="adj" fmla="val 4000"/>
            </a:avLst>
          </a:prstGeom>
          <a:solidFill>
            <a:schemeClr val="bg2"/>
          </a:solidFill>
          <a:ln w="12700">
            <a:solidFill>
              <a:schemeClr val="bg2"/>
            </a:solidFill>
            <a:prstDash val="solid"/>
          </a:ln>
        </p:spPr>
      </p:sp>
      <p:sp>
        <p:nvSpPr>
          <p:cNvPr id="22" name="Shape 18"/>
          <p:cNvSpPr/>
          <p:nvPr/>
        </p:nvSpPr>
        <p:spPr>
          <a:xfrm>
            <a:off x="9082735" y="1325880"/>
            <a:ext cx="548640" cy="548640"/>
          </a:xfrm>
          <a:prstGeom prst="ellipse">
            <a:avLst/>
          </a:prstGeom>
          <a:solidFill>
            <a:schemeClr val="tx1"/>
          </a:solidFill>
          <a:ln w="12700">
            <a:solidFill>
              <a:schemeClr val="tx1"/>
            </a:solidFill>
            <a:prstDash val="solid"/>
          </a:ln>
        </p:spPr>
      </p:sp>
      <p:pic>
        <p:nvPicPr>
          <p:cNvPr id="23" name="Image 2" descr="preencoded.png">    </p:cNvPr>
          <p:cNvPicPr>
            <a:picLocks noChangeAspect="1"/>
          </p:cNvPicPr>
          <p:nvPr/>
        </p:nvPicPr>
        <p:blipFill>
          <a:blip r:embed="rId3"/>
          <a:stretch>
            <a:fillRect/>
          </a:stretch>
        </p:blipFill>
        <p:spPr>
          <a:xfrm>
            <a:off x="9219895" y="1463040"/>
            <a:ext cx="274320" cy="274320"/>
          </a:xfrm>
          <a:prstGeom prst="rect">
            <a:avLst/>
          </a:prstGeom>
        </p:spPr>
      </p:pic>
      <p:sp>
        <p:nvSpPr>
          <p:cNvPr id="24" name="Text 19"/>
          <p:cNvSpPr txBox="1"/>
          <p:nvPr/>
        </p:nvSpPr>
        <p:spPr>
          <a:xfrm>
            <a:off x="9768535" y="1307592"/>
            <a:ext cx="1737360" cy="310896"/>
          </a:xfrm>
          <a:prstGeom prst="rect">
            <a:avLst/>
          </a:prstGeom>
          <a:noFill/>
          <a:ln/>
        </p:spPr>
        <p:txBody>
          <a:bodyPr wrap="square" lIns="0" tIns="0" rIns="0" bIns="0" rtlCol="0" anchor="ctr"/>
          <a:lstStyle/>
          <a:p>
            <a:pPr indent="0" marL="0">
              <a:buNone/>
            </a:pPr>
            <a:r>
              <a:rPr lang="en-US" sz="1600" b="1" dirty="0">
                <a:solidFill>
                  <a:schemeClr val="tx1"/>
                </a:solidFill>
              </a:rPr>
              <a:t>BASE DE DATOS</a:t>
            </a:r>
            <a:endParaRPr lang="en-US" sz="1600" dirty="0"/>
          </a:p>
        </p:txBody>
      </p:sp>
      <p:sp>
        <p:nvSpPr>
          <p:cNvPr id="25" name="Text 20"/>
          <p:cNvSpPr txBox="1"/>
          <p:nvPr/>
        </p:nvSpPr>
        <p:spPr>
          <a:xfrm>
            <a:off x="9768535" y="1609344"/>
            <a:ext cx="1737360" cy="274320"/>
          </a:xfrm>
          <a:prstGeom prst="rect">
            <a:avLst/>
          </a:prstGeom>
          <a:noFill/>
          <a:ln/>
        </p:spPr>
        <p:txBody>
          <a:bodyPr wrap="square" lIns="0" tIns="0" rIns="0" bIns="0" rtlCol="0" anchor="ctr"/>
          <a:lstStyle/>
          <a:p>
            <a:pPr indent="0" marL="0">
              <a:buNone/>
            </a:pPr>
            <a:r>
              <a:rPr lang="en-US" sz="1200" dirty="0">
                <a:solidFill>
                  <a:schemeClr val="accent5"/>
                </a:solidFill>
              </a:rPr>
              <a:t>MySQL · los datos</a:t>
            </a:r>
            <a:endParaRPr lang="en-US" sz="1200" dirty="0"/>
          </a:p>
        </p:txBody>
      </p:sp>
      <p:sp>
        <p:nvSpPr>
          <p:cNvPr id="26" name="Shape 21"/>
          <p:cNvSpPr/>
          <p:nvPr/>
        </p:nvSpPr>
        <p:spPr>
          <a:xfrm>
            <a:off x="9037015" y="2011680"/>
            <a:ext cx="2468880" cy="1018540"/>
          </a:xfrm>
          <a:prstGeom prst="roundRect">
            <a:avLst>
              <a:gd name="adj" fmla="val 10773"/>
            </a:avLst>
          </a:prstGeom>
          <a:solidFill>
            <a:srgbClr val="10261C"/>
          </a:solidFill>
          <a:ln w="12700">
            <a:solidFill>
              <a:srgbClr val="10261C"/>
            </a:solidFill>
            <a:prstDash val="solid"/>
          </a:ln>
        </p:spPr>
      </p:sp>
      <p:sp>
        <p:nvSpPr>
          <p:cNvPr id="27" name="Text 22"/>
          <p:cNvSpPr txBox="1"/>
          <p:nvPr/>
        </p:nvSpPr>
        <p:spPr>
          <a:xfrm>
            <a:off x="9174175" y="2148840"/>
            <a:ext cx="2240280" cy="789940"/>
          </a:xfrm>
          <a:prstGeom prst="rect">
            <a:avLst/>
          </a:prstGeom>
          <a:noFill/>
          <a:ln/>
        </p:spPr>
        <p:txBody>
          <a:bodyPr wrap="square" lIns="0" tIns="0" rIns="0" bIns="0" rtlCol="0" anchor="t"/>
          <a:lstStyle/>
          <a:p>
            <a:pPr indent="0" marL="0">
              <a:buNone/>
            </a:pPr>
            <a:r>
              <a:rPr lang="en-US" sz="1100" dirty="0">
                <a:solidFill>
                  <a:srgbClr val="F2A7B5"/>
                </a:solidFill>
                <a:latin typeface="Courier New" pitchFamily="34" charset="0"/>
                <a:ea typeface="Courier New" pitchFamily="34" charset="-122"/>
                <a:cs typeface="Courier New" pitchFamily="34" charset="-120"/>
              </a:rPr>
              <a:t>$ docker stop empresa</a:t>
            </a:r>
            <a:endParaRPr lang="en-US" sz="1100" dirty="0"/>
          </a:p>
          <a:p>
            <a:pPr indent="0" marL="0">
              <a:buNone/>
            </a:pPr>
            <a:r>
              <a:rPr lang="en-US" sz="1100" dirty="0">
                <a:solidFill>
                  <a:srgbClr val="E8F2EC"/>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MySQL apagado:</a:t>
            </a:r>
            <a:endParaRPr lang="en-US" sz="1100" dirty="0"/>
          </a:p>
          <a:p>
            <a:pPr indent="0" marL="0">
              <a:buNone/>
            </a:pPr>
            <a:r>
              <a:rPr lang="en-US" sz="1100" b="1" dirty="0">
                <a:solidFill>
                  <a:srgbClr val="F2C14E"/>
                </a:solidFill>
                <a:latin typeface="Courier New" pitchFamily="34" charset="0"/>
                <a:ea typeface="Courier New" pitchFamily="34" charset="-122"/>
                <a:cs typeface="Courier New" pitchFamily="34" charset="-120"/>
              </a:rPr>
              <a:t>-- no contesta</a:t>
            </a:r>
            <a:endParaRPr lang="en-US" sz="1100" dirty="0"/>
          </a:p>
        </p:txBody>
      </p:sp>
      <p:sp>
        <p:nvSpPr>
          <p:cNvPr id="28" name="Text 23"/>
          <p:cNvSpPr txBox="1"/>
          <p:nvPr/>
        </p:nvSpPr>
        <p:spPr>
          <a:xfrm>
            <a:off x="9082735" y="3121660"/>
            <a:ext cx="2377440" cy="2136140"/>
          </a:xfrm>
          <a:prstGeom prst="rect">
            <a:avLst/>
          </a:prstGeom>
          <a:noFill/>
          <a:ln/>
        </p:spPr>
        <p:txBody>
          <a:bodyPr wrap="square" lIns="0" tIns="0" rIns="0" bIns="0" rtlCol="0" anchor="t"/>
          <a:lstStyle/>
          <a:p>
            <a:pPr indent="0" marL="0">
              <a:buNone/>
            </a:pPr>
            <a:r>
              <a:rPr lang="en-US" sz="1300" dirty="0">
                <a:solidFill>
                  <a:schemeClr val="tx2"/>
                </a:solidFill>
              </a:rPr>
              <a:t>Prisma intenta conectarse, MySQL no contesta y Prisma lanza un error: PrismaError.</a:t>
            </a:r>
            <a:endParaRPr lang="en-US" sz="1300" dirty="0"/>
          </a:p>
        </p:txBody>
      </p:sp>
      <p:sp>
        <p:nvSpPr>
          <p:cNvPr id="29" name="Text 24"/>
          <p:cNvSpPr txBox="1"/>
          <p:nvPr/>
        </p:nvSpPr>
        <p:spPr>
          <a:xfrm>
            <a:off x="3703320"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GET</a:t>
            </a:r>
            <a:endParaRPr lang="en-US" sz="900" dirty="0"/>
          </a:p>
        </p:txBody>
      </p:sp>
      <p:sp>
        <p:nvSpPr>
          <p:cNvPr id="30" name="Text 25"/>
          <p:cNvSpPr txBox="1"/>
          <p:nvPr/>
        </p:nvSpPr>
        <p:spPr>
          <a:xfrm>
            <a:off x="8198968" y="2514600"/>
            <a:ext cx="792328" cy="384048"/>
          </a:xfrm>
          <a:prstGeom prst="rect">
            <a:avLst/>
          </a:prstGeom>
          <a:noFill/>
          <a:ln/>
        </p:spPr>
        <p:txBody>
          <a:bodyPr wrap="square" lIns="0" tIns="0" rIns="0" bIns="0" rtlCol="0" anchor="b"/>
          <a:lstStyle/>
          <a:p>
            <a:pPr algn="ctr" indent="0" marL="0">
              <a:buNone/>
            </a:pPr>
            <a:r>
              <a:rPr lang="en-US" sz="900" b="1" dirty="0">
                <a:solidFill>
                  <a:schemeClr val="accent5"/>
                </a:solidFill>
              </a:rPr>
              <a:t>Prisma: sin respuesta</a:t>
            </a:r>
            <a:endParaRPr lang="en-US" sz="900" dirty="0"/>
          </a:p>
        </p:txBody>
      </p:sp>
      <p:sp>
        <p:nvSpPr>
          <p:cNvPr id="31" name="Shape 26"/>
          <p:cNvSpPr/>
          <p:nvPr/>
        </p:nvSpPr>
        <p:spPr>
          <a:xfrm>
            <a:off x="548640" y="5486400"/>
            <a:ext cx="11094415" cy="658368"/>
          </a:xfrm>
          <a:prstGeom prst="roundRect">
            <a:avLst>
              <a:gd name="adj" fmla="val 16667"/>
            </a:avLst>
          </a:prstGeom>
          <a:solidFill>
            <a:schemeClr val="tx1"/>
          </a:solidFill>
          <a:ln w="12700">
            <a:solidFill>
              <a:schemeClr val="tx1"/>
            </a:solidFill>
            <a:prstDash val="solid"/>
          </a:ln>
        </p:spPr>
      </p:sp>
      <p:sp>
        <p:nvSpPr>
          <p:cNvPr id="32" name="Shape 27"/>
          <p:cNvSpPr/>
          <p:nvPr/>
        </p:nvSpPr>
        <p:spPr>
          <a:xfrm>
            <a:off x="777240" y="5650992"/>
            <a:ext cx="640080" cy="329184"/>
          </a:xfrm>
          <a:prstGeom prst="leftArrow">
            <a:avLst/>
          </a:prstGeom>
          <a:solidFill>
            <a:schemeClr val="accent6"/>
          </a:solidFill>
          <a:ln w="12700">
            <a:solidFill>
              <a:schemeClr val="accent6"/>
            </a:solidFill>
            <a:prstDash val="solid"/>
          </a:ln>
        </p:spPr>
      </p:sp>
      <p:sp>
        <p:nvSpPr>
          <p:cNvPr id="33" name="Text 28"/>
          <p:cNvSpPr txBox="1"/>
          <p:nvPr/>
        </p:nvSpPr>
        <p:spPr>
          <a:xfrm>
            <a:off x="1600200" y="5486400"/>
            <a:ext cx="9859975" cy="658368"/>
          </a:xfrm>
          <a:prstGeom prst="rect">
            <a:avLst/>
          </a:prstGeom>
          <a:noFill/>
          <a:ln/>
        </p:spPr>
        <p:txBody>
          <a:bodyPr wrap="square" lIns="0" tIns="0" rIns="0" bIns="0" rtlCol="0" anchor="ctr"/>
          <a:lstStyle/>
          <a:p>
            <a:pPr indent="0" marL="0">
              <a:buNone/>
            </a:pPr>
            <a:r>
              <a:rPr lang="en-US" sz="1500" b="1" dirty="0">
                <a:solidFill>
                  <a:schemeClr val="accent6"/>
                </a:solidFill>
              </a:rPr>
              <a:t>De vuelta: </a:t>
            </a:r>
            <a:pPr indent="0" marL="0">
              <a:buNone/>
            </a:pPr>
            <a:r>
              <a:rPr lang="en-US" sz="1500" dirty="0">
                <a:solidFill>
                  <a:schemeClr val="bg1"/>
                </a:solidFill>
              </a:rPr>
              <a:t>503 + mensaje → pedir() lanza el error → el catch lo muestra en rojo → «Reintentar» vuelve a llamar a cargarTransacciones().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Los datos quedan guardados en la base de datos</a:t>
            </a:r>
            <a:endParaRPr lang="en-US" sz="3400" dirty="0"/>
          </a:p>
        </p:txBody>
      </p:sp>
      <p:pic>
        <p:nvPicPr>
          <p:cNvPr id="3" name="Image 0" descr="Tabla Transaccion en MySQL">    </p:cNvPr>
          <p:cNvPicPr>
            <a:picLocks noChangeAspect="1"/>
          </p:cNvPicPr>
          <p:nvPr/>
        </p:nvPicPr>
        <p:blipFill>
          <a:blip r:embed="rId1"/>
          <a:stretch>
            <a:fillRect/>
          </a:stretch>
        </p:blipFill>
        <p:spPr>
          <a:xfrm>
            <a:off x="548640" y="1326981"/>
            <a:ext cx="11094415" cy="3381079"/>
          </a:xfrm>
          <a:prstGeom prst="rect">
            <a:avLst/>
          </a:prstGeom>
          <a:effectLst>
            <a:outerShdw sx="100000" sy="100000" kx="0" ky="0" algn="bl" rotWithShape="0" blurRad="101600" dist="25400" dir="5400000">
              <a:srgbClr val="000000">
                <a:alpha val="18000"/>
              </a:srgbClr>
            </a:outerShdw>
          </a:effectLst>
        </p:spPr>
      </p:pic>
      <p:sp>
        <p:nvSpPr>
          <p:cNvPr id="4" name="Shape 1"/>
          <p:cNvSpPr/>
          <p:nvPr/>
        </p:nvSpPr>
        <p:spPr>
          <a:xfrm>
            <a:off x="548640" y="4983480"/>
            <a:ext cx="3520440" cy="1143000"/>
          </a:xfrm>
          <a:prstGeom prst="roundRect">
            <a:avLst>
              <a:gd name="adj" fmla="val 9600"/>
            </a:avLst>
          </a:prstGeom>
          <a:solidFill>
            <a:schemeClr val="bg2"/>
          </a:solidFill>
          <a:ln w="12700">
            <a:solidFill>
              <a:schemeClr val="bg2"/>
            </a:solidFill>
            <a:prstDash val="solid"/>
          </a:ln>
        </p:spPr>
      </p:sp>
      <p:sp>
        <p:nvSpPr>
          <p:cNvPr id="5" name="Text 2"/>
          <p:cNvSpPr txBox="1"/>
          <p:nvPr/>
        </p:nvSpPr>
        <p:spPr>
          <a:xfrm>
            <a:off x="731520" y="5047488"/>
            <a:ext cx="3154680" cy="347472"/>
          </a:xfrm>
          <a:prstGeom prst="rect">
            <a:avLst/>
          </a:prstGeom>
          <a:noFill/>
          <a:ln/>
        </p:spPr>
        <p:txBody>
          <a:bodyPr wrap="square" lIns="0" tIns="0" rIns="0" bIns="0" rtlCol="0" anchor="ctr"/>
          <a:lstStyle/>
          <a:p>
            <a:pPr indent="0" marL="0">
              <a:buNone/>
            </a:pPr>
            <a:r>
              <a:rPr lang="en-US" sz="1600" b="1" dirty="0">
                <a:solidFill>
                  <a:schemeClr val="tx1"/>
                </a:solidFill>
              </a:rPr>
              <a:t>Se guardan de verdad</a:t>
            </a:r>
            <a:endParaRPr lang="en-US" sz="1600" dirty="0"/>
          </a:p>
        </p:txBody>
      </p:sp>
      <p:sp>
        <p:nvSpPr>
          <p:cNvPr id="6" name="Text 3"/>
          <p:cNvSpPr txBox="1"/>
          <p:nvPr/>
        </p:nvSpPr>
        <p:spPr>
          <a:xfrm>
            <a:off x="731520" y="5394960"/>
            <a:ext cx="3154680" cy="685800"/>
          </a:xfrm>
          <a:prstGeom prst="rect">
            <a:avLst/>
          </a:prstGeom>
          <a:noFill/>
          <a:ln/>
        </p:spPr>
        <p:txBody>
          <a:bodyPr wrap="square" lIns="0" tIns="0" rIns="0" bIns="0" rtlCol="0" anchor="t"/>
          <a:lstStyle/>
          <a:p>
            <a:pPr indent="0" marL="0">
              <a:buNone/>
            </a:pPr>
            <a:r>
              <a:rPr lang="en-US" sz="1400" dirty="0">
                <a:solidFill>
                  <a:schemeClr val="tx2"/>
                </a:solidFill>
              </a:rPr>
              <a:t>Si apago todo y vuelvo a encender, los movimientos siguen ahí.</a:t>
            </a:r>
            <a:endParaRPr lang="en-US" sz="1400" dirty="0"/>
          </a:p>
        </p:txBody>
      </p:sp>
      <p:sp>
        <p:nvSpPr>
          <p:cNvPr id="7" name="Shape 4"/>
          <p:cNvSpPr/>
          <p:nvPr/>
        </p:nvSpPr>
        <p:spPr>
          <a:xfrm>
            <a:off x="4297680" y="4983480"/>
            <a:ext cx="352044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4480560" y="5047488"/>
            <a:ext cx="3154680" cy="347472"/>
          </a:xfrm>
          <a:prstGeom prst="rect">
            <a:avLst/>
          </a:prstGeom>
          <a:noFill/>
          <a:ln/>
        </p:spPr>
        <p:txBody>
          <a:bodyPr wrap="square" lIns="0" tIns="0" rIns="0" bIns="0" rtlCol="0" anchor="ctr"/>
          <a:lstStyle/>
          <a:p>
            <a:pPr indent="0" marL="0">
              <a:buNone/>
            </a:pPr>
            <a:r>
              <a:rPr lang="en-US" sz="1600" b="1" dirty="0">
                <a:solidFill>
                  <a:schemeClr val="tx1"/>
                </a:solidFill>
              </a:rPr>
              <a:t>¿Por qué empiezan en 4?</a:t>
            </a:r>
            <a:endParaRPr lang="en-US" sz="1600" dirty="0"/>
          </a:p>
        </p:txBody>
      </p:sp>
      <p:sp>
        <p:nvSpPr>
          <p:cNvPr id="9" name="Text 6"/>
          <p:cNvSpPr txBox="1"/>
          <p:nvPr/>
        </p:nvSpPr>
        <p:spPr>
          <a:xfrm>
            <a:off x="4480560" y="5394960"/>
            <a:ext cx="3154680" cy="685800"/>
          </a:xfrm>
          <a:prstGeom prst="rect">
            <a:avLst/>
          </a:prstGeom>
          <a:noFill/>
          <a:ln/>
        </p:spPr>
        <p:txBody>
          <a:bodyPr wrap="square" lIns="0" tIns="0" rIns="0" bIns="0" rtlCol="0" anchor="t"/>
          <a:lstStyle/>
          <a:p>
            <a:pPr indent="0" marL="0">
              <a:buNone/>
            </a:pPr>
            <a:r>
              <a:rPr lang="en-US" sz="1400" dirty="0">
                <a:solidFill>
                  <a:schemeClr val="tx2"/>
                </a:solidFill>
              </a:rPr>
              <a:t>Las pruebas usaron el 1, 2 y 3 y los borraron. MySQL no repite esos números.</a:t>
            </a:r>
            <a:endParaRPr lang="en-US" sz="1400" dirty="0"/>
          </a:p>
        </p:txBody>
      </p:sp>
      <p:sp>
        <p:nvSpPr>
          <p:cNvPr id="10" name="Shape 7"/>
          <p:cNvSpPr/>
          <p:nvPr/>
        </p:nvSpPr>
        <p:spPr>
          <a:xfrm>
            <a:off x="8046720" y="4983480"/>
            <a:ext cx="3520440" cy="1143000"/>
          </a:xfrm>
          <a:prstGeom prst="roundRect">
            <a:avLst>
              <a:gd name="adj" fmla="val 9600"/>
            </a:avLst>
          </a:prstGeom>
          <a:solidFill>
            <a:schemeClr val="bg2"/>
          </a:solidFill>
          <a:ln w="12700">
            <a:solidFill>
              <a:schemeClr val="bg2"/>
            </a:solidFill>
            <a:prstDash val="solid"/>
          </a:ln>
        </p:spPr>
      </p:sp>
      <p:sp>
        <p:nvSpPr>
          <p:cNvPr id="11" name="Text 8"/>
          <p:cNvSpPr txBox="1"/>
          <p:nvPr/>
        </p:nvSpPr>
        <p:spPr>
          <a:xfrm>
            <a:off x="8229600" y="5047488"/>
            <a:ext cx="3154680" cy="347472"/>
          </a:xfrm>
          <a:prstGeom prst="rect">
            <a:avLst/>
          </a:prstGeom>
          <a:noFill/>
          <a:ln/>
        </p:spPr>
        <p:txBody>
          <a:bodyPr wrap="square" lIns="0" tIns="0" rIns="0" bIns="0" rtlCol="0" anchor="ctr"/>
          <a:lstStyle/>
          <a:p>
            <a:pPr indent="0" marL="0">
              <a:buNone/>
            </a:pPr>
            <a:r>
              <a:rPr lang="en-US" sz="1600" b="1" dirty="0">
                <a:solidFill>
                  <a:schemeClr val="tx1"/>
                </a:solidFill>
              </a:rPr>
              <a:t>¿Y la hora?</a:t>
            </a:r>
            <a:endParaRPr lang="en-US" sz="1600" dirty="0"/>
          </a:p>
        </p:txBody>
      </p:sp>
      <p:sp>
        <p:nvSpPr>
          <p:cNvPr id="12" name="Text 9"/>
          <p:cNvSpPr txBox="1"/>
          <p:nvPr/>
        </p:nvSpPr>
        <p:spPr>
          <a:xfrm>
            <a:off x="8229600" y="5394960"/>
            <a:ext cx="3154680" cy="685800"/>
          </a:xfrm>
          <a:prstGeom prst="rect">
            <a:avLst/>
          </a:prstGeom>
          <a:noFill/>
          <a:ln/>
        </p:spPr>
        <p:txBody>
          <a:bodyPr wrap="square" lIns="0" tIns="0" rIns="0" bIns="0" rtlCol="0" anchor="t"/>
          <a:lstStyle/>
          <a:p>
            <a:pPr indent="0" marL="0">
              <a:buNone/>
            </a:pPr>
            <a:r>
              <a:rPr lang="en-US" sz="1400" dirty="0">
                <a:solidFill>
                  <a:schemeClr val="tx2"/>
                </a:solidFill>
              </a:rPr>
              <a:t>MySQL guarda la hora universal; la pantalla la muestra en hora de Colombia.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Dónde está todo</a:t>
            </a:r>
            <a:endParaRPr lang="en-US" sz="3400" dirty="0"/>
          </a:p>
        </p:txBody>
      </p:sp>
      <p:pic>
        <p:nvPicPr>
          <p:cNvPr id="3" name="Image 0" descr="Repositorio Estacion_3 en GitHub">    </p:cNvPr>
          <p:cNvPicPr>
            <a:picLocks noChangeAspect="1"/>
          </p:cNvPicPr>
          <p:nvPr/>
        </p:nvPicPr>
        <p:blipFill>
          <a:blip r:embed="rId1"/>
          <a:stretch>
            <a:fillRect/>
          </a:stretch>
        </p:blipFill>
        <p:spPr>
          <a:xfrm>
            <a:off x="548640" y="1469649"/>
            <a:ext cx="5486400" cy="2912863"/>
          </a:xfrm>
          <a:prstGeom prst="rect">
            <a:avLst/>
          </a:prstGeom>
          <a:effectLst>
            <a:outerShdw sx="100000" sy="100000" kx="0" ky="0" algn="bl" rotWithShape="0" blurRad="101600" dist="25400" dir="5400000">
              <a:srgbClr val="000000">
                <a:alpha val="18000"/>
              </a:srgbClr>
            </a:outerShdw>
          </a:effectLst>
        </p:spPr>
      </p:pic>
      <p:pic>
        <p:nvPicPr>
          <p:cNvPr id="4" name="Image 1" descr="El banco en la sección de proyectos del portafolio">    </p:cNvPr>
          <p:cNvPicPr>
            <a:picLocks noChangeAspect="1"/>
          </p:cNvPicPr>
          <p:nvPr/>
        </p:nvPicPr>
        <p:blipFill>
          <a:blip r:embed="rId2"/>
          <a:stretch>
            <a:fillRect/>
          </a:stretch>
        </p:blipFill>
        <p:spPr>
          <a:xfrm>
            <a:off x="7201222" y="1234440"/>
            <a:ext cx="3641410" cy="3383280"/>
          </a:xfrm>
          <a:prstGeom prst="rect">
            <a:avLst/>
          </a:prstGeom>
          <a:effectLst>
            <a:outerShdw sx="100000" sy="100000" kx="0" ky="0" algn="bl" rotWithShape="0" blurRad="101600" dist="25400" dir="5400000">
              <a:srgbClr val="000000">
                <a:alpha val="18000"/>
              </a:srgbClr>
            </a:outerShdw>
          </a:effectLst>
        </p:spPr>
      </p:pic>
      <p:sp>
        <p:nvSpPr>
          <p:cNvPr id="5" name="Text 1"/>
          <p:cNvSpPr txBox="1"/>
          <p:nvPr/>
        </p:nvSpPr>
        <p:spPr>
          <a:xfrm>
            <a:off x="548640" y="4846320"/>
            <a:ext cx="5486400" cy="731520"/>
          </a:xfrm>
          <a:prstGeom prst="rect">
            <a:avLst/>
          </a:prstGeom>
          <a:noFill/>
          <a:ln/>
        </p:spPr>
        <p:txBody>
          <a:bodyPr wrap="square" lIns="0" tIns="0" rIns="0" bIns="0" rtlCol="0" anchor="ctr"/>
          <a:lstStyle/>
          <a:p>
            <a:pPr indent="0" marL="0">
              <a:buNone/>
            </a:pPr>
            <a:r>
              <a:rPr lang="en-US" sz="1800" b="1" dirty="0">
                <a:solidFill>
                  <a:schemeClr val="tx1"/>
                </a:solidFill>
              </a:rPr>
              <a:t>GitHub: código, informe y capturas</a:t>
            </a:r>
            <a:endParaRPr lang="en-US" sz="1800" dirty="0"/>
          </a:p>
          <a:p>
            <a:pPr indent="0" marL="0">
              <a:buNone/>
            </a:pPr>
            <a:r>
              <a:rPr lang="en-US" sz="18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github.com/DavisZulu/Estacion_3</a:t>
            </a:r>
            <a:endParaRPr lang="en-US" sz="1800" dirty="0"/>
          </a:p>
        </p:txBody>
      </p:sp>
      <p:sp>
        <p:nvSpPr>
          <p:cNvPr id="6" name="Text 2"/>
          <p:cNvSpPr txBox="1"/>
          <p:nvPr/>
        </p:nvSpPr>
        <p:spPr>
          <a:xfrm>
            <a:off x="6400800" y="4846320"/>
            <a:ext cx="5242255" cy="731520"/>
          </a:xfrm>
          <a:prstGeom prst="rect">
            <a:avLst/>
          </a:prstGeom>
          <a:noFill/>
          <a:ln/>
        </p:spPr>
        <p:txBody>
          <a:bodyPr wrap="square" lIns="0" tIns="0" rIns="0" bIns="0" rtlCol="0" anchor="ctr"/>
          <a:lstStyle/>
          <a:p>
            <a:pPr indent="0" marL="0">
              <a:buNone/>
            </a:pPr>
            <a:r>
              <a:rPr lang="en-US" sz="1800" b="1" dirty="0">
                <a:solidFill>
                  <a:schemeClr val="tx1"/>
                </a:solidFill>
              </a:rPr>
              <a:t>Mi portafolio</a:t>
            </a:r>
            <a:endParaRPr lang="en-US" sz="1800" dirty="0"/>
          </a:p>
          <a:p>
            <a:pPr indent="0" marL="0">
              <a:buNone/>
            </a:pPr>
            <a:r>
              <a:rPr lang="en-US" sz="18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davis-zuluaga.onrender.com</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400" b="1" dirty="0">
                <a:solidFill>
                  <a:schemeClr val="bg1"/>
                </a:solidFill>
              </a:rPr>
              <a:t>Demostración en vivo</a:t>
            </a:r>
            <a:endParaRPr lang="en-US" sz="3400" dirty="0"/>
          </a:p>
        </p:txBody>
      </p:sp>
      <p:sp>
        <p:nvSpPr>
          <p:cNvPr id="3" name="Shape 1"/>
          <p:cNvSpPr/>
          <p:nvPr/>
        </p:nvSpPr>
        <p:spPr>
          <a:xfrm>
            <a:off x="548640" y="1463040"/>
            <a:ext cx="594360" cy="59436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325880" y="1426464"/>
            <a:ext cx="4663440" cy="365760"/>
          </a:xfrm>
          <a:prstGeom prst="rect">
            <a:avLst/>
          </a:prstGeom>
          <a:noFill/>
          <a:ln/>
        </p:spPr>
        <p:txBody>
          <a:bodyPr wrap="square" lIns="0" tIns="0" rIns="0" bIns="0" rtlCol="0" anchor="ctr"/>
          <a:lstStyle/>
          <a:p>
            <a:pPr indent="0" marL="0">
              <a:buNone/>
            </a:pPr>
            <a:r>
              <a:rPr lang="en-US" sz="2000" b="1" dirty="0">
                <a:solidFill>
                  <a:schemeClr val="bg1"/>
                </a:solidFill>
              </a:rPr>
              <a:t>C · Crear</a:t>
            </a:r>
            <a:endParaRPr lang="en-US" sz="2000" dirty="0"/>
          </a:p>
        </p:txBody>
      </p:sp>
      <p:sp>
        <p:nvSpPr>
          <p:cNvPr id="6" name="Text 4"/>
          <p:cNvSpPr txBox="1"/>
          <p:nvPr/>
        </p:nvSpPr>
        <p:spPr>
          <a:xfrm>
            <a:off x="1325880" y="1792224"/>
            <a:ext cx="4663440" cy="320040"/>
          </a:xfrm>
          <a:prstGeom prst="rect">
            <a:avLst/>
          </a:prstGeom>
          <a:noFill/>
          <a:ln/>
        </p:spPr>
        <p:txBody>
          <a:bodyPr wrap="square" lIns="0" tIns="0" rIns="0" bIns="0" rtlCol="0" anchor="ctr"/>
          <a:lstStyle/>
          <a:p>
            <a:pPr indent="0" marL="0">
              <a:buNone/>
            </a:pPr>
            <a:r>
              <a:rPr lang="en-US" sz="1600" dirty="0">
                <a:solidFill>
                  <a:schemeClr val="accent6"/>
                </a:solidFill>
              </a:rPr>
              <a:t>Pagar $250.000: el saldo baja</a:t>
            </a:r>
            <a:endParaRPr lang="en-US" sz="1600" dirty="0"/>
          </a:p>
        </p:txBody>
      </p:sp>
      <p:sp>
        <p:nvSpPr>
          <p:cNvPr id="7" name="Shape 5"/>
          <p:cNvSpPr/>
          <p:nvPr/>
        </p:nvSpPr>
        <p:spPr>
          <a:xfrm>
            <a:off x="548640" y="2606040"/>
            <a:ext cx="594360" cy="594360"/>
          </a:xfrm>
          <a:prstGeom prst="ellipse">
            <a:avLst/>
          </a:prstGeom>
          <a:solidFill>
            <a:schemeClr val="accent1"/>
          </a:solidFill>
          <a:ln w="12700">
            <a:solidFill>
              <a:schemeClr val="accent1"/>
            </a:solidFill>
            <a:prstDash val="solid"/>
          </a:ln>
        </p:spPr>
      </p:sp>
      <p:sp>
        <p:nvSpPr>
          <p:cNvPr id="8" name="Text 6"/>
          <p:cNvSpPr txBox="1"/>
          <p:nvPr/>
        </p:nvSpPr>
        <p:spPr>
          <a:xfrm>
            <a:off x="548640" y="2606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325880" y="2569464"/>
            <a:ext cx="4663440" cy="365760"/>
          </a:xfrm>
          <a:prstGeom prst="rect">
            <a:avLst/>
          </a:prstGeom>
          <a:noFill/>
          <a:ln/>
        </p:spPr>
        <p:txBody>
          <a:bodyPr wrap="square" lIns="0" tIns="0" rIns="0" bIns="0" rtlCol="0" anchor="ctr"/>
          <a:lstStyle/>
          <a:p>
            <a:pPr indent="0" marL="0">
              <a:buNone/>
            </a:pPr>
            <a:r>
              <a:rPr lang="en-US" sz="2000" b="1" dirty="0">
                <a:solidFill>
                  <a:schemeClr val="bg1"/>
                </a:solidFill>
              </a:rPr>
              <a:t>R · Leer</a:t>
            </a:r>
            <a:endParaRPr lang="en-US" sz="2000" dirty="0"/>
          </a:p>
        </p:txBody>
      </p:sp>
      <p:sp>
        <p:nvSpPr>
          <p:cNvPr id="10" name="Text 8"/>
          <p:cNvSpPr txBox="1"/>
          <p:nvPr/>
        </p:nvSpPr>
        <p:spPr>
          <a:xfrm>
            <a:off x="1325880" y="2935224"/>
            <a:ext cx="4663440" cy="320040"/>
          </a:xfrm>
          <a:prstGeom prst="rect">
            <a:avLst/>
          </a:prstGeom>
          <a:noFill/>
          <a:ln/>
        </p:spPr>
        <p:txBody>
          <a:bodyPr wrap="square" lIns="0" tIns="0" rIns="0" bIns="0" rtlCol="0" anchor="ctr"/>
          <a:lstStyle/>
          <a:p>
            <a:pPr indent="0" marL="0">
              <a:buNone/>
            </a:pPr>
            <a:r>
              <a:rPr lang="en-US" sz="1600" dirty="0">
                <a:solidFill>
                  <a:schemeClr val="accent6"/>
                </a:solidFill>
              </a:rPr>
              <a:t>Ver el saldo y los movimientos</a:t>
            </a:r>
            <a:endParaRPr lang="en-US" sz="1600" dirty="0"/>
          </a:p>
        </p:txBody>
      </p:sp>
      <p:sp>
        <p:nvSpPr>
          <p:cNvPr id="11" name="Shape 9"/>
          <p:cNvSpPr/>
          <p:nvPr/>
        </p:nvSpPr>
        <p:spPr>
          <a:xfrm>
            <a:off x="548640" y="3749040"/>
            <a:ext cx="594360" cy="594360"/>
          </a:xfrm>
          <a:prstGeom prst="ellipse">
            <a:avLst/>
          </a:prstGeom>
          <a:solidFill>
            <a:schemeClr val="accent1"/>
          </a:solidFill>
          <a:ln w="12700">
            <a:solidFill>
              <a:schemeClr val="accent1"/>
            </a:solidFill>
            <a:prstDash val="solid"/>
          </a:ln>
        </p:spPr>
      </p:sp>
      <p:sp>
        <p:nvSpPr>
          <p:cNvPr id="12" name="Text 10"/>
          <p:cNvSpPr txBox="1"/>
          <p:nvPr/>
        </p:nvSpPr>
        <p:spPr>
          <a:xfrm>
            <a:off x="548640" y="3749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325880" y="3712464"/>
            <a:ext cx="4663440" cy="365760"/>
          </a:xfrm>
          <a:prstGeom prst="rect">
            <a:avLst/>
          </a:prstGeom>
          <a:noFill/>
          <a:ln/>
        </p:spPr>
        <p:txBody>
          <a:bodyPr wrap="square" lIns="0" tIns="0" rIns="0" bIns="0" rtlCol="0" anchor="ctr"/>
          <a:lstStyle/>
          <a:p>
            <a:pPr indent="0" marL="0">
              <a:buNone/>
            </a:pPr>
            <a:r>
              <a:rPr lang="en-US" sz="2000" b="1" dirty="0">
                <a:solidFill>
                  <a:schemeClr val="bg1"/>
                </a:solidFill>
              </a:rPr>
              <a:t>U · Modificar</a:t>
            </a:r>
            <a:endParaRPr lang="en-US" sz="2000" dirty="0"/>
          </a:p>
        </p:txBody>
      </p:sp>
      <p:sp>
        <p:nvSpPr>
          <p:cNvPr id="14" name="Text 12"/>
          <p:cNvSpPr txBox="1"/>
          <p:nvPr/>
        </p:nvSpPr>
        <p:spPr>
          <a:xfrm>
            <a:off x="1325880" y="4078224"/>
            <a:ext cx="4663440" cy="320040"/>
          </a:xfrm>
          <a:prstGeom prst="rect">
            <a:avLst/>
          </a:prstGeom>
          <a:noFill/>
          <a:ln/>
        </p:spPr>
        <p:txBody>
          <a:bodyPr wrap="square" lIns="0" tIns="0" rIns="0" bIns="0" rtlCol="0" anchor="ctr"/>
          <a:lstStyle/>
          <a:p>
            <a:pPr indent="0" marL="0">
              <a:buNone/>
            </a:pPr>
            <a:r>
              <a:rPr lang="en-US" sz="1600" dirty="0">
                <a:solidFill>
                  <a:schemeClr val="accent6"/>
                </a:solidFill>
              </a:rPr>
              <a:t>Cambiar el pago a $300.000</a:t>
            </a:r>
            <a:endParaRPr lang="en-US" sz="1600" dirty="0"/>
          </a:p>
        </p:txBody>
      </p:sp>
      <p:sp>
        <p:nvSpPr>
          <p:cNvPr id="15" name="Shape 13"/>
          <p:cNvSpPr/>
          <p:nvPr/>
        </p:nvSpPr>
        <p:spPr>
          <a:xfrm>
            <a:off x="6217920" y="1463040"/>
            <a:ext cx="594360" cy="594360"/>
          </a:xfrm>
          <a:prstGeom prst="ellipse">
            <a:avLst/>
          </a:prstGeom>
          <a:solidFill>
            <a:schemeClr val="accent1"/>
          </a:solidFill>
          <a:ln w="12700">
            <a:solidFill>
              <a:schemeClr val="accent1"/>
            </a:solidFill>
            <a:prstDash val="solid"/>
          </a:ln>
        </p:spPr>
      </p:sp>
      <p:sp>
        <p:nvSpPr>
          <p:cNvPr id="16" name="Text 14"/>
          <p:cNvSpPr txBox="1"/>
          <p:nvPr/>
        </p:nvSpPr>
        <p:spPr>
          <a:xfrm>
            <a:off x="6217920" y="1463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6995160" y="1426464"/>
            <a:ext cx="4663440" cy="365760"/>
          </a:xfrm>
          <a:prstGeom prst="rect">
            <a:avLst/>
          </a:prstGeom>
          <a:noFill/>
          <a:ln/>
        </p:spPr>
        <p:txBody>
          <a:bodyPr wrap="square" lIns="0" tIns="0" rIns="0" bIns="0" rtlCol="0" anchor="ctr"/>
          <a:lstStyle/>
          <a:p>
            <a:pPr indent="0" marL="0">
              <a:buNone/>
            </a:pPr>
            <a:r>
              <a:rPr lang="en-US" sz="2000" b="1" dirty="0">
                <a:solidFill>
                  <a:schemeClr val="bg1"/>
                </a:solidFill>
              </a:rPr>
              <a:t>D · Eliminar</a:t>
            </a:r>
            <a:endParaRPr lang="en-US" sz="2000" dirty="0"/>
          </a:p>
        </p:txBody>
      </p:sp>
      <p:sp>
        <p:nvSpPr>
          <p:cNvPr id="18" name="Text 16"/>
          <p:cNvSpPr txBox="1"/>
          <p:nvPr/>
        </p:nvSpPr>
        <p:spPr>
          <a:xfrm>
            <a:off x="6995160" y="1792224"/>
            <a:ext cx="4663440" cy="320040"/>
          </a:xfrm>
          <a:prstGeom prst="rect">
            <a:avLst/>
          </a:prstGeom>
          <a:noFill/>
          <a:ln/>
        </p:spPr>
        <p:txBody>
          <a:bodyPr wrap="square" lIns="0" tIns="0" rIns="0" bIns="0" rtlCol="0" anchor="ctr"/>
          <a:lstStyle/>
          <a:p>
            <a:pPr indent="0" marL="0">
              <a:buNone/>
            </a:pPr>
            <a:r>
              <a:rPr lang="en-US" sz="1600" dirty="0">
                <a:solidFill>
                  <a:schemeClr val="accent6"/>
                </a:solidFill>
              </a:rPr>
              <a:t>Borrar el pago: pide confirmación</a:t>
            </a:r>
            <a:endParaRPr lang="en-US" sz="1600" dirty="0"/>
          </a:p>
        </p:txBody>
      </p:sp>
      <p:sp>
        <p:nvSpPr>
          <p:cNvPr id="19" name="Shape 17"/>
          <p:cNvSpPr/>
          <p:nvPr/>
        </p:nvSpPr>
        <p:spPr>
          <a:xfrm>
            <a:off x="6217920" y="2606040"/>
            <a:ext cx="594360" cy="594360"/>
          </a:xfrm>
          <a:prstGeom prst="ellipse">
            <a:avLst/>
          </a:prstGeom>
          <a:solidFill>
            <a:schemeClr val="accent4"/>
          </a:solidFill>
          <a:ln w="12700">
            <a:solidFill>
              <a:schemeClr val="accent4"/>
            </a:solidFill>
            <a:prstDash val="solid"/>
          </a:ln>
        </p:spPr>
      </p:sp>
      <p:sp>
        <p:nvSpPr>
          <p:cNvPr id="20" name="Text 18"/>
          <p:cNvSpPr txBox="1"/>
          <p:nvPr/>
        </p:nvSpPr>
        <p:spPr>
          <a:xfrm>
            <a:off x="6217920" y="2606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6995160" y="2569464"/>
            <a:ext cx="4663440" cy="365760"/>
          </a:xfrm>
          <a:prstGeom prst="rect">
            <a:avLst/>
          </a:prstGeom>
          <a:noFill/>
          <a:ln/>
        </p:spPr>
        <p:txBody>
          <a:bodyPr wrap="square" lIns="0" tIns="0" rIns="0" bIns="0" rtlCol="0" anchor="ctr"/>
          <a:lstStyle/>
          <a:p>
            <a:pPr indent="0" marL="0">
              <a:buNone/>
            </a:pPr>
            <a:r>
              <a:rPr lang="en-US" sz="2000" b="1" dirty="0">
                <a:solidFill>
                  <a:schemeClr val="bg1"/>
                </a:solidFill>
              </a:rPr>
              <a:t>Regla del banco</a:t>
            </a:r>
            <a:endParaRPr lang="en-US" sz="2000" dirty="0"/>
          </a:p>
        </p:txBody>
      </p:sp>
      <p:sp>
        <p:nvSpPr>
          <p:cNvPr id="22" name="Text 20"/>
          <p:cNvSpPr txBox="1"/>
          <p:nvPr/>
        </p:nvSpPr>
        <p:spPr>
          <a:xfrm>
            <a:off x="6995160" y="2935224"/>
            <a:ext cx="4663440" cy="320040"/>
          </a:xfrm>
          <a:prstGeom prst="rect">
            <a:avLst/>
          </a:prstGeom>
          <a:noFill/>
          <a:ln/>
        </p:spPr>
        <p:txBody>
          <a:bodyPr wrap="square" lIns="0" tIns="0" rIns="0" bIns="0" rtlCol="0" anchor="ctr"/>
          <a:lstStyle/>
          <a:p>
            <a:pPr indent="0" marL="0">
              <a:buNone/>
            </a:pPr>
            <a:r>
              <a:rPr lang="en-US" sz="1600" dirty="0">
                <a:solidFill>
                  <a:schemeClr val="accent6"/>
                </a:solidFill>
              </a:rPr>
              <a:t>Transferir $5.000.000: «Saldo insuficiente»</a:t>
            </a:r>
            <a:endParaRPr lang="en-US" sz="1600" dirty="0"/>
          </a:p>
        </p:txBody>
      </p:sp>
      <p:sp>
        <p:nvSpPr>
          <p:cNvPr id="23" name="Shape 21"/>
          <p:cNvSpPr/>
          <p:nvPr/>
        </p:nvSpPr>
        <p:spPr>
          <a:xfrm>
            <a:off x="6217920" y="3749040"/>
            <a:ext cx="594360" cy="594360"/>
          </a:xfrm>
          <a:prstGeom prst="ellipse">
            <a:avLst/>
          </a:prstGeom>
          <a:solidFill>
            <a:schemeClr val="accent4"/>
          </a:solidFill>
          <a:ln w="12700">
            <a:solidFill>
              <a:schemeClr val="accent4"/>
            </a:solidFill>
            <a:prstDash val="solid"/>
          </a:ln>
        </p:spPr>
      </p:sp>
      <p:sp>
        <p:nvSpPr>
          <p:cNvPr id="24" name="Text 22"/>
          <p:cNvSpPr txBox="1"/>
          <p:nvPr/>
        </p:nvSpPr>
        <p:spPr>
          <a:xfrm>
            <a:off x="6217920" y="37490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5" name="Text 23"/>
          <p:cNvSpPr txBox="1"/>
          <p:nvPr/>
        </p:nvSpPr>
        <p:spPr>
          <a:xfrm>
            <a:off x="6995160" y="3712464"/>
            <a:ext cx="4663440" cy="365760"/>
          </a:xfrm>
          <a:prstGeom prst="rect">
            <a:avLst/>
          </a:prstGeom>
          <a:noFill/>
          <a:ln/>
        </p:spPr>
        <p:txBody>
          <a:bodyPr wrap="square" lIns="0" tIns="0" rIns="0" bIns="0" rtlCol="0" anchor="ctr"/>
          <a:lstStyle/>
          <a:p>
            <a:pPr indent="0" marL="0">
              <a:buNone/>
            </a:pPr>
            <a:r>
              <a:rPr lang="en-US" sz="2000" b="1" dirty="0">
                <a:solidFill>
                  <a:schemeClr val="bg1"/>
                </a:solidFill>
              </a:rPr>
              <a:t>Pruebas</a:t>
            </a:r>
            <a:endParaRPr lang="en-US" sz="2000" dirty="0"/>
          </a:p>
        </p:txBody>
      </p:sp>
      <p:sp>
        <p:nvSpPr>
          <p:cNvPr id="26" name="Text 24"/>
          <p:cNvSpPr txBox="1"/>
          <p:nvPr/>
        </p:nvSpPr>
        <p:spPr>
          <a:xfrm>
            <a:off x="6995160" y="4078224"/>
            <a:ext cx="4663440" cy="320040"/>
          </a:xfrm>
          <a:prstGeom prst="rect">
            <a:avLst/>
          </a:prstGeom>
          <a:noFill/>
          <a:ln/>
        </p:spPr>
        <p:txBody>
          <a:bodyPr wrap="square" lIns="0" tIns="0" rIns="0" bIns="0" rtlCol="0" anchor="ctr"/>
          <a:lstStyle/>
          <a:p>
            <a:pPr indent="0" marL="0">
              <a:buNone/>
            </a:pPr>
            <a:r>
              <a:rPr lang="en-US" sz="1600" dirty="0">
                <a:solidFill>
                  <a:schemeClr val="accent6"/>
                </a:solidFill>
              </a:rPr>
              <a:t>python3 probar_api.py: 12 / 12</a:t>
            </a:r>
            <a:endParaRPr lang="en-US" sz="1600" dirty="0"/>
          </a:p>
        </p:txBody>
      </p:sp>
      <p:sp>
        <p:nvSpPr>
          <p:cNvPr id="27" name="Text 25"/>
          <p:cNvSpPr txBox="1"/>
          <p:nvPr/>
        </p:nvSpPr>
        <p:spPr>
          <a:xfrm>
            <a:off x="548640" y="5120640"/>
            <a:ext cx="5486400" cy="822960"/>
          </a:xfrm>
          <a:prstGeom prst="rect">
            <a:avLst/>
          </a:prstGeom>
          <a:noFill/>
          <a:ln/>
        </p:spPr>
        <p:txBody>
          <a:bodyPr wrap="square" lIns="0" tIns="0" rIns="0" bIns="0" rtlCol="0" anchor="ctr"/>
          <a:lstStyle/>
          <a:p>
            <a:pPr indent="0" marL="0">
              <a:buNone/>
            </a:pPr>
            <a:r>
              <a:rPr lang="en-US" sz="4000" b="1" dirty="0">
                <a:solidFill>
                  <a:schemeClr val="bg1"/>
                </a:solidFill>
              </a:rPr>
              <a:t>¿Preguntas?</a:t>
            </a: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Banco CEIPA">
  <a:themeElements>
    <a:clrScheme name="Banco CEIPA">
      <a:dk1>
        <a:srgbClr val="0B3D2C"/>
      </a:dk1>
      <a:lt1>
        <a:srgbClr val="FFFFFF"/>
      </a:lt1>
      <a:dk2>
        <a:srgbClr val="33433B"/>
      </a:dk2>
      <a:lt2>
        <a:srgbClr val="EEF6F1"/>
      </a:lt2>
      <a:accent1>
        <a:srgbClr val="0E8A5F"/>
      </a:accent1>
      <a:accent2>
        <a:srgbClr val="C2415B"/>
      </a:accent2>
      <a:accent3>
        <a:srgbClr val="2F6FA8"/>
      </a:accent3>
      <a:accent4>
        <a:srgbClr val="E3A72F"/>
      </a:accent4>
      <a:accent5>
        <a:srgbClr val="6B7C74"/>
      </a:accent5>
      <a:accent6>
        <a:srgbClr val="A8E6CB"/>
      </a:accent6>
      <a:hlink>
        <a:srgbClr val="0E8A5F"/>
      </a:hlink>
      <a:folHlink>
        <a:srgbClr val="11806B"/>
      </a:folHlink>
    </a:clrScheme>
    <a:fontScheme name="Banco CEIP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Banco de Tecnología CEIPA</dc:title>
  <dc:subject>PptxGenJS Presentation</dc:subject>
  <dc:creator>Deibis Zuluaga Baena</dc:creator>
  <cp:lastModifiedBy>Deibis Zuluaga Baena</cp:lastModifiedBy>
  <cp:revision>1</cp:revision>
  <dcterms:created xsi:type="dcterms:W3CDTF">2026-10-08T02:38:07Z</dcterms:created>
  <dcterms:modified xsi:type="dcterms:W3CDTF">2026-10-08T02:38:07Z</dcterms:modified>
</cp:coreProperties>
</file>